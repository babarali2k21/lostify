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6" d="100"/>
          <a:sy n="116" d="100"/>
        </p:scale>
        <p:origin x="608"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tests</c:v>
                </c:pt>
              </c:strCache>
            </c:strRef>
          </c:tx>
          <c:spPr>
            <a:solidFill>
              <a:srgbClr val="065A82"/>
            </a:solidFill>
            <a:effectLst/>
          </c:spPr>
          <c:invertIfNegative val="0"/>
          <c:dPt>
            <c:idx val="0"/>
            <c:invertIfNegative val="0"/>
            <c:bubble3D val="0"/>
            <c:extLst>
              <c:ext xmlns:c16="http://schemas.microsoft.com/office/drawing/2014/chart" uri="{C3380CC4-5D6E-409C-BE32-E72D297353CC}">
                <c16:uniqueId val="{00000001-6784-5744-9DCC-B3035962EB7E}"/>
              </c:ext>
            </c:extLst>
          </c:dPt>
          <c:dPt>
            <c:idx val="1"/>
            <c:invertIfNegative val="0"/>
            <c:bubble3D val="0"/>
            <c:spPr>
              <a:solidFill>
                <a:srgbClr val="1C7293"/>
              </a:solidFill>
              <a:effectLst/>
            </c:spPr>
            <c:extLst>
              <c:ext xmlns:c16="http://schemas.microsoft.com/office/drawing/2014/chart" uri="{C3380CC4-5D6E-409C-BE32-E72D297353CC}">
                <c16:uniqueId val="{00000003-6784-5744-9DCC-B3035962EB7E}"/>
              </c:ext>
            </c:extLst>
          </c:dPt>
          <c:dPt>
            <c:idx val="2"/>
            <c:invertIfNegative val="0"/>
            <c:bubble3D val="0"/>
            <c:spPr>
              <a:solidFill>
                <a:srgbClr val="C0392B"/>
              </a:solidFill>
              <a:effectLst/>
            </c:spPr>
            <c:extLst>
              <c:ext xmlns:c16="http://schemas.microsoft.com/office/drawing/2014/chart" uri="{C3380CC4-5D6E-409C-BE32-E72D297353CC}">
                <c16:uniqueId val="{00000005-6784-5744-9DCC-B3035962EB7E}"/>
              </c:ext>
            </c:extLst>
          </c:dPt>
          <c:dPt>
            <c:idx val="3"/>
            <c:invertIfNegative val="0"/>
            <c:bubble3D val="0"/>
            <c:spPr>
              <a:solidFill>
                <a:srgbClr val="21B6A8"/>
              </a:solidFill>
              <a:effectLst/>
            </c:spPr>
            <c:extLst>
              <c:ext xmlns:c16="http://schemas.microsoft.com/office/drawing/2014/chart" uri="{C3380CC4-5D6E-409C-BE32-E72D297353CC}">
                <c16:uniqueId val="{00000007-6784-5744-9DCC-B3035962EB7E}"/>
              </c:ext>
            </c:extLst>
          </c:dPt>
          <c:dLbls>
            <c:numFmt formatCode="0&quot; tests&quot;" sourceLinked="0"/>
            <c:spPr>
              <a:noFill/>
              <a:ln>
                <a:noFill/>
              </a:ln>
              <a:effectLst/>
            </c:spPr>
            <c:txPr>
              <a:bodyPr/>
              <a:lstStyle/>
              <a:p>
                <a:pPr>
                  <a:defRPr sz="1050" b="1"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Unit
(no Docker)</c:v>
                </c:pt>
                <c:pt idx="1">
                  <c:v>Integration</c:v>
                </c:pt>
                <c:pt idx="2">
                  <c:v>Fault-tolerance</c:v>
                </c:pt>
                <c:pt idx="3">
                  <c:v>Latency</c:v>
                </c:pt>
              </c:strCache>
            </c:strRef>
          </c:cat>
          <c:val>
            <c:numRef>
              <c:f>Sheet1!$B$2:$B$5</c:f>
              <c:numCache>
                <c:formatCode>General</c:formatCode>
                <c:ptCount val="4"/>
                <c:pt idx="0">
                  <c:v>22</c:v>
                </c:pt>
                <c:pt idx="1">
                  <c:v>2</c:v>
                </c:pt>
                <c:pt idx="2">
                  <c:v>5</c:v>
                </c:pt>
                <c:pt idx="3">
                  <c:v>2</c:v>
                </c:pt>
              </c:numCache>
            </c:numRef>
          </c:val>
          <c:extLst>
            <c:ext xmlns:c16="http://schemas.microsoft.com/office/drawing/2014/chart" uri="{C3380CC4-5D6E-409C-BE32-E72D297353CC}">
              <c16:uniqueId val="{00000008-6784-5744-9DCC-B3035962EB7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6EC"/>
            </a:solidFill>
            <a:prstDash val="solid"/>
            <a:round/>
          </a:ln>
        </c:spPr>
        <c:txPr>
          <a:bodyPr/>
          <a:lstStyle/>
          <a:p>
            <a:pPr>
              <a:defRPr sz="900" b="0" i="0" u="none" strike="noStrike">
                <a:solidFill>
                  <a:srgbClr val="5C6B7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ms</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AB22-344E-86C5-D4E3C8B08090}"/>
              </c:ext>
            </c:extLst>
          </c:dPt>
          <c:dPt>
            <c:idx val="1"/>
            <c:invertIfNegative val="0"/>
            <c:bubble3D val="0"/>
            <c:spPr>
              <a:solidFill>
                <a:srgbClr val="21B6A8"/>
              </a:solidFill>
              <a:effectLst/>
            </c:spPr>
            <c:extLst>
              <c:ext xmlns:c16="http://schemas.microsoft.com/office/drawing/2014/chart" uri="{C3380CC4-5D6E-409C-BE32-E72D297353CC}">
                <c16:uniqueId val="{00000003-AB22-344E-86C5-D4E3C8B08090}"/>
              </c:ext>
            </c:extLst>
          </c:dPt>
          <c:dLbls>
            <c:numFmt formatCode="0&quot;ms max&quot;" sourceLinked="0"/>
            <c:spPr>
              <a:noFill/>
              <a:ln>
                <a:noFill/>
              </a:ln>
              <a:effectLst/>
            </c:spPr>
            <c:txPr>
              <a:bodyPr/>
              <a:lstStyle/>
              <a:p>
                <a:pPr>
                  <a:defRPr sz="1050" b="1"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MatchFound</c:v>
                </c:pt>
                <c:pt idx="1">
                  <c:v>ClaimCreated</c:v>
                </c:pt>
              </c:strCache>
            </c:strRef>
          </c:cat>
          <c:val>
            <c:numRef>
              <c:f>Sheet1!$B$2:$B$3</c:f>
              <c:numCache>
                <c:formatCode>General</c:formatCode>
                <c:ptCount val="2"/>
                <c:pt idx="0">
                  <c:v>500</c:v>
                </c:pt>
                <c:pt idx="1">
                  <c:v>500</c:v>
                </c:pt>
              </c:numCache>
            </c:numRef>
          </c:val>
          <c:extLst>
            <c:ext xmlns:c16="http://schemas.microsoft.com/office/drawing/2014/chart" uri="{C3380CC4-5D6E-409C-BE32-E72D297353CC}">
              <c16:uniqueId val="{00000004-AB22-344E-86C5-D4E3C8B0809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6EC"/>
            </a:solidFill>
            <a:prstDash val="solid"/>
            <a:round/>
          </a:ln>
        </c:spPr>
        <c:txPr>
          <a:bodyPr/>
          <a:lstStyle/>
          <a:p>
            <a:pPr>
              <a:defRPr sz="900" b="0" i="0" u="none" strike="noStrike">
                <a:solidFill>
                  <a:srgbClr val="5C6B7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min</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7E99-C448-BC4F-05E5FC802BD3}"/>
              </c:ext>
            </c:extLst>
          </c:dPt>
          <c:dPt>
            <c:idx val="1"/>
            <c:invertIfNegative val="0"/>
            <c:bubble3D val="0"/>
            <c:spPr>
              <a:solidFill>
                <a:srgbClr val="065A82"/>
              </a:solidFill>
              <a:effectLst/>
            </c:spPr>
            <c:extLst>
              <c:ext xmlns:c16="http://schemas.microsoft.com/office/drawing/2014/chart" uri="{C3380CC4-5D6E-409C-BE32-E72D297353CC}">
                <c16:uniqueId val="{00000003-7E99-C448-BC4F-05E5FC802BD3}"/>
              </c:ext>
            </c:extLst>
          </c:dPt>
          <c:dPt>
            <c:idx val="2"/>
            <c:invertIfNegative val="0"/>
            <c:bubble3D val="0"/>
            <c:spPr>
              <a:solidFill>
                <a:srgbClr val="21295C"/>
              </a:solidFill>
              <a:effectLst/>
            </c:spPr>
            <c:extLst>
              <c:ext xmlns:c16="http://schemas.microsoft.com/office/drawing/2014/chart" uri="{C3380CC4-5D6E-409C-BE32-E72D297353CC}">
                <c16:uniqueId val="{00000005-7E99-C448-BC4F-05E5FC802BD3}"/>
              </c:ext>
            </c:extLst>
          </c:dPt>
          <c:dLbls>
            <c:numFmt formatCode="0.0&quot; min&quot;" sourceLinked="0"/>
            <c:spPr>
              <a:noFill/>
              <a:ln>
                <a:noFill/>
              </a:ln>
              <a:effectLst/>
            </c:spPr>
            <c:txPr>
              <a:bodyPr/>
              <a:lstStyle/>
              <a:p>
                <a:pPr>
                  <a:defRPr sz="1050" b="1"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CI workflow
(tests + build)</c:v>
                </c:pt>
                <c:pt idx="1">
                  <c:v>Deploy workflow
(rsync + EC2)</c:v>
                </c:pt>
                <c:pt idx="2">
                  <c:v>Total
lead time</c:v>
                </c:pt>
              </c:strCache>
            </c:strRef>
          </c:cat>
          <c:val>
            <c:numRef>
              <c:f>Sheet1!$B$2:$B$4</c:f>
              <c:numCache>
                <c:formatCode>General</c:formatCode>
                <c:ptCount val="3"/>
                <c:pt idx="0">
                  <c:v>2.5</c:v>
                </c:pt>
                <c:pt idx="1">
                  <c:v>1</c:v>
                </c:pt>
                <c:pt idx="2">
                  <c:v>4</c:v>
                </c:pt>
              </c:numCache>
            </c:numRef>
          </c:val>
          <c:extLst>
            <c:ext xmlns:c16="http://schemas.microsoft.com/office/drawing/2014/chart" uri="{C3380CC4-5D6E-409C-BE32-E72D297353CC}">
              <c16:uniqueId val="{00000006-7E99-C448-BC4F-05E5FC802BD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6EC"/>
            </a:solidFill>
            <a:prstDash val="solid"/>
            <a:round/>
          </a:ln>
        </c:spPr>
        <c:txPr>
          <a:bodyPr/>
          <a:lstStyle/>
          <a:p>
            <a:pPr>
              <a:defRPr sz="900" b="0" i="0" u="none" strike="noStrike">
                <a:solidFill>
                  <a:srgbClr val="5C6B7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PASS</c:v>
                </c:pt>
              </c:strCache>
            </c:strRef>
          </c:tx>
          <c:spPr>
            <a:solidFill>
              <a:srgbClr val="21B6A8"/>
            </a:solidFill>
            <a:effectLst/>
          </c:spPr>
          <c:invertIfNegative val="0"/>
          <c:dPt>
            <c:idx val="0"/>
            <c:invertIfNegative val="0"/>
            <c:bubble3D val="0"/>
            <c:extLst>
              <c:ext xmlns:c16="http://schemas.microsoft.com/office/drawing/2014/chart" uri="{C3380CC4-5D6E-409C-BE32-E72D297353CC}">
                <c16:uniqueId val="{00000001-D92A-E546-B081-20202C8F0285}"/>
              </c:ext>
            </c:extLst>
          </c:dPt>
          <c:dPt>
            <c:idx val="1"/>
            <c:invertIfNegative val="0"/>
            <c:bubble3D val="0"/>
            <c:spPr>
              <a:solidFill>
                <a:srgbClr val="1B9E8F"/>
              </a:solidFill>
              <a:effectLst/>
            </c:spPr>
            <c:extLst>
              <c:ext xmlns:c16="http://schemas.microsoft.com/office/drawing/2014/chart" uri="{C3380CC4-5D6E-409C-BE32-E72D297353CC}">
                <c16:uniqueId val="{00000003-D92A-E546-B081-20202C8F0285}"/>
              </c:ext>
            </c:extLst>
          </c:dPt>
          <c:dPt>
            <c:idx val="2"/>
            <c:invertIfNegative val="0"/>
            <c:bubble3D val="0"/>
            <c:spPr>
              <a:solidFill>
                <a:srgbClr val="178F81"/>
              </a:solidFill>
              <a:effectLst/>
            </c:spPr>
            <c:extLst>
              <c:ext xmlns:c16="http://schemas.microsoft.com/office/drawing/2014/chart" uri="{C3380CC4-5D6E-409C-BE32-E72D297353CC}">
                <c16:uniqueId val="{00000005-D92A-E546-B081-20202C8F0285}"/>
              </c:ext>
            </c:extLst>
          </c:dPt>
          <c:dPt>
            <c:idx val="3"/>
            <c:invertIfNegative val="0"/>
            <c:bubble3D val="0"/>
            <c:spPr>
              <a:solidFill>
                <a:srgbClr val="137F73"/>
              </a:solidFill>
              <a:effectLst/>
            </c:spPr>
            <c:extLst>
              <c:ext xmlns:c16="http://schemas.microsoft.com/office/drawing/2014/chart" uri="{C3380CC4-5D6E-409C-BE32-E72D297353CC}">
                <c16:uniqueId val="{00000007-D92A-E546-B081-20202C8F0285}"/>
              </c:ext>
            </c:extLst>
          </c:dPt>
          <c:dPt>
            <c:idx val="4"/>
            <c:invertIfNegative val="0"/>
            <c:bubble3D val="0"/>
            <c:spPr>
              <a:solidFill>
                <a:srgbClr val="0F6F65"/>
              </a:solidFill>
              <a:effectLst/>
            </c:spPr>
            <c:extLst>
              <c:ext xmlns:c16="http://schemas.microsoft.com/office/drawing/2014/chart" uri="{C3380CC4-5D6E-409C-BE32-E72D297353CC}">
                <c16:uniqueId val="{00000009-D92A-E546-B081-20202C8F0285}"/>
              </c:ext>
            </c:extLst>
          </c:dPt>
          <c:dLbls>
            <c:numFmt formatCode="&quot;✓ PASS&quot;" sourceLinked="0"/>
            <c:spPr>
              <a:noFill/>
              <a:ln>
                <a:noFill/>
              </a:ln>
              <a:effectLst/>
            </c:spPr>
            <c:txPr>
              <a:bodyPr/>
              <a:lstStyle/>
              <a:p>
                <a:pPr>
                  <a:defRPr sz="1050" b="1"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Duplicate
event</c:v>
                </c:pt>
                <c:pt idx="1">
                  <c:v>Double
approve</c:v>
                </c:pt>
                <c:pt idx="2">
                  <c:v>Wrong user
approve</c:v>
                </c:pt>
                <c:pt idx="3">
                  <c:v>Invalid
transition</c:v>
                </c:pt>
                <c:pt idx="4">
                  <c:v>Auth
error</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A-D92A-E546-B081-20202C8F028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6EC"/>
            </a:solidFill>
            <a:prstDash val="solid"/>
            <a:round/>
          </a:ln>
        </c:spPr>
        <c:txPr>
          <a:bodyPr/>
          <a:lstStyle/>
          <a:p>
            <a:pPr>
              <a:defRPr sz="900" b="0" i="0" u="none" strike="noStrike">
                <a:solidFill>
                  <a:srgbClr val="5C6B7A"/>
                </a:solidFill>
                <a:latin typeface="Calibri"/>
              </a:defRPr>
            </a:pPr>
            <a:endParaRPr lang="en-US"/>
          </a:p>
        </c:txPr>
        <c:crossAx val="2094734552"/>
        <c:crosses val="autoZero"/>
        <c:auto val="1"/>
        <c:lblAlgn val="ctr"/>
        <c:lblOffset val="100"/>
        <c:noMultiLvlLbl val="1"/>
      </c:catAx>
      <c:valAx>
        <c:axId val="2094734552"/>
        <c:scaling>
          <c:orientation val="minMax"/>
          <c:max val="1.2"/>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262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I'm Babar Ali, presenting on behalf of Team 04 — Zain Afzal, Babar Ali, and Muhammad Hamza Azeem. This is Lostify, our cloud-native lost-and-found platform built for Prof. Ristov's Serverless Cloud Application Automation course. You can find our code at github.com/Babarali2k21/Lostify and see it running live at 44.220.148.111:3001. Let me start with the problem we set out to solve.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Lost-and-found today is still manual — calling an office, asking in a chat group, hoping someone saw your item. There's no structured way to check if a matching item already exists or confirm a handover was completed. Lostify digitizes this: users create structured reports with a title, description, and item type. The system automatically compares reports using keyword overlap. When a match is found, the owner gets an in-app notification. A claim workflow lets the user formally submit a claim, and the finder approves or rejects it. The whole lifecycle is tracked with a Saga-style state machine. Let's look at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container-level view. The React frontend runs on nginx at port 3001 and proxies requests to three independent FastAPI microservices: Item Service on port 8001, Claim/Recovery Service on 8002, and Notification Service on 8003. Each service owns its own SQLite database — item.db, claim.db, notification.db. Services communicate asynchronously via Redis pub/sub on a channel called lostify:events. Importantly, Claim/Recovery Service also calls Item Service directly over REST to reserve, release, or recover items during the Saga. On the right: Docker Compose handles local and production containers, AWS EC2 hosts the running services, and AWS Step Functions gives us a visual mirror of the Saga workflow. One important design decision: there is no separate API Gateway product — nginx in the frontend handles routing. Likely question: 'Why SQLite instead of PostgreSQL?' — SQLite is zero-config and sufficient for a prototype; PostgreSQL on RDS is the documented upgrade path. Let's look at why we chose exactly these three services.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professor's guidance during the course was clear: User Service should not be a separate microservice, because authentication is a cross-cutting concern, not an independent business capability. So our final architecture has three business services. Item Service handles auth, lost/found reports, keyword matching, and all item states. Claim/Recovery Service handles the claims, the Saga orchestration, compensation logic, and the AWS Step Functions integration. Notification Service is a pure event consumer — it listens to Redis, stores in-app notifications, and deduplicates by eventId. The separation between Item Service and Claim/Recovery is especially important: claims have their own state machine — PENDING, APPROVED, REJECTED — with their own compensation rules, which is why they deserve their own service boundary. Likely question: 'How are these independently deployable?' — Each has its own Docker container and its own database, so we can redeploy one without touching the others.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happens when everything goes right. The user registers and logs in — JWT is issued by Item Service. They create a lost and a found item report. Item Service runs keyword overlap matching. When a match is found, the item becomes MATCHED and a MatchFound event is published to Redis. Notification Service picks it up and records an in-app alert. The user then submits a claim through Claim/Recovery Service. The Saga creates the claim as PENDING and immediately calls Item Service to reserve the item — this is the semantic lock preventing competing claims. A ClaimCreated event is published. Finally, the finder approves, Item Service marks the item RECOVERED, and ClaimApproved and ItemRecovered events are published for Notification Service to record. The rejection and compensation path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workflow is modeled here as a UML sequence diagram with four lifelines and an alt fragment. Notice the Claim/Recovery Service is the orchestrator — it's the one calling Item Service directly via REST to reserve, recover, or release items. This is an orchestration-style Saga, not a pure choreography. The top half shows the happy path you just saw: claim PENDING, item RESERVED, finder approves, item RECOVERED, events published. The bottom half shows compensation: if the claim is rejected, Claim/Recovery calls Item Service's release endpoint, which moves the item back to MATCHED. Compensation is always a forward update — never a database rollback, because each service has its own database. This Saga is implemented locally in claim-recovery-service/app/saga.py for the live demo, and mirrored as a visual Step Functions state machine in AWS for the presentation. Key question: 'Why is this orchestration not choreography?' — Claim/Recovery needs to coordinate the exact order of reserve → approve/reject → release, which is cleaner as an orchestrator than having services react independently to events.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communication styles. REST for anything needing an immediate response: register, login, create item, submit claim, approve or reject. Redis pub/sub for work that continues in the background: matching notifications and claim events. The event chain runs from ItemCreated through MatchFound, ClaimCreated, ClaimApproved or ClaimRejected, and finally ItemRecovered. We chose Redis because it's lightweight, zero-config, and sufficient at this prototype scale — no external broker needed. Since Redis can redeliver a message, Notification Service stores which eventId values it has already processed, so it never sends a duplicate notification. Every event carries an eventId, eventType, timestamp, and payload — the eventId is what makes deduplication reliable. Question: 'Why Redis instead of Kafka?' — For this prototype scale, Redis pub/sub is far simpler to set up and operate. Kafka would make sense at higher throughput or if we needed durable message retention across consumer restarts.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each service has its own SQLite database, the dashboard can't run a single cross-service query. Instead it uses API composition: the nginx proxy routes to Item Service for item lists, Claim/Recovery Service for Saga status, and Notification Service for processed events. Item and Claim/Recovery data is pulled on demand when the page loads. Notification Service is different — it doesn't get pulled every time; it keeps its own up-to-date log by listening to Redis events continuously. That's the push pattern. Eventual consistency means the notification log updates slightly after the original event, not in the same transaction. Graceful degradation means if Notification Service is slow, item and claim data still renders. Future improvement would be a dedicated read model using CQRS to pre-build the dashboard view for faster loading.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Docker Compose — a local compose file for development and a production compose file on AWS EC2, a t3.small Ubuntu 24.04 instance, publicly accessible at 44.220.148.111:3001. SQLite is our database per service — zero-config, one file each. Redis runs internally and is not publicly exposed. AWS Step Functions provides a visual Saga graph with five mock Lambda handlers in eu-central-1, which you can see in the AWS Console. GitHub Actions runs two workflows: ci.yml for unit tests, integration tests, and Docker build; deploy.yml for rsync to EC2, docker compose up with rebuild, and a health check on all three services. The whole commit-to-production lead time is three to five minutes. SQLite is explicitly a prototype choice — the upgrade to PostgreSQL on RDS is documented as the production path. Question: 'Why not use Lambda for the services themselves?' — Long-running Kafka-style consumers are easier to manage as containers; serverless functions are flagged as future work for event-triggered tasks like matching.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goes commit → tests → Docker build → deploy. The CI workflow takes about two and a half minutes, deploy takes about one minute, total lead time is three to five minutes. Four charts show the actual test results. Top-left: we have 31 automated tests — 22 unit tests with no Docker needed for fast feedback, 2 integration tests running the full Docker Compose stack, 5 fault-tolerance tests, and 2 latency tests. Top-right: both MatchFound and ClaimCreated events have an observed maximum latency of 500 milliseconds locally — well within the 5-second CI threshold. Bottom-left: CI pipeline timing as described. Bottom-right: all five fault-tolerance scenarios pass — duplicate events, double approve, wrong user approve, invalid state transitions, and auth errors. Six-part evaluation methodology: Unit, Integration, Fault-tolerance, Event-latency, Demo scripts, and Lead-time. Three out of three services are live on EC2 right now. Question: 'Why is the latency threshold 5 seconds?' — That's a generous bound for CI and EC2 variance; the typical local latency is well under 500ms.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the limits of our evaluation. Five threats: our test descriptions are controlled and clean — real users write messier input that will reduce matching accuracy. Local Docker Compose latency is not the same as EC2 network behavior. Keyword overlap matching is transparent and testable but not production-grade. We tested specific failure scenarios but not every combination of distributed partial failure. Finally, SQLite has a different concurrency profile from PostgreSQL — this is the biggest gap between our prototype and a production deployment, and it's why the PostgreSQL upgrade is explicitly documented.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what was hard, what we couldn't finish, and what comes next. The biggest development challenge was Saga coordination — Claim/Recovery Service must call Item Service with clear failure handling at every step, and designing stable Redis event payloads that won't break consumers if we change them was non-trivial. In terms of limitations: there's no claim cancellation endpoint in the MVP — the rejection path is the only compensation implemented. Notifications are console-logged, not emailed, because we have no SES integration. Step Functions Lambdas are mock handlers — they visualize the Saga but don't drive the live demo. For future work: PostgreSQL on RDS, SES for email, S3 for image storage, claim cancellation, better matching beyond keyword overlap, and live Lambdas calling our EC2 services. If you started over, what would you do differently? Define event contracts and the Saga state machine diagram before writing any code — most of our integration issues came from mismatched assumptions.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summarize: Lostify is a working prototype of a microservice-based lost-and-found platform with three business services, Redis-based event-driven notifications, an orchestrated Saga with compensation, API composition for cross-service queries, Docker on EC2 deployment, GitHub Actions CI/CD, and AWS Step Functions for Saga visualization. You can see it live at 44.220.148.111:3001.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image" Target="../media/image8.png"/><Relationship Id="rId10" Type="http://schemas.openxmlformats.org/officeDocument/2006/relationships/chart" Target="../charts/chart4.xml"/><Relationship Id="rId4" Type="http://schemas.openxmlformats.org/officeDocument/2006/relationships/chart" Target="../charts/chart1.xml"/><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2103120"/>
            <a:ext cx="5943600" cy="5943600"/>
          </a:xfrm>
          <a:prstGeom prst="ellipse">
            <a:avLst/>
          </a:prstGeom>
          <a:solidFill>
            <a:srgbClr val="065A82">
              <a:alpha val="45000"/>
            </a:srgbClr>
          </a:solidFill>
          <a:ln/>
        </p:spPr>
        <p:txBody>
          <a:bodyPr/>
          <a:lstStyle/>
          <a:p>
            <a:endParaRPr lang="en-US"/>
          </a:p>
        </p:txBody>
      </p:sp>
      <p:sp>
        <p:nvSpPr>
          <p:cNvPr id="3" name="Shape 1"/>
          <p:cNvSpPr/>
          <p:nvPr/>
        </p:nvSpPr>
        <p:spPr>
          <a:xfrm>
            <a:off x="10241280" y="4206240"/>
            <a:ext cx="3840480" cy="3840480"/>
          </a:xfrm>
          <a:prstGeom prst="ellipse">
            <a:avLst/>
          </a:prstGeom>
          <a:solidFill>
            <a:srgbClr val="21B6A8">
              <a:alpha val="30000"/>
            </a:srgbClr>
          </a:solidFill>
          <a:ln/>
        </p:spPr>
        <p:txBody>
          <a:bodyPr/>
          <a:lstStyle/>
          <a:p>
            <a:endParaRPr lang="en-US"/>
          </a:p>
        </p:txBody>
      </p:sp>
      <p:sp>
        <p:nvSpPr>
          <p:cNvPr id="4" name="Shape 2"/>
          <p:cNvSpPr/>
          <p:nvPr/>
        </p:nvSpPr>
        <p:spPr>
          <a:xfrm>
            <a:off x="-1463040" y="4846320"/>
            <a:ext cx="3291840" cy="3291840"/>
          </a:xfrm>
          <a:prstGeom prst="ellipse">
            <a:avLst/>
          </a:prstGeom>
          <a:solidFill>
            <a:srgbClr val="1C7293">
              <a:alpha val="40000"/>
            </a:srgbClr>
          </a:solidFill>
          <a:ln/>
        </p:spPr>
        <p:txBody>
          <a:bodyPr/>
          <a:lstStyle/>
          <a:p>
            <a:endParaRPr lang="en-US"/>
          </a:p>
        </p:txBody>
      </p:sp>
      <p:sp>
        <p:nvSpPr>
          <p:cNvPr id="8" name="Text 5"/>
          <p:cNvSpPr/>
          <p:nvPr/>
        </p:nvSpPr>
        <p:spPr>
          <a:xfrm>
            <a:off x="685800" y="2331720"/>
            <a:ext cx="8229600" cy="118872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Lostify</a:t>
            </a:r>
            <a:endParaRPr lang="en-US" sz="6400" dirty="0"/>
          </a:p>
        </p:txBody>
      </p:sp>
      <p:sp>
        <p:nvSpPr>
          <p:cNvPr id="9" name="Text 6"/>
          <p:cNvSpPr/>
          <p:nvPr/>
        </p:nvSpPr>
        <p:spPr>
          <a:xfrm>
            <a:off x="713232" y="3383280"/>
            <a:ext cx="8686800" cy="502920"/>
          </a:xfrm>
          <a:prstGeom prst="rect">
            <a:avLst/>
          </a:prstGeom>
          <a:noFill/>
          <a:ln/>
        </p:spPr>
        <p:txBody>
          <a:bodyPr wrap="square" rtlCol="0" anchor="ctr"/>
          <a:lstStyle/>
          <a:p>
            <a:pPr marL="0" indent="0">
              <a:buNone/>
            </a:pPr>
            <a:r>
              <a:rPr lang="en-US" sz="1900" i="1" dirty="0">
                <a:solidFill>
                  <a:srgbClr val="CFE3F2"/>
                </a:solidFill>
                <a:latin typeface="Calibri" pitchFamily="34" charset="0"/>
                <a:ea typeface="Calibri" pitchFamily="34" charset="-122"/>
                <a:cs typeface="Calibri" pitchFamily="34" charset="-120"/>
              </a:rPr>
              <a:t>A Cloud-Native, Microservice-Based Lost &amp; Found Platform   </a:t>
            </a:r>
            <a:r>
              <a:rPr lang="en-US" sz="1300" i="1" dirty="0">
                <a:solidFill>
                  <a:srgbClr val="8FB3CC"/>
                </a:solidFill>
                <a:latin typeface="Courier New" pitchFamily="34" charset="0"/>
                <a:ea typeface="Courier New" pitchFamily="34" charset="-122"/>
                <a:cs typeface="Courier New" pitchFamily="34" charset="-120"/>
              </a:rPr>
              <a:t>v2.0</a:t>
            </a:r>
            <a:endParaRPr lang="en-US" sz="1900" dirty="0"/>
          </a:p>
        </p:txBody>
      </p:sp>
      <p:sp>
        <p:nvSpPr>
          <p:cNvPr id="10" name="Shape 7"/>
          <p:cNvSpPr/>
          <p:nvPr/>
        </p:nvSpPr>
        <p:spPr>
          <a:xfrm>
            <a:off x="713232" y="4114800"/>
            <a:ext cx="2011680" cy="0"/>
          </a:xfrm>
          <a:prstGeom prst="line">
            <a:avLst/>
          </a:prstGeom>
          <a:noFill/>
          <a:ln w="31750">
            <a:solidFill>
              <a:srgbClr val="21B6A8"/>
            </a:solidFill>
            <a:prstDash val="solid"/>
          </a:ln>
        </p:spPr>
        <p:txBody>
          <a:bodyPr/>
          <a:lstStyle/>
          <a:p>
            <a:endParaRPr lang="en-US"/>
          </a:p>
        </p:txBody>
      </p:sp>
      <p:sp>
        <p:nvSpPr>
          <p:cNvPr id="11" name="Text 8"/>
          <p:cNvSpPr/>
          <p:nvPr/>
        </p:nvSpPr>
        <p:spPr>
          <a:xfrm>
            <a:off x="713232" y="4343400"/>
            <a:ext cx="7315200" cy="7315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Zain Afzal   ·   Babar Ali   ·   Muhammad Hamza Azeem</a:t>
            </a:r>
            <a:endParaRPr lang="en-US" sz="1500" dirty="0"/>
          </a:p>
          <a:p>
            <a:pPr marL="0" indent="0">
              <a:buNone/>
            </a:pPr>
            <a:r>
              <a:rPr lang="en-US" sz="1500" dirty="0">
                <a:solidFill>
                  <a:srgbClr val="9FB6CE"/>
                </a:solidFill>
                <a:latin typeface="Calibri" pitchFamily="34" charset="0"/>
                <a:ea typeface="Calibri" pitchFamily="34" charset="-122"/>
                <a:cs typeface="Calibri" pitchFamily="34" charset="-120"/>
              </a:rPr>
              <a:t>Team 04</a:t>
            </a:r>
            <a:endParaRPr lang="en-US" sz="1500" dirty="0"/>
          </a:p>
        </p:txBody>
      </p:sp>
      <p:sp>
        <p:nvSpPr>
          <p:cNvPr id="12" name="Text 9"/>
          <p:cNvSpPr/>
          <p:nvPr/>
        </p:nvSpPr>
        <p:spPr>
          <a:xfrm>
            <a:off x="713232" y="5486400"/>
            <a:ext cx="7315200" cy="548640"/>
          </a:xfrm>
          <a:prstGeom prst="rect">
            <a:avLst/>
          </a:prstGeom>
          <a:noFill/>
          <a:ln/>
        </p:spPr>
        <p:txBody>
          <a:bodyPr wrap="square" rtlCol="0" anchor="ctr"/>
          <a:lstStyle/>
          <a:p>
            <a:pPr marL="0" indent="0">
              <a:buNone/>
            </a:pPr>
            <a:r>
              <a:rPr lang="en-US" sz="1350" b="1" dirty="0">
                <a:solidFill>
                  <a:srgbClr val="C9D6E3"/>
                </a:solidFill>
                <a:latin typeface="Calibri" pitchFamily="34" charset="0"/>
                <a:ea typeface="Calibri" pitchFamily="34" charset="-122"/>
                <a:cs typeface="Calibri" pitchFamily="34" charset="-120"/>
              </a:rPr>
              <a:t>Serverless Cloud Application Automation</a:t>
            </a:r>
            <a:endParaRPr lang="en-US" sz="1350" dirty="0"/>
          </a:p>
          <a:p>
            <a:pPr marL="0" indent="0">
              <a:buNone/>
            </a:pPr>
            <a:r>
              <a:rPr lang="en-US" sz="1350" dirty="0">
                <a:solidFill>
                  <a:srgbClr val="C9D6E3"/>
                </a:solidFill>
                <a:latin typeface="Calibri" pitchFamily="34" charset="0"/>
                <a:ea typeface="Calibri" pitchFamily="34" charset="-122"/>
                <a:cs typeface="Calibri" pitchFamily="34" charset="-120"/>
              </a:rPr>
              <a:t>Prof. Sashko Ristov   ·   July 1, 2026</a:t>
            </a:r>
            <a:endParaRPr lang="en-US" sz="1350" dirty="0"/>
          </a:p>
        </p:txBody>
      </p:sp>
      <p:sp>
        <p:nvSpPr>
          <p:cNvPr id="13" name="Text 10"/>
          <p:cNvSpPr/>
          <p:nvPr/>
        </p:nvSpPr>
        <p:spPr>
          <a:xfrm>
            <a:off x="713232" y="6108192"/>
            <a:ext cx="7315200" cy="502920"/>
          </a:xfrm>
          <a:prstGeom prst="rect">
            <a:avLst/>
          </a:prstGeom>
          <a:noFill/>
          <a:ln/>
        </p:spPr>
        <p:txBody>
          <a:bodyPr wrap="square" rtlCol="0" anchor="ctr"/>
          <a:lstStyle/>
          <a:p>
            <a:pPr marL="0" indent="0">
              <a:buNone/>
            </a:pPr>
            <a:r>
              <a:rPr lang="en-US" sz="1100" dirty="0">
                <a:solidFill>
                  <a:srgbClr val="7FBAD8"/>
                </a:solidFill>
                <a:latin typeface="Courier New" pitchFamily="34" charset="0"/>
                <a:ea typeface="Courier New" pitchFamily="34" charset="-122"/>
                <a:cs typeface="Courier New" pitchFamily="34" charset="-120"/>
              </a:rPr>
              <a:t>github.com/Babarali2k21/Lostify</a:t>
            </a:r>
            <a:endParaRPr lang="en-US" sz="1100" dirty="0"/>
          </a:p>
          <a:p>
            <a:pPr marL="0" indent="0">
              <a:buNone/>
            </a:pPr>
            <a:r>
              <a:rPr lang="en-US" sz="1100" dirty="0">
                <a:solidFill>
                  <a:srgbClr val="7FBAD8"/>
                </a:solidFill>
                <a:latin typeface="Courier New" pitchFamily="34" charset="0"/>
                <a:ea typeface="Courier New" pitchFamily="34" charset="-122"/>
                <a:cs typeface="Courier New" pitchFamily="34" charset="-120"/>
              </a:rPr>
              <a:t>Live: 44.220.148.111:3001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Problem &amp; Motivation</a:t>
            </a:r>
            <a:endParaRPr lang="en-US" sz="3000" dirty="0"/>
          </a:p>
        </p:txBody>
      </p:sp>
      <p:sp>
        <p:nvSpPr>
          <p:cNvPr id="4" name="Shape 2"/>
          <p:cNvSpPr/>
          <p:nvPr/>
        </p:nvSpPr>
        <p:spPr>
          <a:xfrm>
            <a:off x="548640" y="1508760"/>
            <a:ext cx="5074920" cy="4114800"/>
          </a:xfrm>
          <a:prstGeom prst="roundRect">
            <a:avLst>
              <a:gd name="adj" fmla="val 177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7" name="Text 4"/>
          <p:cNvSpPr/>
          <p:nvPr/>
        </p:nvSpPr>
        <p:spPr>
          <a:xfrm>
            <a:off x="853440" y="1854866"/>
            <a:ext cx="3657600" cy="457200"/>
          </a:xfrm>
          <a:prstGeom prst="rect">
            <a:avLst/>
          </a:prstGeom>
          <a:noFill/>
          <a:ln/>
        </p:spPr>
        <p:txBody>
          <a:bodyPr wrap="square"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Traditional Lost &amp; Found</a:t>
            </a:r>
            <a:endParaRPr lang="en-US" sz="1700" dirty="0"/>
          </a:p>
        </p:txBody>
      </p:sp>
      <p:sp>
        <p:nvSpPr>
          <p:cNvPr id="8" name="Text 5"/>
          <p:cNvSpPr/>
          <p:nvPr/>
        </p:nvSpPr>
        <p:spPr>
          <a:xfrm>
            <a:off x="914400" y="1926017"/>
            <a:ext cx="4434840" cy="2834640"/>
          </a:xfrm>
          <a:prstGeom prst="rect">
            <a:avLst/>
          </a:prstGeom>
          <a:noFill/>
          <a:ln/>
        </p:spPr>
        <p:txBody>
          <a:bodyPr wrap="square" rtlCol="0" anchor="ctr"/>
          <a:lstStyle/>
          <a:p>
            <a:pPr marL="342900" indent="-342900">
              <a:spcAft>
                <a:spcPts val="1000"/>
              </a:spcAft>
              <a:buSzPct val="100000"/>
              <a:buChar char="✗"/>
            </a:pPr>
            <a:r>
              <a:rPr lang="en-US" sz="1400" dirty="0">
                <a:solidFill>
                  <a:srgbClr val="1B2430"/>
                </a:solidFill>
                <a:latin typeface="Calibri" pitchFamily="34" charset="0"/>
                <a:ea typeface="Calibri" pitchFamily="34" charset="-122"/>
                <a:cs typeface="Calibri" pitchFamily="34" charset="-120"/>
              </a:rPr>
              <a:t>Calling an office or visiting a physical desk</a:t>
            </a:r>
            <a:endParaRPr lang="en-US" sz="1400" dirty="0"/>
          </a:p>
          <a:p>
            <a:pPr marL="342900" indent="-342900">
              <a:spcAft>
                <a:spcPts val="1000"/>
              </a:spcAft>
              <a:buSzPct val="100000"/>
              <a:buChar char="✗"/>
            </a:pPr>
            <a:r>
              <a:rPr lang="en-US" sz="1400" dirty="0">
                <a:solidFill>
                  <a:srgbClr val="1B2430"/>
                </a:solidFill>
                <a:latin typeface="Calibri" pitchFamily="34" charset="0"/>
                <a:ea typeface="Calibri" pitchFamily="34" charset="-122"/>
                <a:cs typeface="Calibri" pitchFamily="34" charset="-120"/>
              </a:rPr>
              <a:t>Asking in chat groups, hoping for a post</a:t>
            </a:r>
            <a:endParaRPr lang="en-US" sz="1400" dirty="0"/>
          </a:p>
          <a:p>
            <a:pPr marL="342900" indent="-342900">
              <a:spcAft>
                <a:spcPts val="1000"/>
              </a:spcAft>
              <a:buSzPct val="100000"/>
              <a:buChar char="✗"/>
            </a:pPr>
            <a:r>
              <a:rPr lang="en-US" sz="1400" dirty="0">
                <a:solidFill>
                  <a:srgbClr val="1B2430"/>
                </a:solidFill>
                <a:latin typeface="Calibri" pitchFamily="34" charset="0"/>
                <a:ea typeface="Calibri" pitchFamily="34" charset="-122"/>
                <a:cs typeface="Calibri" pitchFamily="34" charset="-120"/>
              </a:rPr>
              <a:t>No way to track if a match already exists</a:t>
            </a:r>
            <a:endParaRPr lang="en-US" sz="1400" dirty="0"/>
          </a:p>
          <a:p>
            <a:pPr marL="342900" indent="-342900">
              <a:spcAft>
                <a:spcPts val="1000"/>
              </a:spcAft>
              <a:buSzPct val="100000"/>
              <a:buChar char="✗"/>
            </a:pPr>
            <a:r>
              <a:rPr lang="en-US" sz="1400" dirty="0">
                <a:solidFill>
                  <a:srgbClr val="1B2430"/>
                </a:solidFill>
                <a:latin typeface="Calibri" pitchFamily="34" charset="0"/>
                <a:ea typeface="Calibri" pitchFamily="34" charset="-122"/>
                <a:cs typeface="Calibri" pitchFamily="34" charset="-120"/>
              </a:rPr>
              <a:t>No record of whether an owner was notified</a:t>
            </a:r>
            <a:endParaRPr lang="en-US" sz="1400" dirty="0"/>
          </a:p>
          <a:p>
            <a:pPr marL="342900" indent="-342900">
              <a:spcAft>
                <a:spcPts val="1000"/>
              </a:spcAft>
              <a:buSzPct val="100000"/>
              <a:buChar char="✗"/>
            </a:pPr>
            <a:r>
              <a:rPr lang="en-US" sz="1400" dirty="0">
                <a:solidFill>
                  <a:srgbClr val="1B2430"/>
                </a:solidFill>
                <a:latin typeface="Calibri" pitchFamily="34" charset="0"/>
                <a:ea typeface="Calibri" pitchFamily="34" charset="-122"/>
                <a:cs typeface="Calibri" pitchFamily="34" charset="-120"/>
              </a:rPr>
              <a:t>Handover completion is never confirmed</a:t>
            </a:r>
            <a:endParaRPr lang="en-US" sz="1400" dirty="0"/>
          </a:p>
        </p:txBody>
      </p:sp>
      <p:sp>
        <p:nvSpPr>
          <p:cNvPr id="9" name="Shape 6"/>
          <p:cNvSpPr/>
          <p:nvPr/>
        </p:nvSpPr>
        <p:spPr>
          <a:xfrm>
            <a:off x="6263640" y="1508760"/>
            <a:ext cx="5074920" cy="4114800"/>
          </a:xfrm>
          <a:prstGeom prst="roundRect">
            <a:avLst>
              <a:gd name="adj" fmla="val 1778"/>
            </a:avLst>
          </a:prstGeom>
          <a:solidFill>
            <a:srgbClr val="065A82"/>
          </a:solidFill>
          <a:ln/>
          <a:effectLst>
            <a:outerShdw blurRad="101600" dist="38100" dir="2700000" algn="bl" rotWithShape="0">
              <a:srgbClr val="000000">
                <a:alpha val="12000"/>
              </a:srgbClr>
            </a:outerShdw>
          </a:effectLst>
        </p:spPr>
        <p:txBody>
          <a:bodyPr/>
          <a:lstStyle/>
          <a:p>
            <a:endParaRPr lang="en-US"/>
          </a:p>
        </p:txBody>
      </p:sp>
      <p:sp>
        <p:nvSpPr>
          <p:cNvPr id="12" name="Text 8"/>
          <p:cNvSpPr/>
          <p:nvPr/>
        </p:nvSpPr>
        <p:spPr>
          <a:xfrm>
            <a:off x="6629400" y="1860331"/>
            <a:ext cx="3657600" cy="457200"/>
          </a:xfrm>
          <a:prstGeom prst="rect">
            <a:avLst/>
          </a:prstGeom>
          <a:noFill/>
          <a:ln/>
        </p:spPr>
        <p:txBody>
          <a:bodyPr wrap="square" rtlCol="0" anchor="ctr"/>
          <a:lstStyle/>
          <a:p>
            <a:pPr marL="0" indent="0">
              <a:buNone/>
            </a:pPr>
            <a:r>
              <a:rPr lang="en-US" sz="1700" b="1" dirty="0" err="1">
                <a:solidFill>
                  <a:srgbClr val="FFFFFF"/>
                </a:solidFill>
                <a:latin typeface="Calibri" pitchFamily="34" charset="0"/>
                <a:ea typeface="Calibri" pitchFamily="34" charset="-122"/>
                <a:cs typeface="Calibri" pitchFamily="34" charset="-120"/>
              </a:rPr>
              <a:t>Lostify</a:t>
            </a:r>
            <a:endParaRPr lang="en-US" sz="1700" dirty="0"/>
          </a:p>
        </p:txBody>
      </p:sp>
      <p:sp>
        <p:nvSpPr>
          <p:cNvPr id="13" name="Text 9"/>
          <p:cNvSpPr/>
          <p:nvPr/>
        </p:nvSpPr>
        <p:spPr>
          <a:xfrm>
            <a:off x="6629400" y="2251843"/>
            <a:ext cx="4434840" cy="2834640"/>
          </a:xfrm>
          <a:prstGeom prst="rect">
            <a:avLst/>
          </a:prstGeom>
          <a:noFill/>
          <a:ln/>
        </p:spPr>
        <p:txBody>
          <a:bodyPr wrap="square" rtlCol="0" anchor="ctr"/>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Structured lost / found reports (title, description, item type)</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Automatic keyword-overlap matching of lost &amp; found reports</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Owner notified in-app when a match is found</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Claim workflow — user submits, finder approves or rejects</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Full lifecycle tracked end-to-end with Saga compensation</a:t>
            </a:r>
            <a:endParaRPr lang="en-US" sz="1400" dirty="0"/>
          </a:p>
        </p:txBody>
      </p:sp>
      <p:sp>
        <p:nvSpPr>
          <p:cNvPr id="14" name="Text 1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15" name="Text 1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SOLUTION</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Overall Architecture — Container Diagram</a:t>
            </a:r>
            <a:endParaRPr lang="en-US" sz="3000" dirty="0"/>
          </a:p>
        </p:txBody>
      </p:sp>
      <p:sp>
        <p:nvSpPr>
          <p:cNvPr id="4" name="Shape 2"/>
          <p:cNvSpPr/>
          <p:nvPr/>
        </p:nvSpPr>
        <p:spPr>
          <a:xfrm>
            <a:off x="411480" y="1731412"/>
            <a:ext cx="0" cy="4370832"/>
          </a:xfrm>
          <a:prstGeom prst="line">
            <a:avLst/>
          </a:prstGeom>
          <a:noFill/>
          <a:ln w="6350">
            <a:solidFill>
              <a:srgbClr val="E4ECF1"/>
            </a:solidFill>
            <a:prstDash val="solid"/>
          </a:ln>
        </p:spPr>
        <p:txBody>
          <a:bodyPr/>
          <a:lstStyle/>
          <a:p>
            <a:endParaRPr lang="en-US"/>
          </a:p>
        </p:txBody>
      </p:sp>
      <p:sp>
        <p:nvSpPr>
          <p:cNvPr id="5" name="Shape 3"/>
          <p:cNvSpPr/>
          <p:nvPr/>
        </p:nvSpPr>
        <p:spPr>
          <a:xfrm>
            <a:off x="795528" y="1731412"/>
            <a:ext cx="0" cy="4370832"/>
          </a:xfrm>
          <a:prstGeom prst="line">
            <a:avLst/>
          </a:prstGeom>
          <a:noFill/>
          <a:ln w="6350">
            <a:solidFill>
              <a:srgbClr val="E4ECF1"/>
            </a:solidFill>
            <a:prstDash val="solid"/>
          </a:ln>
        </p:spPr>
        <p:txBody>
          <a:bodyPr/>
          <a:lstStyle/>
          <a:p>
            <a:endParaRPr lang="en-US"/>
          </a:p>
        </p:txBody>
      </p:sp>
      <p:sp>
        <p:nvSpPr>
          <p:cNvPr id="6" name="Shape 4"/>
          <p:cNvSpPr/>
          <p:nvPr/>
        </p:nvSpPr>
        <p:spPr>
          <a:xfrm>
            <a:off x="1179576" y="1731412"/>
            <a:ext cx="0" cy="4370832"/>
          </a:xfrm>
          <a:prstGeom prst="line">
            <a:avLst/>
          </a:prstGeom>
          <a:noFill/>
          <a:ln w="6350">
            <a:solidFill>
              <a:srgbClr val="E4ECF1"/>
            </a:solidFill>
            <a:prstDash val="solid"/>
          </a:ln>
        </p:spPr>
        <p:txBody>
          <a:bodyPr/>
          <a:lstStyle/>
          <a:p>
            <a:endParaRPr lang="en-US"/>
          </a:p>
        </p:txBody>
      </p:sp>
      <p:sp>
        <p:nvSpPr>
          <p:cNvPr id="7" name="Shape 5"/>
          <p:cNvSpPr/>
          <p:nvPr/>
        </p:nvSpPr>
        <p:spPr>
          <a:xfrm>
            <a:off x="1563624" y="1731412"/>
            <a:ext cx="0" cy="4370832"/>
          </a:xfrm>
          <a:prstGeom prst="line">
            <a:avLst/>
          </a:prstGeom>
          <a:noFill/>
          <a:ln w="6350">
            <a:solidFill>
              <a:srgbClr val="E4ECF1"/>
            </a:solidFill>
            <a:prstDash val="solid"/>
          </a:ln>
        </p:spPr>
        <p:txBody>
          <a:bodyPr/>
          <a:lstStyle/>
          <a:p>
            <a:endParaRPr lang="en-US"/>
          </a:p>
        </p:txBody>
      </p:sp>
      <p:sp>
        <p:nvSpPr>
          <p:cNvPr id="8" name="Shape 6"/>
          <p:cNvSpPr/>
          <p:nvPr/>
        </p:nvSpPr>
        <p:spPr>
          <a:xfrm>
            <a:off x="1947672" y="1731412"/>
            <a:ext cx="0" cy="4370832"/>
          </a:xfrm>
          <a:prstGeom prst="line">
            <a:avLst/>
          </a:prstGeom>
          <a:noFill/>
          <a:ln w="6350">
            <a:solidFill>
              <a:srgbClr val="E4ECF1"/>
            </a:solidFill>
            <a:prstDash val="solid"/>
          </a:ln>
        </p:spPr>
        <p:txBody>
          <a:bodyPr/>
          <a:lstStyle/>
          <a:p>
            <a:endParaRPr lang="en-US"/>
          </a:p>
        </p:txBody>
      </p:sp>
      <p:sp>
        <p:nvSpPr>
          <p:cNvPr id="9" name="Shape 7"/>
          <p:cNvSpPr/>
          <p:nvPr/>
        </p:nvSpPr>
        <p:spPr>
          <a:xfrm>
            <a:off x="2331720" y="1731412"/>
            <a:ext cx="0" cy="4370832"/>
          </a:xfrm>
          <a:prstGeom prst="line">
            <a:avLst/>
          </a:prstGeom>
          <a:noFill/>
          <a:ln w="6350">
            <a:solidFill>
              <a:srgbClr val="E4ECF1"/>
            </a:solidFill>
            <a:prstDash val="solid"/>
          </a:ln>
        </p:spPr>
        <p:txBody>
          <a:bodyPr/>
          <a:lstStyle/>
          <a:p>
            <a:endParaRPr lang="en-US"/>
          </a:p>
        </p:txBody>
      </p:sp>
      <p:sp>
        <p:nvSpPr>
          <p:cNvPr id="10" name="Shape 8"/>
          <p:cNvSpPr/>
          <p:nvPr/>
        </p:nvSpPr>
        <p:spPr>
          <a:xfrm>
            <a:off x="2715768" y="1731412"/>
            <a:ext cx="0" cy="4370832"/>
          </a:xfrm>
          <a:prstGeom prst="line">
            <a:avLst/>
          </a:prstGeom>
          <a:noFill/>
          <a:ln w="6350">
            <a:solidFill>
              <a:srgbClr val="E4ECF1"/>
            </a:solidFill>
            <a:prstDash val="solid"/>
          </a:ln>
        </p:spPr>
        <p:txBody>
          <a:bodyPr/>
          <a:lstStyle/>
          <a:p>
            <a:endParaRPr lang="en-US"/>
          </a:p>
        </p:txBody>
      </p:sp>
      <p:sp>
        <p:nvSpPr>
          <p:cNvPr id="11" name="Shape 9"/>
          <p:cNvSpPr/>
          <p:nvPr/>
        </p:nvSpPr>
        <p:spPr>
          <a:xfrm>
            <a:off x="3099816" y="1731412"/>
            <a:ext cx="0" cy="4370832"/>
          </a:xfrm>
          <a:prstGeom prst="line">
            <a:avLst/>
          </a:prstGeom>
          <a:noFill/>
          <a:ln w="6350">
            <a:solidFill>
              <a:srgbClr val="E4ECF1"/>
            </a:solidFill>
            <a:prstDash val="solid"/>
          </a:ln>
        </p:spPr>
        <p:txBody>
          <a:bodyPr/>
          <a:lstStyle/>
          <a:p>
            <a:endParaRPr lang="en-US"/>
          </a:p>
        </p:txBody>
      </p:sp>
      <p:sp>
        <p:nvSpPr>
          <p:cNvPr id="12" name="Shape 10"/>
          <p:cNvSpPr/>
          <p:nvPr/>
        </p:nvSpPr>
        <p:spPr>
          <a:xfrm>
            <a:off x="3483864" y="1731412"/>
            <a:ext cx="0" cy="4370832"/>
          </a:xfrm>
          <a:prstGeom prst="line">
            <a:avLst/>
          </a:prstGeom>
          <a:noFill/>
          <a:ln w="6350">
            <a:solidFill>
              <a:srgbClr val="E4ECF1"/>
            </a:solidFill>
            <a:prstDash val="solid"/>
          </a:ln>
        </p:spPr>
        <p:txBody>
          <a:bodyPr/>
          <a:lstStyle/>
          <a:p>
            <a:endParaRPr lang="en-US"/>
          </a:p>
        </p:txBody>
      </p:sp>
      <p:sp>
        <p:nvSpPr>
          <p:cNvPr id="13" name="Shape 11"/>
          <p:cNvSpPr/>
          <p:nvPr/>
        </p:nvSpPr>
        <p:spPr>
          <a:xfrm>
            <a:off x="3867912" y="1731412"/>
            <a:ext cx="0" cy="4370832"/>
          </a:xfrm>
          <a:prstGeom prst="line">
            <a:avLst/>
          </a:prstGeom>
          <a:noFill/>
          <a:ln w="6350">
            <a:solidFill>
              <a:srgbClr val="E4ECF1"/>
            </a:solidFill>
            <a:prstDash val="solid"/>
          </a:ln>
        </p:spPr>
        <p:txBody>
          <a:bodyPr/>
          <a:lstStyle/>
          <a:p>
            <a:endParaRPr lang="en-US"/>
          </a:p>
        </p:txBody>
      </p:sp>
      <p:sp>
        <p:nvSpPr>
          <p:cNvPr id="14" name="Shape 12"/>
          <p:cNvSpPr/>
          <p:nvPr/>
        </p:nvSpPr>
        <p:spPr>
          <a:xfrm>
            <a:off x="4251960" y="1731412"/>
            <a:ext cx="0" cy="4370832"/>
          </a:xfrm>
          <a:prstGeom prst="line">
            <a:avLst/>
          </a:prstGeom>
          <a:noFill/>
          <a:ln w="6350">
            <a:solidFill>
              <a:srgbClr val="E4ECF1"/>
            </a:solidFill>
            <a:prstDash val="solid"/>
          </a:ln>
        </p:spPr>
        <p:txBody>
          <a:bodyPr/>
          <a:lstStyle/>
          <a:p>
            <a:endParaRPr lang="en-US"/>
          </a:p>
        </p:txBody>
      </p:sp>
      <p:sp>
        <p:nvSpPr>
          <p:cNvPr id="15" name="Shape 13"/>
          <p:cNvSpPr/>
          <p:nvPr/>
        </p:nvSpPr>
        <p:spPr>
          <a:xfrm>
            <a:off x="4636008" y="1731412"/>
            <a:ext cx="0" cy="4370832"/>
          </a:xfrm>
          <a:prstGeom prst="line">
            <a:avLst/>
          </a:prstGeom>
          <a:noFill/>
          <a:ln w="6350">
            <a:solidFill>
              <a:srgbClr val="E4ECF1"/>
            </a:solidFill>
            <a:prstDash val="solid"/>
          </a:ln>
        </p:spPr>
        <p:txBody>
          <a:bodyPr/>
          <a:lstStyle/>
          <a:p>
            <a:endParaRPr lang="en-US"/>
          </a:p>
        </p:txBody>
      </p:sp>
      <p:sp>
        <p:nvSpPr>
          <p:cNvPr id="16" name="Shape 14"/>
          <p:cNvSpPr/>
          <p:nvPr/>
        </p:nvSpPr>
        <p:spPr>
          <a:xfrm>
            <a:off x="5020056" y="1731412"/>
            <a:ext cx="0" cy="4370832"/>
          </a:xfrm>
          <a:prstGeom prst="line">
            <a:avLst/>
          </a:prstGeom>
          <a:noFill/>
          <a:ln w="6350">
            <a:solidFill>
              <a:srgbClr val="E4ECF1"/>
            </a:solidFill>
            <a:prstDash val="solid"/>
          </a:ln>
        </p:spPr>
        <p:txBody>
          <a:bodyPr/>
          <a:lstStyle/>
          <a:p>
            <a:endParaRPr lang="en-US"/>
          </a:p>
        </p:txBody>
      </p:sp>
      <p:sp>
        <p:nvSpPr>
          <p:cNvPr id="17" name="Shape 15"/>
          <p:cNvSpPr/>
          <p:nvPr/>
        </p:nvSpPr>
        <p:spPr>
          <a:xfrm>
            <a:off x="5404104" y="1731412"/>
            <a:ext cx="0" cy="4370832"/>
          </a:xfrm>
          <a:prstGeom prst="line">
            <a:avLst/>
          </a:prstGeom>
          <a:noFill/>
          <a:ln w="6350">
            <a:solidFill>
              <a:srgbClr val="E4ECF1"/>
            </a:solidFill>
            <a:prstDash val="solid"/>
          </a:ln>
        </p:spPr>
        <p:txBody>
          <a:bodyPr/>
          <a:lstStyle/>
          <a:p>
            <a:endParaRPr lang="en-US"/>
          </a:p>
        </p:txBody>
      </p:sp>
      <p:sp>
        <p:nvSpPr>
          <p:cNvPr id="18" name="Shape 16"/>
          <p:cNvSpPr/>
          <p:nvPr/>
        </p:nvSpPr>
        <p:spPr>
          <a:xfrm>
            <a:off x="5788152" y="1731412"/>
            <a:ext cx="0" cy="4370832"/>
          </a:xfrm>
          <a:prstGeom prst="line">
            <a:avLst/>
          </a:prstGeom>
          <a:noFill/>
          <a:ln w="6350">
            <a:solidFill>
              <a:srgbClr val="E4ECF1"/>
            </a:solidFill>
            <a:prstDash val="solid"/>
          </a:ln>
        </p:spPr>
        <p:txBody>
          <a:bodyPr/>
          <a:lstStyle/>
          <a:p>
            <a:endParaRPr lang="en-US"/>
          </a:p>
        </p:txBody>
      </p:sp>
      <p:sp>
        <p:nvSpPr>
          <p:cNvPr id="19" name="Shape 17"/>
          <p:cNvSpPr/>
          <p:nvPr/>
        </p:nvSpPr>
        <p:spPr>
          <a:xfrm>
            <a:off x="6172200" y="1731412"/>
            <a:ext cx="0" cy="4370832"/>
          </a:xfrm>
          <a:prstGeom prst="line">
            <a:avLst/>
          </a:prstGeom>
          <a:noFill/>
          <a:ln w="6350">
            <a:solidFill>
              <a:srgbClr val="E4ECF1"/>
            </a:solidFill>
            <a:prstDash val="solid"/>
          </a:ln>
        </p:spPr>
        <p:txBody>
          <a:bodyPr/>
          <a:lstStyle/>
          <a:p>
            <a:endParaRPr lang="en-US"/>
          </a:p>
        </p:txBody>
      </p:sp>
      <p:sp>
        <p:nvSpPr>
          <p:cNvPr id="20" name="Shape 18"/>
          <p:cNvSpPr/>
          <p:nvPr/>
        </p:nvSpPr>
        <p:spPr>
          <a:xfrm>
            <a:off x="6556248" y="1731412"/>
            <a:ext cx="0" cy="4370832"/>
          </a:xfrm>
          <a:prstGeom prst="line">
            <a:avLst/>
          </a:prstGeom>
          <a:noFill/>
          <a:ln w="6350">
            <a:solidFill>
              <a:srgbClr val="E4ECF1"/>
            </a:solidFill>
            <a:prstDash val="solid"/>
          </a:ln>
        </p:spPr>
        <p:txBody>
          <a:bodyPr/>
          <a:lstStyle/>
          <a:p>
            <a:endParaRPr lang="en-US"/>
          </a:p>
        </p:txBody>
      </p:sp>
      <p:sp>
        <p:nvSpPr>
          <p:cNvPr id="21" name="Shape 19"/>
          <p:cNvSpPr/>
          <p:nvPr/>
        </p:nvSpPr>
        <p:spPr>
          <a:xfrm>
            <a:off x="6940296" y="1731412"/>
            <a:ext cx="0" cy="4370832"/>
          </a:xfrm>
          <a:prstGeom prst="line">
            <a:avLst/>
          </a:prstGeom>
          <a:noFill/>
          <a:ln w="6350">
            <a:solidFill>
              <a:srgbClr val="E4ECF1"/>
            </a:solidFill>
            <a:prstDash val="solid"/>
          </a:ln>
        </p:spPr>
        <p:txBody>
          <a:bodyPr/>
          <a:lstStyle/>
          <a:p>
            <a:endParaRPr lang="en-US"/>
          </a:p>
        </p:txBody>
      </p:sp>
      <p:sp>
        <p:nvSpPr>
          <p:cNvPr id="22" name="Shape 20"/>
          <p:cNvSpPr/>
          <p:nvPr/>
        </p:nvSpPr>
        <p:spPr>
          <a:xfrm>
            <a:off x="7324344" y="1731412"/>
            <a:ext cx="0" cy="4370832"/>
          </a:xfrm>
          <a:prstGeom prst="line">
            <a:avLst/>
          </a:prstGeom>
          <a:noFill/>
          <a:ln w="6350">
            <a:solidFill>
              <a:srgbClr val="E4ECF1"/>
            </a:solidFill>
            <a:prstDash val="solid"/>
          </a:ln>
        </p:spPr>
        <p:txBody>
          <a:bodyPr/>
          <a:lstStyle/>
          <a:p>
            <a:endParaRPr lang="en-US"/>
          </a:p>
        </p:txBody>
      </p:sp>
      <p:sp>
        <p:nvSpPr>
          <p:cNvPr id="23" name="Shape 21"/>
          <p:cNvSpPr/>
          <p:nvPr/>
        </p:nvSpPr>
        <p:spPr>
          <a:xfrm>
            <a:off x="7708392" y="1731412"/>
            <a:ext cx="0" cy="4370832"/>
          </a:xfrm>
          <a:prstGeom prst="line">
            <a:avLst/>
          </a:prstGeom>
          <a:noFill/>
          <a:ln w="6350">
            <a:solidFill>
              <a:srgbClr val="E4ECF1"/>
            </a:solidFill>
            <a:prstDash val="solid"/>
          </a:ln>
        </p:spPr>
        <p:txBody>
          <a:bodyPr/>
          <a:lstStyle/>
          <a:p>
            <a:endParaRPr lang="en-US"/>
          </a:p>
        </p:txBody>
      </p:sp>
      <p:sp>
        <p:nvSpPr>
          <p:cNvPr id="24" name="Shape 22"/>
          <p:cNvSpPr/>
          <p:nvPr/>
        </p:nvSpPr>
        <p:spPr>
          <a:xfrm>
            <a:off x="8092440" y="1731412"/>
            <a:ext cx="0" cy="4370832"/>
          </a:xfrm>
          <a:prstGeom prst="line">
            <a:avLst/>
          </a:prstGeom>
          <a:noFill/>
          <a:ln w="6350">
            <a:solidFill>
              <a:srgbClr val="E4ECF1"/>
            </a:solidFill>
            <a:prstDash val="solid"/>
          </a:ln>
        </p:spPr>
        <p:txBody>
          <a:bodyPr/>
          <a:lstStyle/>
          <a:p>
            <a:endParaRPr lang="en-US"/>
          </a:p>
        </p:txBody>
      </p:sp>
      <p:sp>
        <p:nvSpPr>
          <p:cNvPr id="25" name="Shape 23"/>
          <p:cNvSpPr/>
          <p:nvPr/>
        </p:nvSpPr>
        <p:spPr>
          <a:xfrm>
            <a:off x="8476488" y="1731412"/>
            <a:ext cx="0" cy="4370832"/>
          </a:xfrm>
          <a:prstGeom prst="line">
            <a:avLst/>
          </a:prstGeom>
          <a:noFill/>
          <a:ln w="6350">
            <a:solidFill>
              <a:srgbClr val="E4ECF1"/>
            </a:solidFill>
            <a:prstDash val="solid"/>
          </a:ln>
        </p:spPr>
        <p:txBody>
          <a:bodyPr/>
          <a:lstStyle/>
          <a:p>
            <a:endParaRPr lang="en-US"/>
          </a:p>
        </p:txBody>
      </p:sp>
      <p:sp>
        <p:nvSpPr>
          <p:cNvPr id="26" name="Shape 24"/>
          <p:cNvSpPr/>
          <p:nvPr/>
        </p:nvSpPr>
        <p:spPr>
          <a:xfrm>
            <a:off x="8860536" y="1731412"/>
            <a:ext cx="0" cy="4370832"/>
          </a:xfrm>
          <a:prstGeom prst="line">
            <a:avLst/>
          </a:prstGeom>
          <a:noFill/>
          <a:ln w="6350">
            <a:solidFill>
              <a:srgbClr val="E4ECF1"/>
            </a:solidFill>
            <a:prstDash val="solid"/>
          </a:ln>
        </p:spPr>
        <p:txBody>
          <a:bodyPr/>
          <a:lstStyle/>
          <a:p>
            <a:endParaRPr lang="en-US"/>
          </a:p>
        </p:txBody>
      </p:sp>
      <p:sp>
        <p:nvSpPr>
          <p:cNvPr id="27" name="Shape 25"/>
          <p:cNvSpPr/>
          <p:nvPr/>
        </p:nvSpPr>
        <p:spPr>
          <a:xfrm>
            <a:off x="9244584" y="1731412"/>
            <a:ext cx="0" cy="4370832"/>
          </a:xfrm>
          <a:prstGeom prst="line">
            <a:avLst/>
          </a:prstGeom>
          <a:noFill/>
          <a:ln w="6350">
            <a:solidFill>
              <a:srgbClr val="E4ECF1"/>
            </a:solidFill>
            <a:prstDash val="solid"/>
          </a:ln>
        </p:spPr>
        <p:txBody>
          <a:bodyPr/>
          <a:lstStyle/>
          <a:p>
            <a:endParaRPr lang="en-US"/>
          </a:p>
        </p:txBody>
      </p:sp>
      <p:sp>
        <p:nvSpPr>
          <p:cNvPr id="28" name="Shape 26"/>
          <p:cNvSpPr/>
          <p:nvPr/>
        </p:nvSpPr>
        <p:spPr>
          <a:xfrm>
            <a:off x="9628632" y="1731412"/>
            <a:ext cx="0" cy="4370832"/>
          </a:xfrm>
          <a:prstGeom prst="line">
            <a:avLst/>
          </a:prstGeom>
          <a:noFill/>
          <a:ln w="6350">
            <a:solidFill>
              <a:srgbClr val="E4ECF1"/>
            </a:solidFill>
            <a:prstDash val="solid"/>
          </a:ln>
        </p:spPr>
        <p:txBody>
          <a:bodyPr/>
          <a:lstStyle/>
          <a:p>
            <a:endParaRPr lang="en-US"/>
          </a:p>
        </p:txBody>
      </p:sp>
      <p:sp>
        <p:nvSpPr>
          <p:cNvPr id="29" name="Shape 27"/>
          <p:cNvSpPr/>
          <p:nvPr/>
        </p:nvSpPr>
        <p:spPr>
          <a:xfrm>
            <a:off x="10012680" y="1731412"/>
            <a:ext cx="0" cy="4370832"/>
          </a:xfrm>
          <a:prstGeom prst="line">
            <a:avLst/>
          </a:prstGeom>
          <a:noFill/>
          <a:ln w="6350">
            <a:solidFill>
              <a:srgbClr val="E4ECF1"/>
            </a:solidFill>
            <a:prstDash val="solid"/>
          </a:ln>
        </p:spPr>
        <p:txBody>
          <a:bodyPr/>
          <a:lstStyle/>
          <a:p>
            <a:endParaRPr lang="en-US"/>
          </a:p>
        </p:txBody>
      </p:sp>
      <p:sp>
        <p:nvSpPr>
          <p:cNvPr id="30" name="Shape 28"/>
          <p:cNvSpPr/>
          <p:nvPr/>
        </p:nvSpPr>
        <p:spPr>
          <a:xfrm>
            <a:off x="10396728" y="1731412"/>
            <a:ext cx="0" cy="4370832"/>
          </a:xfrm>
          <a:prstGeom prst="line">
            <a:avLst/>
          </a:prstGeom>
          <a:noFill/>
          <a:ln w="6350">
            <a:solidFill>
              <a:srgbClr val="E4ECF1"/>
            </a:solidFill>
            <a:prstDash val="solid"/>
          </a:ln>
        </p:spPr>
        <p:txBody>
          <a:bodyPr/>
          <a:lstStyle/>
          <a:p>
            <a:endParaRPr lang="en-US"/>
          </a:p>
        </p:txBody>
      </p:sp>
      <p:sp>
        <p:nvSpPr>
          <p:cNvPr id="31" name="Shape 29"/>
          <p:cNvSpPr/>
          <p:nvPr/>
        </p:nvSpPr>
        <p:spPr>
          <a:xfrm>
            <a:off x="10780776" y="1731412"/>
            <a:ext cx="0" cy="4370832"/>
          </a:xfrm>
          <a:prstGeom prst="line">
            <a:avLst/>
          </a:prstGeom>
          <a:noFill/>
          <a:ln w="6350">
            <a:solidFill>
              <a:srgbClr val="E4ECF1"/>
            </a:solidFill>
            <a:prstDash val="solid"/>
          </a:ln>
        </p:spPr>
        <p:txBody>
          <a:bodyPr/>
          <a:lstStyle/>
          <a:p>
            <a:endParaRPr lang="en-US"/>
          </a:p>
        </p:txBody>
      </p:sp>
      <p:sp>
        <p:nvSpPr>
          <p:cNvPr id="32" name="Shape 30"/>
          <p:cNvSpPr/>
          <p:nvPr/>
        </p:nvSpPr>
        <p:spPr>
          <a:xfrm>
            <a:off x="11164824" y="1731412"/>
            <a:ext cx="0" cy="4370832"/>
          </a:xfrm>
          <a:prstGeom prst="line">
            <a:avLst/>
          </a:prstGeom>
          <a:noFill/>
          <a:ln w="6350">
            <a:solidFill>
              <a:srgbClr val="E4ECF1"/>
            </a:solidFill>
            <a:prstDash val="solid"/>
          </a:ln>
        </p:spPr>
        <p:txBody>
          <a:bodyPr/>
          <a:lstStyle/>
          <a:p>
            <a:endParaRPr lang="en-US"/>
          </a:p>
        </p:txBody>
      </p:sp>
      <p:sp>
        <p:nvSpPr>
          <p:cNvPr id="33" name="Shape 31"/>
          <p:cNvSpPr/>
          <p:nvPr/>
        </p:nvSpPr>
        <p:spPr>
          <a:xfrm>
            <a:off x="11548872" y="1731412"/>
            <a:ext cx="0" cy="4370832"/>
          </a:xfrm>
          <a:prstGeom prst="line">
            <a:avLst/>
          </a:prstGeom>
          <a:noFill/>
          <a:ln w="6350">
            <a:solidFill>
              <a:srgbClr val="E4ECF1"/>
            </a:solidFill>
            <a:prstDash val="solid"/>
          </a:ln>
        </p:spPr>
        <p:txBody>
          <a:bodyPr/>
          <a:lstStyle/>
          <a:p>
            <a:endParaRPr lang="en-US"/>
          </a:p>
        </p:txBody>
      </p:sp>
      <p:sp>
        <p:nvSpPr>
          <p:cNvPr id="34" name="Shape 32"/>
          <p:cNvSpPr/>
          <p:nvPr/>
        </p:nvSpPr>
        <p:spPr>
          <a:xfrm>
            <a:off x="411480" y="1731412"/>
            <a:ext cx="11365992" cy="0"/>
          </a:xfrm>
          <a:prstGeom prst="line">
            <a:avLst/>
          </a:prstGeom>
          <a:noFill/>
          <a:ln w="6350">
            <a:solidFill>
              <a:srgbClr val="E4ECF1"/>
            </a:solidFill>
            <a:prstDash val="solid"/>
          </a:ln>
        </p:spPr>
        <p:txBody>
          <a:bodyPr/>
          <a:lstStyle/>
          <a:p>
            <a:endParaRPr lang="en-US"/>
          </a:p>
        </p:txBody>
      </p:sp>
      <p:sp>
        <p:nvSpPr>
          <p:cNvPr id="35" name="Shape 33"/>
          <p:cNvSpPr/>
          <p:nvPr/>
        </p:nvSpPr>
        <p:spPr>
          <a:xfrm>
            <a:off x="411480" y="2115460"/>
            <a:ext cx="11365992" cy="0"/>
          </a:xfrm>
          <a:prstGeom prst="line">
            <a:avLst/>
          </a:prstGeom>
          <a:noFill/>
          <a:ln w="6350">
            <a:solidFill>
              <a:srgbClr val="E4ECF1"/>
            </a:solidFill>
            <a:prstDash val="solid"/>
          </a:ln>
        </p:spPr>
        <p:txBody>
          <a:bodyPr/>
          <a:lstStyle/>
          <a:p>
            <a:endParaRPr lang="en-US"/>
          </a:p>
        </p:txBody>
      </p:sp>
      <p:sp>
        <p:nvSpPr>
          <p:cNvPr id="36" name="Shape 34"/>
          <p:cNvSpPr/>
          <p:nvPr/>
        </p:nvSpPr>
        <p:spPr>
          <a:xfrm>
            <a:off x="411480" y="2499508"/>
            <a:ext cx="11365992" cy="0"/>
          </a:xfrm>
          <a:prstGeom prst="line">
            <a:avLst/>
          </a:prstGeom>
          <a:noFill/>
          <a:ln w="6350">
            <a:solidFill>
              <a:srgbClr val="E4ECF1"/>
            </a:solidFill>
            <a:prstDash val="solid"/>
          </a:ln>
        </p:spPr>
        <p:txBody>
          <a:bodyPr/>
          <a:lstStyle/>
          <a:p>
            <a:endParaRPr lang="en-US"/>
          </a:p>
        </p:txBody>
      </p:sp>
      <p:sp>
        <p:nvSpPr>
          <p:cNvPr id="37" name="Shape 35"/>
          <p:cNvSpPr/>
          <p:nvPr/>
        </p:nvSpPr>
        <p:spPr>
          <a:xfrm>
            <a:off x="411480" y="2883556"/>
            <a:ext cx="11365992" cy="0"/>
          </a:xfrm>
          <a:prstGeom prst="line">
            <a:avLst/>
          </a:prstGeom>
          <a:noFill/>
          <a:ln w="6350">
            <a:solidFill>
              <a:srgbClr val="E4ECF1"/>
            </a:solidFill>
            <a:prstDash val="solid"/>
          </a:ln>
        </p:spPr>
        <p:txBody>
          <a:bodyPr/>
          <a:lstStyle/>
          <a:p>
            <a:endParaRPr lang="en-US"/>
          </a:p>
        </p:txBody>
      </p:sp>
      <p:sp>
        <p:nvSpPr>
          <p:cNvPr id="38" name="Shape 36"/>
          <p:cNvSpPr/>
          <p:nvPr/>
        </p:nvSpPr>
        <p:spPr>
          <a:xfrm>
            <a:off x="411480" y="3267604"/>
            <a:ext cx="11365992" cy="0"/>
          </a:xfrm>
          <a:prstGeom prst="line">
            <a:avLst/>
          </a:prstGeom>
          <a:noFill/>
          <a:ln w="6350">
            <a:solidFill>
              <a:srgbClr val="E4ECF1"/>
            </a:solidFill>
            <a:prstDash val="solid"/>
          </a:ln>
        </p:spPr>
        <p:txBody>
          <a:bodyPr/>
          <a:lstStyle/>
          <a:p>
            <a:endParaRPr lang="en-US"/>
          </a:p>
        </p:txBody>
      </p:sp>
      <p:sp>
        <p:nvSpPr>
          <p:cNvPr id="39" name="Shape 37"/>
          <p:cNvSpPr/>
          <p:nvPr/>
        </p:nvSpPr>
        <p:spPr>
          <a:xfrm>
            <a:off x="411480" y="3651652"/>
            <a:ext cx="11365992" cy="0"/>
          </a:xfrm>
          <a:prstGeom prst="line">
            <a:avLst/>
          </a:prstGeom>
          <a:noFill/>
          <a:ln w="6350">
            <a:solidFill>
              <a:srgbClr val="E4ECF1"/>
            </a:solidFill>
            <a:prstDash val="solid"/>
          </a:ln>
        </p:spPr>
        <p:txBody>
          <a:bodyPr/>
          <a:lstStyle/>
          <a:p>
            <a:endParaRPr lang="en-US"/>
          </a:p>
        </p:txBody>
      </p:sp>
      <p:sp>
        <p:nvSpPr>
          <p:cNvPr id="40" name="Shape 38"/>
          <p:cNvSpPr/>
          <p:nvPr/>
        </p:nvSpPr>
        <p:spPr>
          <a:xfrm>
            <a:off x="411480" y="4035700"/>
            <a:ext cx="11365992" cy="0"/>
          </a:xfrm>
          <a:prstGeom prst="line">
            <a:avLst/>
          </a:prstGeom>
          <a:noFill/>
          <a:ln w="6350">
            <a:solidFill>
              <a:srgbClr val="E4ECF1"/>
            </a:solidFill>
            <a:prstDash val="solid"/>
          </a:ln>
        </p:spPr>
        <p:txBody>
          <a:bodyPr/>
          <a:lstStyle/>
          <a:p>
            <a:endParaRPr lang="en-US"/>
          </a:p>
        </p:txBody>
      </p:sp>
      <p:sp>
        <p:nvSpPr>
          <p:cNvPr id="41" name="Shape 39"/>
          <p:cNvSpPr/>
          <p:nvPr/>
        </p:nvSpPr>
        <p:spPr>
          <a:xfrm>
            <a:off x="411480" y="4419748"/>
            <a:ext cx="11365992" cy="0"/>
          </a:xfrm>
          <a:prstGeom prst="line">
            <a:avLst/>
          </a:prstGeom>
          <a:noFill/>
          <a:ln w="6350">
            <a:solidFill>
              <a:srgbClr val="E4ECF1"/>
            </a:solidFill>
            <a:prstDash val="solid"/>
          </a:ln>
        </p:spPr>
        <p:txBody>
          <a:bodyPr/>
          <a:lstStyle/>
          <a:p>
            <a:endParaRPr lang="en-US"/>
          </a:p>
        </p:txBody>
      </p:sp>
      <p:sp>
        <p:nvSpPr>
          <p:cNvPr id="42" name="Shape 40"/>
          <p:cNvSpPr/>
          <p:nvPr/>
        </p:nvSpPr>
        <p:spPr>
          <a:xfrm>
            <a:off x="411480" y="4803796"/>
            <a:ext cx="11365992" cy="0"/>
          </a:xfrm>
          <a:prstGeom prst="line">
            <a:avLst/>
          </a:prstGeom>
          <a:noFill/>
          <a:ln w="6350">
            <a:solidFill>
              <a:srgbClr val="E4ECF1"/>
            </a:solidFill>
            <a:prstDash val="solid"/>
          </a:ln>
        </p:spPr>
        <p:txBody>
          <a:bodyPr/>
          <a:lstStyle/>
          <a:p>
            <a:endParaRPr lang="en-US"/>
          </a:p>
        </p:txBody>
      </p:sp>
      <p:sp>
        <p:nvSpPr>
          <p:cNvPr id="43" name="Shape 41"/>
          <p:cNvSpPr/>
          <p:nvPr/>
        </p:nvSpPr>
        <p:spPr>
          <a:xfrm>
            <a:off x="411480" y="5187844"/>
            <a:ext cx="11365992" cy="0"/>
          </a:xfrm>
          <a:prstGeom prst="line">
            <a:avLst/>
          </a:prstGeom>
          <a:noFill/>
          <a:ln w="6350">
            <a:solidFill>
              <a:srgbClr val="E4ECF1"/>
            </a:solidFill>
            <a:prstDash val="solid"/>
          </a:ln>
        </p:spPr>
        <p:txBody>
          <a:bodyPr/>
          <a:lstStyle/>
          <a:p>
            <a:endParaRPr lang="en-US"/>
          </a:p>
        </p:txBody>
      </p:sp>
      <p:sp>
        <p:nvSpPr>
          <p:cNvPr id="44" name="Shape 42"/>
          <p:cNvSpPr/>
          <p:nvPr/>
        </p:nvSpPr>
        <p:spPr>
          <a:xfrm>
            <a:off x="411480" y="5571892"/>
            <a:ext cx="11365992" cy="0"/>
          </a:xfrm>
          <a:prstGeom prst="line">
            <a:avLst/>
          </a:prstGeom>
          <a:noFill/>
          <a:ln w="6350">
            <a:solidFill>
              <a:srgbClr val="E4ECF1"/>
            </a:solidFill>
            <a:prstDash val="solid"/>
          </a:ln>
        </p:spPr>
        <p:txBody>
          <a:bodyPr/>
          <a:lstStyle/>
          <a:p>
            <a:endParaRPr lang="en-US"/>
          </a:p>
        </p:txBody>
      </p:sp>
      <p:sp>
        <p:nvSpPr>
          <p:cNvPr id="46" name="Shape 44"/>
          <p:cNvSpPr/>
          <p:nvPr/>
        </p:nvSpPr>
        <p:spPr>
          <a:xfrm>
            <a:off x="411480" y="1777132"/>
            <a:ext cx="1920240" cy="804672"/>
          </a:xfrm>
          <a:prstGeom prst="roundRect">
            <a:avLst>
              <a:gd name="adj" fmla="val 6818"/>
            </a:avLst>
          </a:prstGeom>
          <a:solidFill>
            <a:srgbClr val="21295C"/>
          </a:solidFill>
          <a:ln/>
          <a:effectLst>
            <a:outerShdw blurRad="101600" dist="38100" dir="2700000" algn="bl" rotWithShape="0">
              <a:srgbClr val="000000">
                <a:alpha val="12000"/>
              </a:srgbClr>
            </a:outerShdw>
          </a:effectLst>
        </p:spPr>
        <p:txBody>
          <a:bodyPr/>
          <a:lstStyle/>
          <a:p>
            <a:endParaRPr lang="en-US"/>
          </a:p>
        </p:txBody>
      </p:sp>
      <p:sp>
        <p:nvSpPr>
          <p:cNvPr id="47" name="Text 45"/>
          <p:cNvSpPr/>
          <p:nvPr/>
        </p:nvSpPr>
        <p:spPr>
          <a:xfrm>
            <a:off x="576072" y="1841140"/>
            <a:ext cx="1591056"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«client · nginx :3001»</a:t>
            </a:r>
            <a:endParaRPr lang="en-US" sz="750" dirty="0"/>
          </a:p>
        </p:txBody>
      </p:sp>
      <p:sp>
        <p:nvSpPr>
          <p:cNvPr id="48" name="Text 46"/>
          <p:cNvSpPr/>
          <p:nvPr/>
        </p:nvSpPr>
        <p:spPr>
          <a:xfrm>
            <a:off x="576072" y="2005732"/>
            <a:ext cx="159105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React + Vite Frontend</a:t>
            </a:r>
            <a:endParaRPr lang="en-US" sz="1100" dirty="0"/>
          </a:p>
        </p:txBody>
      </p:sp>
      <p:sp>
        <p:nvSpPr>
          <p:cNvPr id="49" name="Text 47"/>
          <p:cNvSpPr/>
          <p:nvPr/>
        </p:nvSpPr>
        <p:spPr>
          <a:xfrm>
            <a:off x="576072" y="2261764"/>
            <a:ext cx="1591056"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proxies /api/item · /api/claim · /api/notif</a:t>
            </a:r>
            <a:endParaRPr lang="en-US" sz="850" dirty="0"/>
          </a:p>
        </p:txBody>
      </p:sp>
      <p:sp>
        <p:nvSpPr>
          <p:cNvPr id="51" name="Shape 49"/>
          <p:cNvSpPr/>
          <p:nvPr/>
        </p:nvSpPr>
        <p:spPr>
          <a:xfrm flipV="1">
            <a:off x="2331719" y="2170324"/>
            <a:ext cx="3547753" cy="9144"/>
          </a:xfrm>
          <a:prstGeom prst="line">
            <a:avLst/>
          </a:prstGeom>
          <a:noFill/>
          <a:ln w="15875">
            <a:solidFill>
              <a:srgbClr val="5C6B7A"/>
            </a:solidFill>
            <a:prstDash val="solid"/>
          </a:ln>
        </p:spPr>
        <p:txBody>
          <a:bodyPr/>
          <a:lstStyle/>
          <a:p>
            <a:endParaRPr lang="en-US"/>
          </a:p>
        </p:txBody>
      </p:sp>
      <p:sp>
        <p:nvSpPr>
          <p:cNvPr id="52" name="Shape 50"/>
          <p:cNvSpPr/>
          <p:nvPr/>
        </p:nvSpPr>
        <p:spPr>
          <a:xfrm>
            <a:off x="3538728" y="2764684"/>
            <a:ext cx="4754880" cy="0"/>
          </a:xfrm>
          <a:prstGeom prst="line">
            <a:avLst/>
          </a:prstGeom>
          <a:noFill/>
          <a:ln w="15875">
            <a:solidFill>
              <a:srgbClr val="5C6B7A"/>
            </a:solidFill>
            <a:prstDash val="solid"/>
          </a:ln>
        </p:spPr>
        <p:txBody>
          <a:bodyPr/>
          <a:lstStyle/>
          <a:p>
            <a:endParaRPr lang="en-US"/>
          </a:p>
        </p:txBody>
      </p:sp>
      <p:sp>
        <p:nvSpPr>
          <p:cNvPr id="53" name="Shape 51"/>
          <p:cNvSpPr/>
          <p:nvPr/>
        </p:nvSpPr>
        <p:spPr>
          <a:xfrm>
            <a:off x="3538728" y="2764684"/>
            <a:ext cx="0" cy="228600"/>
          </a:xfrm>
          <a:prstGeom prst="line">
            <a:avLst/>
          </a:prstGeom>
          <a:noFill/>
          <a:ln w="15875">
            <a:solidFill>
              <a:srgbClr val="5C6B7A"/>
            </a:solidFill>
            <a:prstDash val="solid"/>
            <a:tailEnd type="triangle"/>
          </a:ln>
        </p:spPr>
        <p:txBody>
          <a:bodyPr/>
          <a:lstStyle/>
          <a:p>
            <a:endParaRPr lang="en-US"/>
          </a:p>
        </p:txBody>
      </p:sp>
      <p:sp>
        <p:nvSpPr>
          <p:cNvPr id="54" name="Shape 52"/>
          <p:cNvSpPr/>
          <p:nvPr/>
        </p:nvSpPr>
        <p:spPr>
          <a:xfrm>
            <a:off x="5916168" y="2764684"/>
            <a:ext cx="0" cy="228600"/>
          </a:xfrm>
          <a:prstGeom prst="line">
            <a:avLst/>
          </a:prstGeom>
          <a:noFill/>
          <a:ln w="15875">
            <a:solidFill>
              <a:srgbClr val="5C6B7A"/>
            </a:solidFill>
            <a:prstDash val="solid"/>
            <a:tailEnd type="triangle"/>
          </a:ln>
        </p:spPr>
        <p:txBody>
          <a:bodyPr/>
          <a:lstStyle/>
          <a:p>
            <a:endParaRPr lang="en-US"/>
          </a:p>
        </p:txBody>
      </p:sp>
      <p:sp>
        <p:nvSpPr>
          <p:cNvPr id="55" name="Shape 53"/>
          <p:cNvSpPr/>
          <p:nvPr/>
        </p:nvSpPr>
        <p:spPr>
          <a:xfrm>
            <a:off x="8293608" y="2764684"/>
            <a:ext cx="0" cy="228600"/>
          </a:xfrm>
          <a:prstGeom prst="line">
            <a:avLst/>
          </a:prstGeom>
          <a:noFill/>
          <a:ln w="15875">
            <a:solidFill>
              <a:srgbClr val="5C6B7A"/>
            </a:solidFill>
            <a:prstDash val="solid"/>
            <a:tailEnd type="triangle"/>
          </a:ln>
        </p:spPr>
        <p:txBody>
          <a:bodyPr/>
          <a:lstStyle/>
          <a:p>
            <a:endParaRPr lang="en-US"/>
          </a:p>
        </p:txBody>
      </p:sp>
      <p:sp>
        <p:nvSpPr>
          <p:cNvPr id="56" name="Text 54"/>
          <p:cNvSpPr/>
          <p:nvPr/>
        </p:nvSpPr>
        <p:spPr>
          <a:xfrm>
            <a:off x="5138928" y="2801260"/>
            <a:ext cx="1554480" cy="201168"/>
          </a:xfrm>
          <a:prstGeom prst="rect">
            <a:avLst/>
          </a:prstGeom>
          <a:noFill/>
          <a:ln/>
        </p:spPr>
        <p:txBody>
          <a:bodyPr wrap="square" lIns="0" tIns="0" rIns="0" bIns="0" rtlCol="0" anchor="ctr"/>
          <a:lstStyle/>
          <a:p>
            <a:pPr marL="0" indent="0" algn="ctr">
              <a:buNone/>
            </a:pPr>
            <a:r>
              <a:rPr lang="en-US" sz="800" i="1" dirty="0">
                <a:solidFill>
                  <a:srgbClr val="1C7293"/>
                </a:solidFill>
                <a:latin typeface="Courier New" pitchFamily="34" charset="0"/>
                <a:ea typeface="Courier New" pitchFamily="34" charset="-122"/>
                <a:cs typeface="Courier New" pitchFamily="34" charset="-120"/>
              </a:rPr>
              <a:t>REST</a:t>
            </a:r>
            <a:endParaRPr lang="en-US" sz="800" dirty="0"/>
          </a:p>
        </p:txBody>
      </p:sp>
      <p:sp>
        <p:nvSpPr>
          <p:cNvPr id="57" name="Shape 55"/>
          <p:cNvSpPr/>
          <p:nvPr/>
        </p:nvSpPr>
        <p:spPr>
          <a:xfrm>
            <a:off x="2478024" y="2993284"/>
            <a:ext cx="2121408" cy="960120"/>
          </a:xfrm>
          <a:prstGeom prst="roundRect">
            <a:avLst>
              <a:gd name="adj" fmla="val 5714"/>
            </a:avLst>
          </a:prstGeom>
          <a:solidFill>
            <a:srgbClr val="065A82"/>
          </a:solidFill>
          <a:ln/>
          <a:effectLst>
            <a:outerShdw blurRad="101600" dist="38100" dir="2700000" algn="bl" rotWithShape="0">
              <a:srgbClr val="000000">
                <a:alpha val="12000"/>
              </a:srgbClr>
            </a:outerShdw>
          </a:effectLst>
        </p:spPr>
        <p:txBody>
          <a:bodyPr/>
          <a:lstStyle/>
          <a:p>
            <a:endParaRPr lang="en-US"/>
          </a:p>
        </p:txBody>
      </p:sp>
      <p:pic>
        <p:nvPicPr>
          <p:cNvPr id="58" name="Image 0" descr="preencoded.png"/>
          <p:cNvPicPr>
            <a:picLocks noChangeAspect="1"/>
          </p:cNvPicPr>
          <p:nvPr/>
        </p:nvPicPr>
        <p:blipFill>
          <a:blip r:embed="rId3"/>
          <a:stretch>
            <a:fillRect/>
          </a:stretch>
        </p:blipFill>
        <p:spPr>
          <a:xfrm>
            <a:off x="2606040" y="3112156"/>
            <a:ext cx="292608" cy="292608"/>
          </a:xfrm>
          <a:prstGeom prst="rect">
            <a:avLst/>
          </a:prstGeom>
        </p:spPr>
      </p:pic>
      <p:sp>
        <p:nvSpPr>
          <p:cNvPr id="59" name="Text 56"/>
          <p:cNvSpPr/>
          <p:nvPr/>
        </p:nvSpPr>
        <p:spPr>
          <a:xfrm>
            <a:off x="2990088" y="3057292"/>
            <a:ext cx="1463040"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«microservice · FastAPI»</a:t>
            </a:r>
            <a:endParaRPr lang="en-US" sz="750" dirty="0"/>
          </a:p>
        </p:txBody>
      </p:sp>
      <p:sp>
        <p:nvSpPr>
          <p:cNvPr id="60" name="Text 57"/>
          <p:cNvSpPr/>
          <p:nvPr/>
        </p:nvSpPr>
        <p:spPr>
          <a:xfrm>
            <a:off x="2990088" y="3221884"/>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Item Service :8001</a:t>
            </a:r>
            <a:endParaRPr lang="en-US" sz="1100" dirty="0"/>
          </a:p>
        </p:txBody>
      </p:sp>
      <p:sp>
        <p:nvSpPr>
          <p:cNvPr id="61" name="Text 58"/>
          <p:cNvSpPr/>
          <p:nvPr/>
        </p:nvSpPr>
        <p:spPr>
          <a:xfrm>
            <a:off x="2990088" y="3477916"/>
            <a:ext cx="1463040"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auth · items · matching</a:t>
            </a:r>
            <a:endParaRPr lang="en-US" sz="850" dirty="0"/>
          </a:p>
        </p:txBody>
      </p:sp>
      <p:sp>
        <p:nvSpPr>
          <p:cNvPr id="62" name="Shape 59"/>
          <p:cNvSpPr/>
          <p:nvPr/>
        </p:nvSpPr>
        <p:spPr>
          <a:xfrm>
            <a:off x="4867657" y="2991819"/>
            <a:ext cx="2121408" cy="960120"/>
          </a:xfrm>
          <a:prstGeom prst="roundRect">
            <a:avLst>
              <a:gd name="adj" fmla="val 5714"/>
            </a:avLst>
          </a:prstGeom>
          <a:solidFill>
            <a:srgbClr val="1C7293"/>
          </a:solidFill>
          <a:ln/>
          <a:effectLst>
            <a:outerShdw blurRad="101600" dist="38100" dir="2700000" algn="bl" rotWithShape="0">
              <a:srgbClr val="000000">
                <a:alpha val="12000"/>
              </a:srgbClr>
            </a:outerShdw>
          </a:effectLst>
        </p:spPr>
        <p:txBody>
          <a:bodyPr/>
          <a:lstStyle/>
          <a:p>
            <a:endParaRPr lang="en-US"/>
          </a:p>
        </p:txBody>
      </p:sp>
      <p:pic>
        <p:nvPicPr>
          <p:cNvPr id="63" name="Image 1" descr="preencoded.png"/>
          <p:cNvPicPr>
            <a:picLocks noChangeAspect="1"/>
          </p:cNvPicPr>
          <p:nvPr/>
        </p:nvPicPr>
        <p:blipFill>
          <a:blip r:embed="rId4"/>
          <a:stretch>
            <a:fillRect/>
          </a:stretch>
        </p:blipFill>
        <p:spPr>
          <a:xfrm>
            <a:off x="4983480" y="3112156"/>
            <a:ext cx="292608" cy="292608"/>
          </a:xfrm>
          <a:prstGeom prst="rect">
            <a:avLst/>
          </a:prstGeom>
        </p:spPr>
      </p:pic>
      <p:sp>
        <p:nvSpPr>
          <p:cNvPr id="64" name="Text 60"/>
          <p:cNvSpPr/>
          <p:nvPr/>
        </p:nvSpPr>
        <p:spPr>
          <a:xfrm>
            <a:off x="5367528" y="3057292"/>
            <a:ext cx="1463040"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«microservice · FastAPI»</a:t>
            </a:r>
            <a:endParaRPr lang="en-US" sz="750" dirty="0"/>
          </a:p>
        </p:txBody>
      </p:sp>
      <p:sp>
        <p:nvSpPr>
          <p:cNvPr id="65" name="Text 61"/>
          <p:cNvSpPr/>
          <p:nvPr/>
        </p:nvSpPr>
        <p:spPr>
          <a:xfrm>
            <a:off x="5367528" y="3221884"/>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Claim/Recovery :8002</a:t>
            </a:r>
            <a:endParaRPr lang="en-US" sz="1100" dirty="0"/>
          </a:p>
        </p:txBody>
      </p:sp>
      <p:sp>
        <p:nvSpPr>
          <p:cNvPr id="66" name="Text 62"/>
          <p:cNvSpPr/>
          <p:nvPr/>
        </p:nvSpPr>
        <p:spPr>
          <a:xfrm>
            <a:off x="5367528" y="3477916"/>
            <a:ext cx="1463040"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claims · saga · step fns</a:t>
            </a:r>
            <a:endParaRPr lang="en-US" sz="850" dirty="0"/>
          </a:p>
        </p:txBody>
      </p:sp>
      <p:sp>
        <p:nvSpPr>
          <p:cNvPr id="67" name="Shape 63"/>
          <p:cNvSpPr/>
          <p:nvPr/>
        </p:nvSpPr>
        <p:spPr>
          <a:xfrm>
            <a:off x="7232904" y="2993284"/>
            <a:ext cx="2121408" cy="960120"/>
          </a:xfrm>
          <a:prstGeom prst="roundRect">
            <a:avLst>
              <a:gd name="adj" fmla="val 5714"/>
            </a:avLst>
          </a:prstGeom>
          <a:solidFill>
            <a:srgbClr val="21B6A8"/>
          </a:solidFill>
          <a:ln/>
          <a:effectLst>
            <a:outerShdw blurRad="101600" dist="38100" dir="2700000" algn="bl" rotWithShape="0">
              <a:srgbClr val="000000">
                <a:alpha val="12000"/>
              </a:srgbClr>
            </a:outerShdw>
          </a:effectLst>
        </p:spPr>
        <p:txBody>
          <a:bodyPr/>
          <a:lstStyle/>
          <a:p>
            <a:endParaRPr lang="en-US"/>
          </a:p>
        </p:txBody>
      </p:sp>
      <p:pic>
        <p:nvPicPr>
          <p:cNvPr id="68" name="Image 2" descr="preencoded.png"/>
          <p:cNvPicPr>
            <a:picLocks noChangeAspect="1"/>
          </p:cNvPicPr>
          <p:nvPr/>
        </p:nvPicPr>
        <p:blipFill>
          <a:blip r:embed="rId5"/>
          <a:stretch>
            <a:fillRect/>
          </a:stretch>
        </p:blipFill>
        <p:spPr>
          <a:xfrm>
            <a:off x="7360920" y="3112156"/>
            <a:ext cx="292608" cy="292608"/>
          </a:xfrm>
          <a:prstGeom prst="rect">
            <a:avLst/>
          </a:prstGeom>
        </p:spPr>
      </p:pic>
      <p:sp>
        <p:nvSpPr>
          <p:cNvPr id="69" name="Text 64"/>
          <p:cNvSpPr/>
          <p:nvPr/>
        </p:nvSpPr>
        <p:spPr>
          <a:xfrm>
            <a:off x="7744968" y="3057292"/>
            <a:ext cx="1463040"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«microservice · FastAPI»</a:t>
            </a:r>
            <a:endParaRPr lang="en-US" sz="750" dirty="0"/>
          </a:p>
        </p:txBody>
      </p:sp>
      <p:sp>
        <p:nvSpPr>
          <p:cNvPr id="70" name="Text 65"/>
          <p:cNvSpPr/>
          <p:nvPr/>
        </p:nvSpPr>
        <p:spPr>
          <a:xfrm>
            <a:off x="7744968" y="3221884"/>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Notification :8003</a:t>
            </a:r>
            <a:endParaRPr lang="en-US" sz="1100" dirty="0"/>
          </a:p>
        </p:txBody>
      </p:sp>
      <p:sp>
        <p:nvSpPr>
          <p:cNvPr id="71" name="Text 66"/>
          <p:cNvSpPr/>
          <p:nvPr/>
        </p:nvSpPr>
        <p:spPr>
          <a:xfrm>
            <a:off x="7744968" y="3477916"/>
            <a:ext cx="1463040"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Redis consumer · in-app</a:t>
            </a:r>
            <a:endParaRPr lang="en-US" sz="850" dirty="0"/>
          </a:p>
        </p:txBody>
      </p:sp>
      <p:sp>
        <p:nvSpPr>
          <p:cNvPr id="74" name="Shape 69"/>
          <p:cNvSpPr/>
          <p:nvPr/>
        </p:nvSpPr>
        <p:spPr>
          <a:xfrm>
            <a:off x="3538728" y="3953404"/>
            <a:ext cx="0" cy="201168"/>
          </a:xfrm>
          <a:prstGeom prst="line">
            <a:avLst/>
          </a:prstGeom>
          <a:noFill/>
          <a:ln w="15875">
            <a:solidFill>
              <a:srgbClr val="5C6B7A"/>
            </a:solidFill>
            <a:prstDash val="solid"/>
            <a:tailEnd type="triangle"/>
          </a:ln>
        </p:spPr>
        <p:txBody>
          <a:bodyPr/>
          <a:lstStyle/>
          <a:p>
            <a:endParaRPr lang="en-US"/>
          </a:p>
        </p:txBody>
      </p:sp>
      <p:sp>
        <p:nvSpPr>
          <p:cNvPr id="75" name="Shape 70"/>
          <p:cNvSpPr/>
          <p:nvPr/>
        </p:nvSpPr>
        <p:spPr>
          <a:xfrm>
            <a:off x="2624328" y="4154572"/>
            <a:ext cx="1828800" cy="685800"/>
          </a:xfrm>
          <a:prstGeom prst="roundRect">
            <a:avLst>
              <a:gd name="adj" fmla="val 8000"/>
            </a:avLst>
          </a:prstGeom>
          <a:solidFill>
            <a:srgbClr val="33495E"/>
          </a:solidFill>
          <a:ln/>
          <a:effectLst>
            <a:outerShdw blurRad="101600" dist="38100" dir="2700000" algn="bl" rotWithShape="0">
              <a:srgbClr val="000000">
                <a:alpha val="12000"/>
              </a:srgbClr>
            </a:outerShdw>
          </a:effectLst>
        </p:spPr>
        <p:txBody>
          <a:bodyPr/>
          <a:lstStyle/>
          <a:p>
            <a:endParaRPr lang="en-US"/>
          </a:p>
        </p:txBody>
      </p:sp>
      <p:sp>
        <p:nvSpPr>
          <p:cNvPr id="76" name="Text 71"/>
          <p:cNvSpPr/>
          <p:nvPr/>
        </p:nvSpPr>
        <p:spPr>
          <a:xfrm>
            <a:off x="2788920" y="4218580"/>
            <a:ext cx="1499616"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«database · SQLite»</a:t>
            </a:r>
            <a:endParaRPr lang="en-US" sz="750" dirty="0"/>
          </a:p>
        </p:txBody>
      </p:sp>
      <p:sp>
        <p:nvSpPr>
          <p:cNvPr id="77" name="Text 72"/>
          <p:cNvSpPr/>
          <p:nvPr/>
        </p:nvSpPr>
        <p:spPr>
          <a:xfrm>
            <a:off x="2788920" y="4383172"/>
            <a:ext cx="149961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SQLite</a:t>
            </a:r>
            <a:endParaRPr lang="en-US" sz="1050" dirty="0"/>
          </a:p>
        </p:txBody>
      </p:sp>
      <p:sp>
        <p:nvSpPr>
          <p:cNvPr id="78" name="Text 73"/>
          <p:cNvSpPr/>
          <p:nvPr/>
        </p:nvSpPr>
        <p:spPr>
          <a:xfrm>
            <a:off x="2788920" y="4639204"/>
            <a:ext cx="1499616"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item.db</a:t>
            </a:r>
            <a:endParaRPr lang="en-US" sz="850" dirty="0"/>
          </a:p>
        </p:txBody>
      </p:sp>
      <p:sp>
        <p:nvSpPr>
          <p:cNvPr id="79" name="Shape 74"/>
          <p:cNvSpPr/>
          <p:nvPr/>
        </p:nvSpPr>
        <p:spPr>
          <a:xfrm>
            <a:off x="5916168" y="3953404"/>
            <a:ext cx="0" cy="201168"/>
          </a:xfrm>
          <a:prstGeom prst="line">
            <a:avLst/>
          </a:prstGeom>
          <a:noFill/>
          <a:ln w="15875">
            <a:solidFill>
              <a:srgbClr val="5C6B7A"/>
            </a:solidFill>
            <a:prstDash val="solid"/>
            <a:tailEnd type="triangle"/>
          </a:ln>
        </p:spPr>
        <p:txBody>
          <a:bodyPr/>
          <a:lstStyle/>
          <a:p>
            <a:endParaRPr lang="en-US"/>
          </a:p>
        </p:txBody>
      </p:sp>
      <p:sp>
        <p:nvSpPr>
          <p:cNvPr id="80" name="Shape 75"/>
          <p:cNvSpPr/>
          <p:nvPr/>
        </p:nvSpPr>
        <p:spPr>
          <a:xfrm>
            <a:off x="5001768" y="4154572"/>
            <a:ext cx="1828800" cy="685800"/>
          </a:xfrm>
          <a:prstGeom prst="roundRect">
            <a:avLst>
              <a:gd name="adj" fmla="val 8000"/>
            </a:avLst>
          </a:prstGeom>
          <a:solidFill>
            <a:srgbClr val="33495E"/>
          </a:solidFill>
          <a:ln/>
          <a:effectLst>
            <a:outerShdw blurRad="101600" dist="38100" dir="2700000" algn="bl" rotWithShape="0">
              <a:srgbClr val="000000">
                <a:alpha val="12000"/>
              </a:srgbClr>
            </a:outerShdw>
          </a:effectLst>
        </p:spPr>
        <p:txBody>
          <a:bodyPr/>
          <a:lstStyle/>
          <a:p>
            <a:endParaRPr lang="en-US"/>
          </a:p>
        </p:txBody>
      </p:sp>
      <p:sp>
        <p:nvSpPr>
          <p:cNvPr id="81" name="Text 76"/>
          <p:cNvSpPr/>
          <p:nvPr/>
        </p:nvSpPr>
        <p:spPr>
          <a:xfrm>
            <a:off x="5166360" y="4218580"/>
            <a:ext cx="1499616"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«database · SQLite»</a:t>
            </a:r>
            <a:endParaRPr lang="en-US" sz="750" dirty="0"/>
          </a:p>
        </p:txBody>
      </p:sp>
      <p:sp>
        <p:nvSpPr>
          <p:cNvPr id="82" name="Text 77"/>
          <p:cNvSpPr/>
          <p:nvPr/>
        </p:nvSpPr>
        <p:spPr>
          <a:xfrm>
            <a:off x="5166360" y="4383172"/>
            <a:ext cx="149961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SQLite</a:t>
            </a:r>
            <a:endParaRPr lang="en-US" sz="1050" dirty="0"/>
          </a:p>
        </p:txBody>
      </p:sp>
      <p:sp>
        <p:nvSpPr>
          <p:cNvPr id="83" name="Text 78"/>
          <p:cNvSpPr/>
          <p:nvPr/>
        </p:nvSpPr>
        <p:spPr>
          <a:xfrm>
            <a:off x="5166360" y="4639204"/>
            <a:ext cx="1499616"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claim.db</a:t>
            </a:r>
            <a:endParaRPr lang="en-US" sz="850" dirty="0"/>
          </a:p>
        </p:txBody>
      </p:sp>
      <p:sp>
        <p:nvSpPr>
          <p:cNvPr id="84" name="Shape 79"/>
          <p:cNvSpPr/>
          <p:nvPr/>
        </p:nvSpPr>
        <p:spPr>
          <a:xfrm>
            <a:off x="8293608" y="3953404"/>
            <a:ext cx="0" cy="201168"/>
          </a:xfrm>
          <a:prstGeom prst="line">
            <a:avLst/>
          </a:prstGeom>
          <a:noFill/>
          <a:ln w="15875">
            <a:solidFill>
              <a:srgbClr val="5C6B7A"/>
            </a:solidFill>
            <a:prstDash val="solid"/>
            <a:tailEnd type="triangle"/>
          </a:ln>
        </p:spPr>
        <p:txBody>
          <a:bodyPr/>
          <a:lstStyle/>
          <a:p>
            <a:endParaRPr lang="en-US"/>
          </a:p>
        </p:txBody>
      </p:sp>
      <p:sp>
        <p:nvSpPr>
          <p:cNvPr id="85" name="Shape 80"/>
          <p:cNvSpPr/>
          <p:nvPr/>
        </p:nvSpPr>
        <p:spPr>
          <a:xfrm>
            <a:off x="7379208" y="4154572"/>
            <a:ext cx="1828800" cy="685800"/>
          </a:xfrm>
          <a:prstGeom prst="roundRect">
            <a:avLst>
              <a:gd name="adj" fmla="val 8000"/>
            </a:avLst>
          </a:prstGeom>
          <a:solidFill>
            <a:srgbClr val="33495E"/>
          </a:solidFill>
          <a:ln/>
          <a:effectLst>
            <a:outerShdw blurRad="101600" dist="38100" dir="2700000" algn="bl" rotWithShape="0">
              <a:srgbClr val="000000">
                <a:alpha val="12000"/>
              </a:srgbClr>
            </a:outerShdw>
          </a:effectLst>
        </p:spPr>
        <p:txBody>
          <a:bodyPr/>
          <a:lstStyle/>
          <a:p>
            <a:endParaRPr lang="en-US"/>
          </a:p>
        </p:txBody>
      </p:sp>
      <p:sp>
        <p:nvSpPr>
          <p:cNvPr id="86" name="Text 81"/>
          <p:cNvSpPr/>
          <p:nvPr/>
        </p:nvSpPr>
        <p:spPr>
          <a:xfrm>
            <a:off x="7543800" y="4218580"/>
            <a:ext cx="1499616"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«database · SQLite»</a:t>
            </a:r>
            <a:endParaRPr lang="en-US" sz="750" dirty="0"/>
          </a:p>
        </p:txBody>
      </p:sp>
      <p:sp>
        <p:nvSpPr>
          <p:cNvPr id="87" name="Text 82"/>
          <p:cNvSpPr/>
          <p:nvPr/>
        </p:nvSpPr>
        <p:spPr>
          <a:xfrm>
            <a:off x="7543800" y="4383172"/>
            <a:ext cx="149961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SQLite</a:t>
            </a:r>
            <a:endParaRPr lang="en-US" sz="1050" dirty="0"/>
          </a:p>
        </p:txBody>
      </p:sp>
      <p:sp>
        <p:nvSpPr>
          <p:cNvPr id="88" name="Text 83"/>
          <p:cNvSpPr/>
          <p:nvPr/>
        </p:nvSpPr>
        <p:spPr>
          <a:xfrm>
            <a:off x="7543800" y="4639204"/>
            <a:ext cx="1499616"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notification.db</a:t>
            </a:r>
            <a:endParaRPr lang="en-US" sz="850" dirty="0"/>
          </a:p>
        </p:txBody>
      </p:sp>
      <p:sp>
        <p:nvSpPr>
          <p:cNvPr id="89" name="Shape 84"/>
          <p:cNvSpPr/>
          <p:nvPr/>
        </p:nvSpPr>
        <p:spPr>
          <a:xfrm>
            <a:off x="3538728" y="4840372"/>
            <a:ext cx="0" cy="201168"/>
          </a:xfrm>
          <a:prstGeom prst="line">
            <a:avLst/>
          </a:prstGeom>
          <a:noFill/>
          <a:ln w="12700">
            <a:solidFill>
              <a:srgbClr val="1C7293"/>
            </a:solidFill>
            <a:prstDash val="dash"/>
          </a:ln>
        </p:spPr>
        <p:txBody>
          <a:bodyPr/>
          <a:lstStyle/>
          <a:p>
            <a:endParaRPr lang="en-US"/>
          </a:p>
        </p:txBody>
      </p:sp>
      <p:sp>
        <p:nvSpPr>
          <p:cNvPr id="90" name="Shape 85"/>
          <p:cNvSpPr/>
          <p:nvPr/>
        </p:nvSpPr>
        <p:spPr>
          <a:xfrm>
            <a:off x="5916168" y="4840372"/>
            <a:ext cx="0" cy="201168"/>
          </a:xfrm>
          <a:prstGeom prst="line">
            <a:avLst/>
          </a:prstGeom>
          <a:noFill/>
          <a:ln w="12700">
            <a:solidFill>
              <a:srgbClr val="1C7293"/>
            </a:solidFill>
            <a:prstDash val="dash"/>
          </a:ln>
        </p:spPr>
        <p:txBody>
          <a:bodyPr/>
          <a:lstStyle/>
          <a:p>
            <a:endParaRPr lang="en-US"/>
          </a:p>
        </p:txBody>
      </p:sp>
      <p:sp>
        <p:nvSpPr>
          <p:cNvPr id="91" name="Shape 86"/>
          <p:cNvSpPr/>
          <p:nvPr/>
        </p:nvSpPr>
        <p:spPr>
          <a:xfrm>
            <a:off x="8293608" y="4840372"/>
            <a:ext cx="0" cy="201168"/>
          </a:xfrm>
          <a:prstGeom prst="line">
            <a:avLst/>
          </a:prstGeom>
          <a:noFill/>
          <a:ln w="12700">
            <a:solidFill>
              <a:srgbClr val="21B6A8"/>
            </a:solidFill>
            <a:prstDash val="dash"/>
          </a:ln>
        </p:spPr>
        <p:txBody>
          <a:bodyPr/>
          <a:lstStyle/>
          <a:p>
            <a:endParaRPr lang="en-US"/>
          </a:p>
        </p:txBody>
      </p:sp>
      <p:sp>
        <p:nvSpPr>
          <p:cNvPr id="92" name="Shape 87"/>
          <p:cNvSpPr/>
          <p:nvPr/>
        </p:nvSpPr>
        <p:spPr>
          <a:xfrm>
            <a:off x="2944734" y="5041540"/>
            <a:ext cx="5942868" cy="502920"/>
          </a:xfrm>
          <a:prstGeom prst="roundRect">
            <a:avLst>
              <a:gd name="adj" fmla="val 10909"/>
            </a:avLst>
          </a:prstGeom>
          <a:solidFill>
            <a:srgbClr val="21295C"/>
          </a:solidFill>
          <a:ln/>
          <a:effectLst>
            <a:outerShdw blurRad="101600" dist="38100" dir="2700000" algn="bl" rotWithShape="0">
              <a:srgbClr val="000000">
                <a:alpha val="12000"/>
              </a:srgbClr>
            </a:outerShdw>
          </a:effectLst>
        </p:spPr>
        <p:txBody>
          <a:bodyPr/>
          <a:lstStyle/>
          <a:p>
            <a:endParaRPr lang="en-US"/>
          </a:p>
        </p:txBody>
      </p:sp>
      <p:sp>
        <p:nvSpPr>
          <p:cNvPr id="93" name="Text 88"/>
          <p:cNvSpPr/>
          <p:nvPr/>
        </p:nvSpPr>
        <p:spPr>
          <a:xfrm>
            <a:off x="3109326" y="5105548"/>
            <a:ext cx="5613684"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«message bus · pub/sub»</a:t>
            </a:r>
            <a:endParaRPr lang="en-US" sz="750" dirty="0"/>
          </a:p>
        </p:txBody>
      </p:sp>
      <p:sp>
        <p:nvSpPr>
          <p:cNvPr id="94" name="Text 89"/>
          <p:cNvSpPr/>
          <p:nvPr/>
        </p:nvSpPr>
        <p:spPr>
          <a:xfrm>
            <a:off x="3109326" y="5270140"/>
            <a:ext cx="5613684" cy="274320"/>
          </a:xfrm>
          <a:prstGeom prst="rect">
            <a:avLst/>
          </a:prstGeom>
          <a:noFill/>
          <a:ln/>
        </p:spPr>
        <p:txBody>
          <a:bodyPr wrap="square" lIns="0" tIns="0" rIns="0" bIns="0" rtlCol="0" anchor="ctr"/>
          <a:lstStyle/>
          <a:p>
            <a:pPr marL="0" indent="0">
              <a:buNone/>
            </a:pPr>
            <a:r>
              <a:rPr lang="en-US" sz="920" b="1" dirty="0">
                <a:solidFill>
                  <a:srgbClr val="FFFFFF"/>
                </a:solidFill>
                <a:latin typeface="Calibri" pitchFamily="34" charset="0"/>
                <a:ea typeface="Calibri" pitchFamily="34" charset="-122"/>
                <a:cs typeface="Calibri" pitchFamily="34" charset="-120"/>
              </a:rPr>
              <a:t>Redis  —  lostify:events  |  ItemCreated · MatchFound · ClaimCreated · ClaimApproved · ClaimRejected · ItemRecovered</a:t>
            </a:r>
            <a:endParaRPr lang="en-US" sz="920" dirty="0"/>
          </a:p>
        </p:txBody>
      </p:sp>
      <p:sp>
        <p:nvSpPr>
          <p:cNvPr id="95" name="Text 90"/>
          <p:cNvSpPr/>
          <p:nvPr/>
        </p:nvSpPr>
        <p:spPr>
          <a:xfrm>
            <a:off x="3036174" y="4840372"/>
            <a:ext cx="1554480" cy="201168"/>
          </a:xfrm>
          <a:prstGeom prst="rect">
            <a:avLst/>
          </a:prstGeom>
          <a:noFill/>
          <a:ln/>
        </p:spPr>
        <p:txBody>
          <a:bodyPr wrap="square" lIns="0" tIns="0" rIns="0" bIns="0" rtlCol="0" anchor="ctr"/>
          <a:lstStyle/>
          <a:p>
            <a:pPr marL="0" indent="0" algn="ctr">
              <a:buNone/>
            </a:pPr>
            <a:r>
              <a:rPr lang="en-US" sz="800" i="1" dirty="0">
                <a:solidFill>
                  <a:srgbClr val="5C6B7A"/>
                </a:solidFill>
                <a:latin typeface="Courier New" pitchFamily="34" charset="0"/>
                <a:ea typeface="Courier New" pitchFamily="34" charset="-122"/>
                <a:cs typeface="Courier New" pitchFamily="34" charset="-120"/>
              </a:rPr>
              <a:t>async/JSON</a:t>
            </a:r>
            <a:endParaRPr lang="en-US" sz="800" dirty="0"/>
          </a:p>
        </p:txBody>
      </p:sp>
      <p:sp>
        <p:nvSpPr>
          <p:cNvPr id="96" name="Shape 91"/>
          <p:cNvSpPr/>
          <p:nvPr/>
        </p:nvSpPr>
        <p:spPr>
          <a:xfrm>
            <a:off x="9720072" y="1777132"/>
            <a:ext cx="2011680" cy="713232"/>
          </a:xfrm>
          <a:prstGeom prst="roundRect">
            <a:avLst>
              <a:gd name="adj" fmla="val 7692"/>
            </a:avLst>
          </a:prstGeom>
          <a:solidFill>
            <a:srgbClr val="065A82"/>
          </a:solidFill>
          <a:ln/>
          <a:effectLst>
            <a:outerShdw blurRad="101600" dist="38100" dir="2700000" algn="bl" rotWithShape="0">
              <a:srgbClr val="000000">
                <a:alpha val="12000"/>
              </a:srgbClr>
            </a:outerShdw>
          </a:effectLst>
        </p:spPr>
        <p:txBody>
          <a:bodyPr/>
          <a:lstStyle/>
          <a:p>
            <a:endParaRPr lang="en-US"/>
          </a:p>
        </p:txBody>
      </p:sp>
      <p:pic>
        <p:nvPicPr>
          <p:cNvPr id="97" name="Image 3" descr="preencoded.png"/>
          <p:cNvPicPr>
            <a:picLocks noChangeAspect="1"/>
          </p:cNvPicPr>
          <p:nvPr/>
        </p:nvPicPr>
        <p:blipFill>
          <a:blip r:embed="rId6"/>
          <a:stretch>
            <a:fillRect/>
          </a:stretch>
        </p:blipFill>
        <p:spPr>
          <a:xfrm>
            <a:off x="9848088" y="1896004"/>
            <a:ext cx="292608" cy="292608"/>
          </a:xfrm>
          <a:prstGeom prst="rect">
            <a:avLst/>
          </a:prstGeom>
        </p:spPr>
      </p:pic>
      <p:sp>
        <p:nvSpPr>
          <p:cNvPr id="98" name="Text 92"/>
          <p:cNvSpPr/>
          <p:nvPr/>
        </p:nvSpPr>
        <p:spPr>
          <a:xfrm>
            <a:off x="10232136" y="1841140"/>
            <a:ext cx="1353312"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«infrastructure»</a:t>
            </a:r>
            <a:endParaRPr lang="en-US" sz="750" dirty="0"/>
          </a:p>
        </p:txBody>
      </p:sp>
      <p:sp>
        <p:nvSpPr>
          <p:cNvPr id="99" name="Text 93"/>
          <p:cNvSpPr/>
          <p:nvPr/>
        </p:nvSpPr>
        <p:spPr>
          <a:xfrm>
            <a:off x="10232136" y="2005732"/>
            <a:ext cx="135331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Docker Compose</a:t>
            </a:r>
            <a:endParaRPr lang="en-US" sz="1100" dirty="0"/>
          </a:p>
        </p:txBody>
      </p:sp>
      <p:sp>
        <p:nvSpPr>
          <p:cNvPr id="100" name="Text 94"/>
          <p:cNvSpPr/>
          <p:nvPr/>
        </p:nvSpPr>
        <p:spPr>
          <a:xfrm>
            <a:off x="10232136" y="2261764"/>
            <a:ext cx="1353312"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local + prod yml</a:t>
            </a:r>
            <a:endParaRPr lang="en-US" sz="850" dirty="0"/>
          </a:p>
        </p:txBody>
      </p:sp>
      <p:sp>
        <p:nvSpPr>
          <p:cNvPr id="101" name="Shape 95"/>
          <p:cNvSpPr/>
          <p:nvPr/>
        </p:nvSpPr>
        <p:spPr>
          <a:xfrm>
            <a:off x="9720072" y="2627524"/>
            <a:ext cx="2011680" cy="713232"/>
          </a:xfrm>
          <a:prstGeom prst="roundRect">
            <a:avLst>
              <a:gd name="adj" fmla="val 7692"/>
            </a:avLst>
          </a:prstGeom>
          <a:solidFill>
            <a:srgbClr val="1C7293"/>
          </a:solidFill>
          <a:ln/>
          <a:effectLst>
            <a:outerShdw blurRad="101600" dist="38100" dir="2700000" algn="bl" rotWithShape="0">
              <a:srgbClr val="000000">
                <a:alpha val="12000"/>
              </a:srgbClr>
            </a:outerShdw>
          </a:effectLst>
        </p:spPr>
        <p:txBody>
          <a:bodyPr/>
          <a:lstStyle/>
          <a:p>
            <a:endParaRPr lang="en-US"/>
          </a:p>
        </p:txBody>
      </p:sp>
      <p:pic>
        <p:nvPicPr>
          <p:cNvPr id="102" name="Image 4" descr="preencoded.png"/>
          <p:cNvPicPr>
            <a:picLocks noChangeAspect="1"/>
          </p:cNvPicPr>
          <p:nvPr/>
        </p:nvPicPr>
        <p:blipFill>
          <a:blip r:embed="rId7"/>
          <a:stretch>
            <a:fillRect/>
          </a:stretch>
        </p:blipFill>
        <p:spPr>
          <a:xfrm>
            <a:off x="9848088" y="2746396"/>
            <a:ext cx="292608" cy="292608"/>
          </a:xfrm>
          <a:prstGeom prst="rect">
            <a:avLst/>
          </a:prstGeom>
        </p:spPr>
      </p:pic>
      <p:sp>
        <p:nvSpPr>
          <p:cNvPr id="103" name="Text 96"/>
          <p:cNvSpPr/>
          <p:nvPr/>
        </p:nvSpPr>
        <p:spPr>
          <a:xfrm>
            <a:off x="10232136" y="2691532"/>
            <a:ext cx="1353312"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«infrastructure»</a:t>
            </a:r>
            <a:endParaRPr lang="en-US" sz="750" dirty="0"/>
          </a:p>
        </p:txBody>
      </p:sp>
      <p:sp>
        <p:nvSpPr>
          <p:cNvPr id="104" name="Text 97"/>
          <p:cNvSpPr/>
          <p:nvPr/>
        </p:nvSpPr>
        <p:spPr>
          <a:xfrm>
            <a:off x="10232136" y="2856124"/>
            <a:ext cx="135331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AWS EC2</a:t>
            </a:r>
            <a:endParaRPr lang="en-US" sz="1100" dirty="0"/>
          </a:p>
        </p:txBody>
      </p:sp>
      <p:sp>
        <p:nvSpPr>
          <p:cNvPr id="105" name="Text 98"/>
          <p:cNvSpPr/>
          <p:nvPr/>
        </p:nvSpPr>
        <p:spPr>
          <a:xfrm>
            <a:off x="10232136" y="3112156"/>
            <a:ext cx="1353312"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t3.small · Ubuntu 24.04</a:t>
            </a:r>
            <a:endParaRPr lang="en-US" sz="850" dirty="0"/>
          </a:p>
        </p:txBody>
      </p:sp>
      <p:sp>
        <p:nvSpPr>
          <p:cNvPr id="106" name="Shape 99"/>
          <p:cNvSpPr/>
          <p:nvPr/>
        </p:nvSpPr>
        <p:spPr>
          <a:xfrm>
            <a:off x="9720072" y="3477916"/>
            <a:ext cx="2011680" cy="713232"/>
          </a:xfrm>
          <a:prstGeom prst="roundRect">
            <a:avLst>
              <a:gd name="adj" fmla="val 7692"/>
            </a:avLst>
          </a:prstGeom>
          <a:solidFill>
            <a:srgbClr val="21B6A8"/>
          </a:solidFill>
          <a:ln/>
          <a:effectLst>
            <a:outerShdw blurRad="101600" dist="38100" dir="2700000" algn="bl" rotWithShape="0">
              <a:srgbClr val="000000">
                <a:alpha val="12000"/>
              </a:srgbClr>
            </a:outerShdw>
          </a:effectLst>
        </p:spPr>
        <p:txBody>
          <a:bodyPr/>
          <a:lstStyle/>
          <a:p>
            <a:endParaRPr lang="en-US"/>
          </a:p>
        </p:txBody>
      </p:sp>
      <p:pic>
        <p:nvPicPr>
          <p:cNvPr id="107" name="Image 5" descr="preencoded.png"/>
          <p:cNvPicPr>
            <a:picLocks noChangeAspect="1"/>
          </p:cNvPicPr>
          <p:nvPr/>
        </p:nvPicPr>
        <p:blipFill>
          <a:blip r:embed="rId8"/>
          <a:stretch>
            <a:fillRect/>
          </a:stretch>
        </p:blipFill>
        <p:spPr>
          <a:xfrm>
            <a:off x="9848088" y="3596788"/>
            <a:ext cx="292608" cy="292608"/>
          </a:xfrm>
          <a:prstGeom prst="rect">
            <a:avLst/>
          </a:prstGeom>
        </p:spPr>
      </p:pic>
      <p:sp>
        <p:nvSpPr>
          <p:cNvPr id="108" name="Text 100"/>
          <p:cNvSpPr/>
          <p:nvPr/>
        </p:nvSpPr>
        <p:spPr>
          <a:xfrm>
            <a:off x="10232136" y="3541924"/>
            <a:ext cx="1353312" cy="164592"/>
          </a:xfrm>
          <a:prstGeom prst="rect">
            <a:avLst/>
          </a:prstGeom>
          <a:noFill/>
          <a:ln/>
        </p:spPr>
        <p:txBody>
          <a:bodyPr wrap="square" lIns="0" tIns="0" rIns="0" bIns="0" rtlCol="0" anchor="ctr"/>
          <a:lstStyle/>
          <a:p>
            <a:pPr marL="0" indent="0">
              <a:buNone/>
            </a:pPr>
            <a:r>
              <a:rPr lang="en-US" sz="750" i="1" dirty="0">
                <a:solidFill>
                  <a:srgbClr val="D8E6EE"/>
                </a:solidFill>
                <a:latin typeface="Courier New" pitchFamily="34" charset="0"/>
                <a:ea typeface="Courier New" pitchFamily="34" charset="-122"/>
                <a:cs typeface="Courier New" pitchFamily="34" charset="-120"/>
              </a:rPr>
              <a:t>«optional · serverless»</a:t>
            </a:r>
            <a:endParaRPr lang="en-US" sz="750" dirty="0"/>
          </a:p>
        </p:txBody>
      </p:sp>
      <p:sp>
        <p:nvSpPr>
          <p:cNvPr id="109" name="Text 101"/>
          <p:cNvSpPr/>
          <p:nvPr/>
        </p:nvSpPr>
        <p:spPr>
          <a:xfrm>
            <a:off x="10232136" y="3706516"/>
            <a:ext cx="135331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Step Functions</a:t>
            </a:r>
            <a:endParaRPr lang="en-US" sz="1100" dirty="0"/>
          </a:p>
        </p:txBody>
      </p:sp>
      <p:sp>
        <p:nvSpPr>
          <p:cNvPr id="110" name="Text 102"/>
          <p:cNvSpPr/>
          <p:nvPr/>
        </p:nvSpPr>
        <p:spPr>
          <a:xfrm>
            <a:off x="10232136" y="3962548"/>
            <a:ext cx="1353312" cy="219456"/>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Saga viz · eu-central-1</a:t>
            </a:r>
            <a:endParaRPr lang="en-US" sz="850" dirty="0"/>
          </a:p>
        </p:txBody>
      </p:sp>
      <p:sp>
        <p:nvSpPr>
          <p:cNvPr id="129" name="Text 121"/>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130" name="Text 122"/>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sp>
        <p:nvSpPr>
          <p:cNvPr id="132" name="Shape 52">
            <a:extLst>
              <a:ext uri="{FF2B5EF4-FFF2-40B4-BE49-F238E27FC236}">
                <a16:creationId xmlns:a16="http://schemas.microsoft.com/office/drawing/2014/main" id="{C111E20B-04F0-191D-2D90-D84B30E763C7}"/>
              </a:ext>
            </a:extLst>
          </p:cNvPr>
          <p:cNvSpPr/>
          <p:nvPr/>
        </p:nvSpPr>
        <p:spPr>
          <a:xfrm>
            <a:off x="5879472" y="2170324"/>
            <a:ext cx="0" cy="529756"/>
          </a:xfrm>
          <a:prstGeom prst="line">
            <a:avLst/>
          </a:prstGeom>
          <a:noFill/>
          <a:ln w="15875">
            <a:solidFill>
              <a:srgbClr val="5C6B7A"/>
            </a:solidFill>
            <a:prstDash val="solid"/>
            <a:tailEnd type="triangle"/>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CORE TECHNIQUES</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Microservice Architecture — Why Three Services?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669280" cy="2281428"/>
        </p:xfrm>
        <a:graphic>
          <a:graphicData uri="http://schemas.openxmlformats.org/drawingml/2006/table">
            <a:tbl>
              <a:tblPr/>
              <a:tblGrid>
                <a:gridCol w="15087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2129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Responsibility</a:t>
                      </a:r>
                      <a:endParaRPr lang="en-US" sz="11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2129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1B2430"/>
                          </a:solidFill>
                          <a:latin typeface="Courier New" pitchFamily="34" charset="0"/>
                          <a:ea typeface="Courier New" pitchFamily="34" charset="-122"/>
                          <a:cs typeface="Courier New" pitchFamily="34" charset="-120"/>
                        </a:rPr>
                        <a:t>Item Service :8001</a:t>
                      </a:r>
                      <a:endParaRPr lang="en-US" sz="1000" dirty="0">
                        <a:latin typeface="Courier New" charset="0"/>
                        <a:ea typeface="Courier New" charset="0"/>
                        <a:cs typeface="Courier New"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EEF4F7"/>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Auth (register/login/JWT), lost/found reports, keyword matching, item states (OPEN→MATCHED→RESERVED→RECOVERED)</a:t>
                      </a:r>
                      <a:endParaRPr lang="en-US" sz="10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EEF4F7"/>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SQLite (item.db)</a:t>
                      </a:r>
                      <a:endParaRPr lang="en-US" sz="10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EEF4F7"/>
                    </a:solidFill>
                  </a:tcPr>
                </a:tc>
                <a:extLst>
                  <a:ext uri="{0D108BD9-81ED-4DB2-BD59-A6C34878D82A}">
                    <a16:rowId xmlns:a16="http://schemas.microsoft.com/office/drawing/2014/main" val="10001"/>
                  </a:ext>
                </a:extLst>
              </a:tr>
              <a:tr h="566928">
                <a:tc>
                  <a:txBody>
                    <a:bodyPr/>
                    <a:lstStyle/>
                    <a:p>
                      <a:pPr marL="0" indent="0">
                        <a:buNone/>
                      </a:pPr>
                      <a:r>
                        <a:rPr lang="en-US" sz="1000" dirty="0">
                          <a:solidFill>
                            <a:srgbClr val="1B2430"/>
                          </a:solidFill>
                          <a:latin typeface="Courier New" pitchFamily="34" charset="0"/>
                          <a:ea typeface="Courier New" pitchFamily="34" charset="-122"/>
                          <a:cs typeface="Courier New" pitchFamily="34" charset="-120"/>
                        </a:rPr>
                        <a:t>Claim/Recovery :8002</a:t>
                      </a:r>
                      <a:endParaRPr lang="en-US" sz="1000" dirty="0">
                        <a:latin typeface="Courier New" charset="0"/>
                        <a:ea typeface="Courier New" charset="0"/>
                        <a:cs typeface="Courier New"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Claims, claim states (PENDING→APPROVED|REJECTED), Saga orchestration, compensation, AWS Step Functions sync</a:t>
                      </a:r>
                      <a:endParaRPr lang="en-US" sz="10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SQLite (claim.db)</a:t>
                      </a:r>
                      <a:endParaRPr lang="en-US" sz="10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1B2430"/>
                          </a:solidFill>
                          <a:latin typeface="Courier New" pitchFamily="34" charset="0"/>
                          <a:ea typeface="Courier New" pitchFamily="34" charset="-122"/>
                          <a:cs typeface="Courier New" pitchFamily="34" charset="-120"/>
                        </a:rPr>
                        <a:t>Notification :8003</a:t>
                      </a:r>
                      <a:endParaRPr lang="en-US" sz="1000" dirty="0">
                        <a:latin typeface="Courier New" charset="0"/>
                        <a:ea typeface="Courier New" charset="0"/>
                        <a:cs typeface="Courier New"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EEF4F7"/>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Redis pub/sub consumer, in-app notification log, eventId deduplication</a:t>
                      </a:r>
                      <a:endParaRPr lang="en-US" sz="10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EEF4F7"/>
                    </a:solidFill>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SQLite (notification.db)</a:t>
                      </a:r>
                      <a:endParaRPr lang="en-US" sz="1050" dirty="0">
                        <a:latin typeface="Calibri" charset="0"/>
                        <a:ea typeface="Calibri" charset="0"/>
                        <a:cs typeface="Calibri" charset="0"/>
                      </a:endParaRPr>
                    </a:p>
                  </a:txBody>
                  <a:tcP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EEF4F7"/>
                    </a:solidFill>
                  </a:tcPr>
                </a:tc>
                <a:extLst>
                  <a:ext uri="{0D108BD9-81ED-4DB2-BD59-A6C34878D82A}">
                    <a16:rowId xmlns:a16="http://schemas.microsoft.com/office/drawing/2014/main" val="10003"/>
                  </a:ext>
                </a:extLst>
              </a:tr>
            </a:tbl>
          </a:graphicData>
        </a:graphic>
      </p:graphicFrame>
      <p:sp>
        <p:nvSpPr>
          <p:cNvPr id="4" name="Text 2"/>
          <p:cNvSpPr/>
          <p:nvPr/>
        </p:nvSpPr>
        <p:spPr>
          <a:xfrm>
            <a:off x="548640" y="3840480"/>
            <a:ext cx="566928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Key service boundary decisions:</a:t>
            </a:r>
            <a:endParaRPr lang="en-US" sz="1300" dirty="0"/>
          </a:p>
        </p:txBody>
      </p:sp>
      <p:sp>
        <p:nvSpPr>
          <p:cNvPr id="6" name="Text 3"/>
          <p:cNvSpPr/>
          <p:nvPr/>
        </p:nvSpPr>
        <p:spPr>
          <a:xfrm>
            <a:off x="548640" y="4206240"/>
            <a:ext cx="5669280" cy="1325880"/>
          </a:xfrm>
          <a:prstGeom prst="rect">
            <a:avLst/>
          </a:prstGeom>
          <a:noFill/>
          <a:ln/>
        </p:spPr>
        <p:txBody>
          <a:bodyPr wrap="square" rtlCol="0" anchor="ctr"/>
          <a:lstStyle/>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No separate User Service — auth is a cross-cutting concern embedded in Item Service per course guidance</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Claim/Recovery is separate from Item Service — claims have their own states and Saga compensation rules</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Notification is separate — event processing can lag or fail independently of item and claim logic</a:t>
            </a:r>
            <a:endParaRPr lang="en-US" sz="1100" dirty="0"/>
          </a:p>
        </p:txBody>
      </p:sp>
      <p:sp>
        <p:nvSpPr>
          <p:cNvPr id="7" name="Shape 4"/>
          <p:cNvSpPr/>
          <p:nvPr/>
        </p:nvSpPr>
        <p:spPr>
          <a:xfrm>
            <a:off x="6492240" y="1508760"/>
            <a:ext cx="5166360" cy="1828800"/>
          </a:xfrm>
          <a:prstGeom prst="roundRect">
            <a:avLst>
              <a:gd name="adj" fmla="val 4000"/>
            </a:avLst>
          </a:prstGeom>
          <a:solidFill>
            <a:srgbClr val="E8F6F2"/>
          </a:solidFill>
          <a:ln/>
          <a:effectLst>
            <a:outerShdw blurRad="101600" dist="38100" dir="2700000" algn="bl" rotWithShape="0">
              <a:srgbClr val="000000">
                <a:alpha val="12000"/>
              </a:srgbClr>
            </a:outerShdw>
          </a:effectLst>
        </p:spPr>
        <p:txBody>
          <a:bodyPr/>
          <a:lstStyle/>
          <a:p>
            <a:endParaRPr lang="en-US"/>
          </a:p>
        </p:txBody>
      </p:sp>
      <p:sp>
        <p:nvSpPr>
          <p:cNvPr id="10" name="Text 6"/>
          <p:cNvSpPr/>
          <p:nvPr/>
        </p:nvSpPr>
        <p:spPr>
          <a:xfrm>
            <a:off x="6858000" y="1796796"/>
            <a:ext cx="3657600" cy="365760"/>
          </a:xfrm>
          <a:prstGeom prst="rect">
            <a:avLst/>
          </a:prstGeom>
          <a:noFill/>
          <a:ln/>
        </p:spPr>
        <p:txBody>
          <a:bodyPr wrap="square" rtlCol="0" anchor="ctr"/>
          <a:lstStyle/>
          <a:p>
            <a:pPr marL="0" indent="0">
              <a:buNone/>
            </a:pPr>
            <a:r>
              <a:rPr lang="en-US" sz="1450" b="1" dirty="0">
                <a:solidFill>
                  <a:srgbClr val="1B2430"/>
                </a:solidFill>
                <a:latin typeface="Calibri" pitchFamily="34" charset="0"/>
                <a:ea typeface="Calibri" pitchFamily="34" charset="-122"/>
                <a:cs typeface="Calibri" pitchFamily="34" charset="-120"/>
              </a:rPr>
              <a:t>Advantages</a:t>
            </a:r>
            <a:endParaRPr lang="en-US" sz="1450" dirty="0"/>
          </a:p>
        </p:txBody>
      </p:sp>
      <p:sp>
        <p:nvSpPr>
          <p:cNvPr id="11" name="Text 7"/>
          <p:cNvSpPr/>
          <p:nvPr/>
        </p:nvSpPr>
        <p:spPr>
          <a:xfrm>
            <a:off x="6858000" y="2286000"/>
            <a:ext cx="4434840" cy="274320"/>
          </a:xfrm>
          <a:prstGeom prst="rect">
            <a:avLst/>
          </a:prstGeom>
          <a:noFill/>
          <a:ln/>
        </p:spPr>
        <p:txBody>
          <a:bodyPr wrap="square"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Independent deployment</a:t>
            </a:r>
            <a:endParaRPr lang="en-US" sz="1150" dirty="0"/>
          </a:p>
        </p:txBody>
      </p:sp>
      <p:sp>
        <p:nvSpPr>
          <p:cNvPr id="12" name="Text 8"/>
          <p:cNvSpPr/>
          <p:nvPr/>
        </p:nvSpPr>
        <p:spPr>
          <a:xfrm>
            <a:off x="6858000" y="2532888"/>
            <a:ext cx="4434840" cy="274320"/>
          </a:xfrm>
          <a:prstGeom prst="rect">
            <a:avLst/>
          </a:prstGeom>
          <a:noFill/>
          <a:ln/>
        </p:spPr>
        <p:txBody>
          <a:bodyPr wrap="square"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Fault isolation</a:t>
            </a:r>
            <a:endParaRPr lang="en-US" sz="1150" dirty="0"/>
          </a:p>
        </p:txBody>
      </p:sp>
      <p:sp>
        <p:nvSpPr>
          <p:cNvPr id="13" name="Text 9"/>
          <p:cNvSpPr/>
          <p:nvPr/>
        </p:nvSpPr>
        <p:spPr>
          <a:xfrm>
            <a:off x="6858000" y="2779776"/>
            <a:ext cx="4434840" cy="274320"/>
          </a:xfrm>
          <a:prstGeom prst="rect">
            <a:avLst/>
          </a:prstGeom>
          <a:noFill/>
          <a:ln/>
        </p:spPr>
        <p:txBody>
          <a:bodyPr wrap="square"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Scalability per service</a:t>
            </a:r>
            <a:endParaRPr lang="en-US" sz="1150" dirty="0"/>
          </a:p>
        </p:txBody>
      </p:sp>
      <p:sp>
        <p:nvSpPr>
          <p:cNvPr id="14" name="Text 10"/>
          <p:cNvSpPr/>
          <p:nvPr/>
        </p:nvSpPr>
        <p:spPr>
          <a:xfrm>
            <a:off x="6858000" y="3026664"/>
            <a:ext cx="4434840" cy="274320"/>
          </a:xfrm>
          <a:prstGeom prst="rect">
            <a:avLst/>
          </a:prstGeom>
          <a:noFill/>
          <a:ln/>
        </p:spPr>
        <p:txBody>
          <a:bodyPr wrap="square"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Maintainability</a:t>
            </a:r>
            <a:endParaRPr lang="en-US" sz="1150" dirty="0"/>
          </a:p>
        </p:txBody>
      </p:sp>
      <p:sp>
        <p:nvSpPr>
          <p:cNvPr id="15" name="Shape 11"/>
          <p:cNvSpPr/>
          <p:nvPr/>
        </p:nvSpPr>
        <p:spPr>
          <a:xfrm>
            <a:off x="6492240" y="3611880"/>
            <a:ext cx="5166360" cy="1828800"/>
          </a:xfrm>
          <a:prstGeom prst="roundRect">
            <a:avLst>
              <a:gd name="adj" fmla="val 4000"/>
            </a:avLst>
          </a:prstGeom>
          <a:solidFill>
            <a:srgbClr val="FBEAEA"/>
          </a:solidFill>
          <a:ln/>
          <a:effectLst>
            <a:outerShdw blurRad="101600" dist="38100" dir="2700000" algn="bl" rotWithShape="0">
              <a:srgbClr val="000000">
                <a:alpha val="12000"/>
              </a:srgbClr>
            </a:outerShdw>
          </a:effectLst>
        </p:spPr>
        <p:txBody>
          <a:bodyPr/>
          <a:lstStyle/>
          <a:p>
            <a:endParaRPr lang="en-US"/>
          </a:p>
        </p:txBody>
      </p:sp>
      <p:sp>
        <p:nvSpPr>
          <p:cNvPr id="18" name="Text 13"/>
          <p:cNvSpPr/>
          <p:nvPr/>
        </p:nvSpPr>
        <p:spPr>
          <a:xfrm>
            <a:off x="6858000" y="3913632"/>
            <a:ext cx="3657600" cy="365760"/>
          </a:xfrm>
          <a:prstGeom prst="rect">
            <a:avLst/>
          </a:prstGeom>
          <a:noFill/>
          <a:ln/>
        </p:spPr>
        <p:txBody>
          <a:bodyPr wrap="square" rtlCol="0" anchor="ctr"/>
          <a:lstStyle/>
          <a:p>
            <a:pPr marL="0" indent="0">
              <a:buNone/>
            </a:pPr>
            <a:r>
              <a:rPr lang="en-US" sz="1450" b="1" dirty="0">
                <a:solidFill>
                  <a:srgbClr val="1B2430"/>
                </a:solidFill>
                <a:latin typeface="Calibri" pitchFamily="34" charset="0"/>
                <a:ea typeface="Calibri" pitchFamily="34" charset="-122"/>
                <a:cs typeface="Calibri" pitchFamily="34" charset="-120"/>
              </a:rPr>
              <a:t>Trade-offs</a:t>
            </a:r>
            <a:endParaRPr lang="en-US" sz="1450" dirty="0"/>
          </a:p>
        </p:txBody>
      </p:sp>
      <p:sp>
        <p:nvSpPr>
          <p:cNvPr id="19" name="Text 14"/>
          <p:cNvSpPr/>
          <p:nvPr/>
        </p:nvSpPr>
        <p:spPr>
          <a:xfrm>
            <a:off x="6858000" y="4389120"/>
            <a:ext cx="4434840" cy="320040"/>
          </a:xfrm>
          <a:prstGeom prst="rect">
            <a:avLst/>
          </a:prstGeom>
          <a:noFill/>
          <a:ln/>
        </p:spPr>
        <p:txBody>
          <a:bodyPr wrap="square"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More inter-service communication</a:t>
            </a:r>
            <a:endParaRPr lang="en-US" sz="1150" dirty="0"/>
          </a:p>
        </p:txBody>
      </p:sp>
      <p:sp>
        <p:nvSpPr>
          <p:cNvPr id="20" name="Text 15"/>
          <p:cNvSpPr/>
          <p:nvPr/>
        </p:nvSpPr>
        <p:spPr>
          <a:xfrm>
            <a:off x="6858000" y="4681728"/>
            <a:ext cx="4434840" cy="320040"/>
          </a:xfrm>
          <a:prstGeom prst="rect">
            <a:avLst/>
          </a:prstGeom>
          <a:noFill/>
          <a:ln/>
        </p:spPr>
        <p:txBody>
          <a:bodyPr wrap="square"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Eventual consistency</a:t>
            </a:r>
            <a:endParaRPr lang="en-US" sz="1150" dirty="0"/>
          </a:p>
        </p:txBody>
      </p:sp>
      <p:sp>
        <p:nvSpPr>
          <p:cNvPr id="21" name="Text 16"/>
          <p:cNvSpPr/>
          <p:nvPr/>
        </p:nvSpPr>
        <p:spPr>
          <a:xfrm>
            <a:off x="6858000" y="4974336"/>
            <a:ext cx="4434840" cy="320040"/>
          </a:xfrm>
          <a:prstGeom prst="rect">
            <a:avLst/>
          </a:prstGeom>
          <a:noFill/>
          <a:ln/>
        </p:spPr>
        <p:txBody>
          <a:bodyPr wrap="square"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Saga coordination complexity</a:t>
            </a:r>
            <a:endParaRPr lang="en-US" sz="1150" dirty="0"/>
          </a:p>
        </p:txBody>
      </p:sp>
      <p:sp>
        <p:nvSpPr>
          <p:cNvPr id="22" name="Text 17"/>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23" name="Text 18"/>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CORE TECHNIQUES</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Happy Path — Claim &amp; Recovery Flow</a:t>
            </a:r>
            <a:endParaRPr lang="en-US" sz="3000" dirty="0"/>
          </a:p>
        </p:txBody>
      </p:sp>
      <p:sp>
        <p:nvSpPr>
          <p:cNvPr id="4" name="Shape 2"/>
          <p:cNvSpPr/>
          <p:nvPr/>
        </p:nvSpPr>
        <p:spPr>
          <a:xfrm>
            <a:off x="640080" y="1417320"/>
            <a:ext cx="384048" cy="384048"/>
          </a:xfrm>
          <a:prstGeom prst="ellipse">
            <a:avLst/>
          </a:prstGeom>
          <a:solidFill>
            <a:srgbClr val="21295C"/>
          </a:solidFill>
          <a:ln/>
        </p:spPr>
        <p:txBody>
          <a:bodyPr/>
          <a:lstStyle/>
          <a:p>
            <a:endParaRPr lang="en-US"/>
          </a:p>
        </p:txBody>
      </p:sp>
      <p:sp>
        <p:nvSpPr>
          <p:cNvPr id="5" name="Text 3"/>
          <p:cNvSpPr/>
          <p:nvPr/>
        </p:nvSpPr>
        <p:spPr>
          <a:xfrm>
            <a:off x="640080" y="141732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Shape 4"/>
          <p:cNvSpPr/>
          <p:nvPr/>
        </p:nvSpPr>
        <p:spPr>
          <a:xfrm>
            <a:off x="1691640" y="1371600"/>
            <a:ext cx="4114800" cy="475488"/>
          </a:xfrm>
          <a:prstGeom prst="roundRect">
            <a:avLst>
              <a:gd name="adj" fmla="val 11538"/>
            </a:avLst>
          </a:prstGeom>
          <a:solidFill>
            <a:srgbClr val="1C7293"/>
          </a:solidFill>
          <a:ln/>
          <a:effectLst>
            <a:outerShdw blurRad="101600" dist="38100" dir="2700000" algn="bl" rotWithShape="0">
              <a:srgbClr val="000000">
                <a:alpha val="12000"/>
              </a:srgbClr>
            </a:outerShdw>
          </a:effectLst>
        </p:spPr>
        <p:txBody>
          <a:bodyPr/>
          <a:lstStyle/>
          <a:p>
            <a:endParaRPr lang="en-US"/>
          </a:p>
        </p:txBody>
      </p:sp>
      <p:sp>
        <p:nvSpPr>
          <p:cNvPr id="7" name="Text 5"/>
          <p:cNvSpPr/>
          <p:nvPr/>
        </p:nvSpPr>
        <p:spPr>
          <a:xfrm>
            <a:off x="1874520" y="1371600"/>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Register + login (JWT)</a:t>
            </a:r>
            <a:endParaRPr lang="en-US" sz="1150" dirty="0"/>
          </a:p>
        </p:txBody>
      </p:sp>
      <p:sp>
        <p:nvSpPr>
          <p:cNvPr id="8" name="Shape 6"/>
          <p:cNvSpPr/>
          <p:nvPr/>
        </p:nvSpPr>
        <p:spPr>
          <a:xfrm>
            <a:off x="3749040" y="1847088"/>
            <a:ext cx="0" cy="82296"/>
          </a:xfrm>
          <a:prstGeom prst="line">
            <a:avLst/>
          </a:prstGeom>
          <a:noFill/>
          <a:ln w="15875">
            <a:solidFill>
              <a:srgbClr val="5C6B7A"/>
            </a:solidFill>
            <a:prstDash val="solid"/>
            <a:tailEnd type="triangle"/>
          </a:ln>
        </p:spPr>
        <p:txBody>
          <a:bodyPr/>
          <a:lstStyle/>
          <a:p>
            <a:endParaRPr lang="en-US"/>
          </a:p>
        </p:txBody>
      </p:sp>
      <p:sp>
        <p:nvSpPr>
          <p:cNvPr id="9" name="Text 7"/>
          <p:cNvSpPr/>
          <p:nvPr/>
        </p:nvSpPr>
        <p:spPr>
          <a:xfrm>
            <a:off x="6172200" y="1371600"/>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User registers and logs in via Item Service — JWT used for all protected endpoints.</a:t>
            </a:r>
            <a:endParaRPr lang="en-US" sz="1000" dirty="0"/>
          </a:p>
        </p:txBody>
      </p:sp>
      <p:sp>
        <p:nvSpPr>
          <p:cNvPr id="10" name="Shape 8"/>
          <p:cNvSpPr/>
          <p:nvPr/>
        </p:nvSpPr>
        <p:spPr>
          <a:xfrm>
            <a:off x="640080" y="1975104"/>
            <a:ext cx="384048" cy="384048"/>
          </a:xfrm>
          <a:prstGeom prst="ellipse">
            <a:avLst/>
          </a:prstGeom>
          <a:solidFill>
            <a:srgbClr val="21295C"/>
          </a:solidFill>
          <a:ln/>
        </p:spPr>
        <p:txBody>
          <a:bodyPr/>
          <a:lstStyle/>
          <a:p>
            <a:endParaRPr lang="en-US"/>
          </a:p>
        </p:txBody>
      </p:sp>
      <p:sp>
        <p:nvSpPr>
          <p:cNvPr id="11" name="Text 9"/>
          <p:cNvSpPr/>
          <p:nvPr/>
        </p:nvSpPr>
        <p:spPr>
          <a:xfrm>
            <a:off x="640080" y="1975104"/>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Shape 10"/>
          <p:cNvSpPr/>
          <p:nvPr/>
        </p:nvSpPr>
        <p:spPr>
          <a:xfrm>
            <a:off x="1691640" y="1929384"/>
            <a:ext cx="4114800" cy="475488"/>
          </a:xfrm>
          <a:prstGeom prst="roundRect">
            <a:avLst>
              <a:gd name="adj" fmla="val 11538"/>
            </a:avLst>
          </a:prstGeom>
          <a:solidFill>
            <a:srgbClr val="1C7293"/>
          </a:solidFill>
          <a:ln/>
          <a:effectLst>
            <a:outerShdw blurRad="101600" dist="38100" dir="2700000" algn="bl" rotWithShape="0">
              <a:srgbClr val="000000">
                <a:alpha val="12000"/>
              </a:srgbClr>
            </a:outerShdw>
          </a:effectLst>
        </p:spPr>
        <p:txBody>
          <a:bodyPr/>
          <a:lstStyle/>
          <a:p>
            <a:endParaRPr lang="en-US"/>
          </a:p>
        </p:txBody>
      </p:sp>
      <p:sp>
        <p:nvSpPr>
          <p:cNvPr id="13" name="Text 11"/>
          <p:cNvSpPr/>
          <p:nvPr/>
        </p:nvSpPr>
        <p:spPr>
          <a:xfrm>
            <a:off x="1874520" y="1929384"/>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POST /items  →  Item Service</a:t>
            </a:r>
            <a:endParaRPr lang="en-US" sz="1150" dirty="0"/>
          </a:p>
        </p:txBody>
      </p:sp>
      <p:sp>
        <p:nvSpPr>
          <p:cNvPr id="14" name="Shape 12"/>
          <p:cNvSpPr/>
          <p:nvPr/>
        </p:nvSpPr>
        <p:spPr>
          <a:xfrm>
            <a:off x="3749040" y="2404872"/>
            <a:ext cx="0" cy="82296"/>
          </a:xfrm>
          <a:prstGeom prst="line">
            <a:avLst/>
          </a:prstGeom>
          <a:noFill/>
          <a:ln w="15875">
            <a:solidFill>
              <a:srgbClr val="5C6B7A"/>
            </a:solidFill>
            <a:prstDash val="solid"/>
            <a:tailEnd type="triangle"/>
          </a:ln>
        </p:spPr>
        <p:txBody>
          <a:bodyPr/>
          <a:lstStyle/>
          <a:p>
            <a:endParaRPr lang="en-US"/>
          </a:p>
        </p:txBody>
      </p:sp>
      <p:sp>
        <p:nvSpPr>
          <p:cNvPr id="15" name="Text 13"/>
          <p:cNvSpPr/>
          <p:nvPr/>
        </p:nvSpPr>
        <p:spPr>
          <a:xfrm>
            <a:off x="6172200" y="1929384"/>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User creates a lost or found item report (title, description, item type).</a:t>
            </a:r>
            <a:endParaRPr lang="en-US" sz="1000" dirty="0"/>
          </a:p>
        </p:txBody>
      </p:sp>
      <p:sp>
        <p:nvSpPr>
          <p:cNvPr id="16" name="Shape 14"/>
          <p:cNvSpPr/>
          <p:nvPr/>
        </p:nvSpPr>
        <p:spPr>
          <a:xfrm>
            <a:off x="640080" y="2532888"/>
            <a:ext cx="384048" cy="384048"/>
          </a:xfrm>
          <a:prstGeom prst="ellipse">
            <a:avLst/>
          </a:prstGeom>
          <a:solidFill>
            <a:srgbClr val="21295C"/>
          </a:solidFill>
          <a:ln/>
        </p:spPr>
        <p:txBody>
          <a:bodyPr/>
          <a:lstStyle/>
          <a:p>
            <a:endParaRPr lang="en-US"/>
          </a:p>
        </p:txBody>
      </p:sp>
      <p:sp>
        <p:nvSpPr>
          <p:cNvPr id="17" name="Text 15"/>
          <p:cNvSpPr/>
          <p:nvPr/>
        </p:nvSpPr>
        <p:spPr>
          <a:xfrm>
            <a:off x="640080" y="253288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Shape 16"/>
          <p:cNvSpPr/>
          <p:nvPr/>
        </p:nvSpPr>
        <p:spPr>
          <a:xfrm>
            <a:off x="1691640" y="2487168"/>
            <a:ext cx="4114800" cy="475488"/>
          </a:xfrm>
          <a:prstGeom prst="roundRect">
            <a:avLst>
              <a:gd name="adj" fmla="val 11538"/>
            </a:avLst>
          </a:prstGeom>
          <a:solidFill>
            <a:srgbClr val="065A82"/>
          </a:solidFill>
          <a:ln/>
          <a:effectLst>
            <a:outerShdw blurRad="101600" dist="38100" dir="2700000" algn="bl" rotWithShape="0">
              <a:srgbClr val="000000">
                <a:alpha val="12000"/>
              </a:srgbClr>
            </a:outerShdw>
          </a:effectLst>
        </p:spPr>
        <p:txBody>
          <a:bodyPr/>
          <a:lstStyle/>
          <a:p>
            <a:endParaRPr lang="en-US"/>
          </a:p>
        </p:txBody>
      </p:sp>
      <p:sp>
        <p:nvSpPr>
          <p:cNvPr id="19" name="Text 17"/>
          <p:cNvSpPr/>
          <p:nvPr/>
        </p:nvSpPr>
        <p:spPr>
          <a:xfrm>
            <a:off x="1874520" y="2487168"/>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Keyword matching runs</a:t>
            </a:r>
            <a:endParaRPr lang="en-US" sz="1150" dirty="0"/>
          </a:p>
        </p:txBody>
      </p:sp>
      <p:sp>
        <p:nvSpPr>
          <p:cNvPr id="20" name="Shape 18"/>
          <p:cNvSpPr/>
          <p:nvPr/>
        </p:nvSpPr>
        <p:spPr>
          <a:xfrm>
            <a:off x="3749040" y="2962656"/>
            <a:ext cx="0" cy="82296"/>
          </a:xfrm>
          <a:prstGeom prst="line">
            <a:avLst/>
          </a:prstGeom>
          <a:noFill/>
          <a:ln w="15875">
            <a:solidFill>
              <a:srgbClr val="5C6B7A"/>
            </a:solidFill>
            <a:prstDash val="solid"/>
            <a:tailEnd type="triangle"/>
          </a:ln>
        </p:spPr>
        <p:txBody>
          <a:bodyPr/>
          <a:lstStyle/>
          <a:p>
            <a:endParaRPr lang="en-US"/>
          </a:p>
        </p:txBody>
      </p:sp>
      <p:sp>
        <p:nvSpPr>
          <p:cNvPr id="21" name="Text 19"/>
          <p:cNvSpPr/>
          <p:nvPr/>
        </p:nvSpPr>
        <p:spPr>
          <a:xfrm>
            <a:off x="6172200" y="2487168"/>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Item Service checks existing reports for keyword overlap.</a:t>
            </a:r>
            <a:endParaRPr lang="en-US" sz="1000" dirty="0"/>
          </a:p>
        </p:txBody>
      </p:sp>
      <p:sp>
        <p:nvSpPr>
          <p:cNvPr id="22" name="Shape 20"/>
          <p:cNvSpPr/>
          <p:nvPr/>
        </p:nvSpPr>
        <p:spPr>
          <a:xfrm>
            <a:off x="640080" y="3090672"/>
            <a:ext cx="384048" cy="384048"/>
          </a:xfrm>
          <a:prstGeom prst="ellipse">
            <a:avLst/>
          </a:prstGeom>
          <a:solidFill>
            <a:srgbClr val="21295C"/>
          </a:solidFill>
          <a:ln/>
        </p:spPr>
        <p:txBody>
          <a:bodyPr/>
          <a:lstStyle/>
          <a:p>
            <a:endParaRPr lang="en-US"/>
          </a:p>
        </p:txBody>
      </p:sp>
      <p:sp>
        <p:nvSpPr>
          <p:cNvPr id="23" name="Text 21"/>
          <p:cNvSpPr/>
          <p:nvPr/>
        </p:nvSpPr>
        <p:spPr>
          <a:xfrm>
            <a:off x="640080" y="3090672"/>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4" name="Shape 22"/>
          <p:cNvSpPr/>
          <p:nvPr/>
        </p:nvSpPr>
        <p:spPr>
          <a:xfrm>
            <a:off x="1691640" y="3044952"/>
            <a:ext cx="4114800" cy="475488"/>
          </a:xfrm>
          <a:prstGeom prst="roundRect">
            <a:avLst>
              <a:gd name="adj" fmla="val 11538"/>
            </a:avLst>
          </a:prstGeom>
          <a:solidFill>
            <a:srgbClr val="065A82"/>
          </a:solidFill>
          <a:ln/>
          <a:effectLst>
            <a:outerShdw blurRad="101600" dist="38100" dir="2700000" algn="bl" rotWithShape="0">
              <a:srgbClr val="000000">
                <a:alpha val="12000"/>
              </a:srgbClr>
            </a:outerShdw>
          </a:effectLst>
        </p:spPr>
        <p:txBody>
          <a:bodyPr/>
          <a:lstStyle/>
          <a:p>
            <a:endParaRPr lang="en-US"/>
          </a:p>
        </p:txBody>
      </p:sp>
      <p:sp>
        <p:nvSpPr>
          <p:cNvPr id="25" name="Text 23"/>
          <p:cNvSpPr/>
          <p:nvPr/>
        </p:nvSpPr>
        <p:spPr>
          <a:xfrm>
            <a:off x="1874520" y="3044952"/>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item.status = MATCHED</a:t>
            </a:r>
            <a:endParaRPr lang="en-US" sz="1150" dirty="0"/>
          </a:p>
        </p:txBody>
      </p:sp>
      <p:sp>
        <p:nvSpPr>
          <p:cNvPr id="26" name="Shape 24"/>
          <p:cNvSpPr/>
          <p:nvPr/>
        </p:nvSpPr>
        <p:spPr>
          <a:xfrm>
            <a:off x="3749040" y="3520440"/>
            <a:ext cx="0" cy="82296"/>
          </a:xfrm>
          <a:prstGeom prst="line">
            <a:avLst/>
          </a:prstGeom>
          <a:noFill/>
          <a:ln w="15875">
            <a:solidFill>
              <a:srgbClr val="5C6B7A"/>
            </a:solidFill>
            <a:prstDash val="solid"/>
            <a:tailEnd type="triangle"/>
          </a:ln>
        </p:spPr>
        <p:txBody>
          <a:bodyPr/>
          <a:lstStyle/>
          <a:p>
            <a:endParaRPr lang="en-US"/>
          </a:p>
        </p:txBody>
      </p:sp>
      <p:sp>
        <p:nvSpPr>
          <p:cNvPr id="27" name="Text 25"/>
          <p:cNvSpPr/>
          <p:nvPr/>
        </p:nvSpPr>
        <p:spPr>
          <a:xfrm>
            <a:off x="6172200" y="3044952"/>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A matching pair is found. MatchFound event published to Redis.</a:t>
            </a:r>
            <a:endParaRPr lang="en-US" sz="1000" dirty="0"/>
          </a:p>
        </p:txBody>
      </p:sp>
      <p:sp>
        <p:nvSpPr>
          <p:cNvPr id="28" name="Shape 26"/>
          <p:cNvSpPr/>
          <p:nvPr/>
        </p:nvSpPr>
        <p:spPr>
          <a:xfrm>
            <a:off x="640080" y="3648456"/>
            <a:ext cx="384048" cy="384048"/>
          </a:xfrm>
          <a:prstGeom prst="ellipse">
            <a:avLst/>
          </a:prstGeom>
          <a:solidFill>
            <a:srgbClr val="21295C"/>
          </a:solidFill>
          <a:ln/>
        </p:spPr>
        <p:txBody>
          <a:bodyPr/>
          <a:lstStyle/>
          <a:p>
            <a:endParaRPr lang="en-US"/>
          </a:p>
        </p:txBody>
      </p:sp>
      <p:sp>
        <p:nvSpPr>
          <p:cNvPr id="29" name="Text 27"/>
          <p:cNvSpPr/>
          <p:nvPr/>
        </p:nvSpPr>
        <p:spPr>
          <a:xfrm>
            <a:off x="640080" y="3648456"/>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0" name="Shape 28"/>
          <p:cNvSpPr/>
          <p:nvPr/>
        </p:nvSpPr>
        <p:spPr>
          <a:xfrm>
            <a:off x="1691640" y="3602736"/>
            <a:ext cx="4114800" cy="475488"/>
          </a:xfrm>
          <a:prstGeom prst="roundRect">
            <a:avLst>
              <a:gd name="adj" fmla="val 11538"/>
            </a:avLst>
          </a:prstGeom>
          <a:solidFill>
            <a:srgbClr val="065A82"/>
          </a:solidFill>
          <a:ln/>
          <a:effectLst>
            <a:outerShdw blurRad="101600" dist="38100" dir="2700000" algn="bl" rotWithShape="0">
              <a:srgbClr val="000000">
                <a:alpha val="12000"/>
              </a:srgbClr>
            </a:outerShdw>
          </a:effectLst>
        </p:spPr>
        <p:txBody>
          <a:bodyPr/>
          <a:lstStyle/>
          <a:p>
            <a:endParaRPr lang="en-US"/>
          </a:p>
        </p:txBody>
      </p:sp>
      <p:sp>
        <p:nvSpPr>
          <p:cNvPr id="31" name="Text 29"/>
          <p:cNvSpPr/>
          <p:nvPr/>
        </p:nvSpPr>
        <p:spPr>
          <a:xfrm>
            <a:off x="1874520" y="3602736"/>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MatchFound → Redis → Notification</a:t>
            </a:r>
            <a:endParaRPr lang="en-US" sz="1150" dirty="0"/>
          </a:p>
        </p:txBody>
      </p:sp>
      <p:sp>
        <p:nvSpPr>
          <p:cNvPr id="32" name="Shape 30"/>
          <p:cNvSpPr/>
          <p:nvPr/>
        </p:nvSpPr>
        <p:spPr>
          <a:xfrm>
            <a:off x="3749040" y="4078224"/>
            <a:ext cx="0" cy="82296"/>
          </a:xfrm>
          <a:prstGeom prst="line">
            <a:avLst/>
          </a:prstGeom>
          <a:noFill/>
          <a:ln w="15875">
            <a:solidFill>
              <a:srgbClr val="5C6B7A"/>
            </a:solidFill>
            <a:prstDash val="solid"/>
            <a:tailEnd type="triangle"/>
          </a:ln>
        </p:spPr>
        <p:txBody>
          <a:bodyPr/>
          <a:lstStyle/>
          <a:p>
            <a:endParaRPr lang="en-US"/>
          </a:p>
        </p:txBody>
      </p:sp>
      <p:sp>
        <p:nvSpPr>
          <p:cNvPr id="33" name="Text 31"/>
          <p:cNvSpPr/>
          <p:nvPr/>
        </p:nvSpPr>
        <p:spPr>
          <a:xfrm>
            <a:off x="6172200" y="3602736"/>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Notification Service consumes the event and records an in-app alert.</a:t>
            </a:r>
            <a:endParaRPr lang="en-US" sz="1000" dirty="0"/>
          </a:p>
        </p:txBody>
      </p:sp>
      <p:sp>
        <p:nvSpPr>
          <p:cNvPr id="34" name="Shape 32"/>
          <p:cNvSpPr/>
          <p:nvPr/>
        </p:nvSpPr>
        <p:spPr>
          <a:xfrm>
            <a:off x="640080" y="4206240"/>
            <a:ext cx="384048" cy="384048"/>
          </a:xfrm>
          <a:prstGeom prst="ellipse">
            <a:avLst/>
          </a:prstGeom>
          <a:solidFill>
            <a:srgbClr val="21295C"/>
          </a:solidFill>
          <a:ln/>
        </p:spPr>
        <p:txBody>
          <a:bodyPr/>
          <a:lstStyle/>
          <a:p>
            <a:endParaRPr lang="en-US"/>
          </a:p>
        </p:txBody>
      </p:sp>
      <p:sp>
        <p:nvSpPr>
          <p:cNvPr id="35" name="Text 33"/>
          <p:cNvSpPr/>
          <p:nvPr/>
        </p:nvSpPr>
        <p:spPr>
          <a:xfrm>
            <a:off x="640080" y="420624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6" name="Shape 34"/>
          <p:cNvSpPr/>
          <p:nvPr/>
        </p:nvSpPr>
        <p:spPr>
          <a:xfrm>
            <a:off x="1691640" y="4160520"/>
            <a:ext cx="4114800" cy="475488"/>
          </a:xfrm>
          <a:prstGeom prst="roundRect">
            <a:avLst>
              <a:gd name="adj" fmla="val 11538"/>
            </a:avLst>
          </a:prstGeom>
          <a:solidFill>
            <a:srgbClr val="1B9E8F"/>
          </a:solidFill>
          <a:ln/>
          <a:effectLst>
            <a:outerShdw blurRad="101600" dist="38100" dir="2700000" algn="bl" rotWithShape="0">
              <a:srgbClr val="000000">
                <a:alpha val="12000"/>
              </a:srgbClr>
            </a:outerShdw>
          </a:effectLst>
        </p:spPr>
        <p:txBody>
          <a:bodyPr/>
          <a:lstStyle/>
          <a:p>
            <a:endParaRPr lang="en-US"/>
          </a:p>
        </p:txBody>
      </p:sp>
      <p:sp>
        <p:nvSpPr>
          <p:cNvPr id="37" name="Text 35"/>
          <p:cNvSpPr/>
          <p:nvPr/>
        </p:nvSpPr>
        <p:spPr>
          <a:xfrm>
            <a:off x="1874520" y="4160520"/>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POST /claims  →  Claim/Recovery</a:t>
            </a:r>
            <a:endParaRPr lang="en-US" sz="1150" dirty="0"/>
          </a:p>
        </p:txBody>
      </p:sp>
      <p:sp>
        <p:nvSpPr>
          <p:cNvPr id="38" name="Shape 36"/>
          <p:cNvSpPr/>
          <p:nvPr/>
        </p:nvSpPr>
        <p:spPr>
          <a:xfrm>
            <a:off x="3749040" y="4636008"/>
            <a:ext cx="0" cy="82296"/>
          </a:xfrm>
          <a:prstGeom prst="line">
            <a:avLst/>
          </a:prstGeom>
          <a:noFill/>
          <a:ln w="15875">
            <a:solidFill>
              <a:srgbClr val="5C6B7A"/>
            </a:solidFill>
            <a:prstDash val="solid"/>
            <a:tailEnd type="triangle"/>
          </a:ln>
        </p:spPr>
        <p:txBody>
          <a:bodyPr/>
          <a:lstStyle/>
          <a:p>
            <a:endParaRPr lang="en-US"/>
          </a:p>
        </p:txBody>
      </p:sp>
      <p:sp>
        <p:nvSpPr>
          <p:cNvPr id="39" name="Text 37"/>
          <p:cNvSpPr/>
          <p:nvPr/>
        </p:nvSpPr>
        <p:spPr>
          <a:xfrm>
            <a:off x="6172200" y="4160520"/>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User submits a claim for the matched item through the Claim/Recovery Service.</a:t>
            </a:r>
            <a:endParaRPr lang="en-US" sz="1000" dirty="0"/>
          </a:p>
        </p:txBody>
      </p:sp>
      <p:sp>
        <p:nvSpPr>
          <p:cNvPr id="40" name="Shape 38"/>
          <p:cNvSpPr/>
          <p:nvPr/>
        </p:nvSpPr>
        <p:spPr>
          <a:xfrm>
            <a:off x="640080" y="4764024"/>
            <a:ext cx="384048" cy="384048"/>
          </a:xfrm>
          <a:prstGeom prst="ellipse">
            <a:avLst/>
          </a:prstGeom>
          <a:solidFill>
            <a:srgbClr val="21295C"/>
          </a:solidFill>
          <a:ln/>
        </p:spPr>
        <p:txBody>
          <a:bodyPr/>
          <a:lstStyle/>
          <a:p>
            <a:endParaRPr lang="en-US"/>
          </a:p>
        </p:txBody>
      </p:sp>
      <p:sp>
        <p:nvSpPr>
          <p:cNvPr id="41" name="Text 39"/>
          <p:cNvSpPr/>
          <p:nvPr/>
        </p:nvSpPr>
        <p:spPr>
          <a:xfrm>
            <a:off x="640080" y="4764024"/>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42" name="Shape 40"/>
          <p:cNvSpPr/>
          <p:nvPr/>
        </p:nvSpPr>
        <p:spPr>
          <a:xfrm>
            <a:off x="1691640" y="4718304"/>
            <a:ext cx="4114800" cy="475488"/>
          </a:xfrm>
          <a:prstGeom prst="roundRect">
            <a:avLst>
              <a:gd name="adj" fmla="val 11538"/>
            </a:avLst>
          </a:prstGeom>
          <a:solidFill>
            <a:srgbClr val="1B9E8F"/>
          </a:solidFill>
          <a:ln/>
          <a:effectLst>
            <a:outerShdw blurRad="101600" dist="38100" dir="2700000" algn="bl" rotWithShape="0">
              <a:srgbClr val="000000">
                <a:alpha val="12000"/>
              </a:srgbClr>
            </a:outerShdw>
          </a:effectLst>
        </p:spPr>
        <p:txBody>
          <a:bodyPr/>
          <a:lstStyle/>
          <a:p>
            <a:endParaRPr lang="en-US"/>
          </a:p>
        </p:txBody>
      </p:sp>
      <p:sp>
        <p:nvSpPr>
          <p:cNvPr id="43" name="Text 41"/>
          <p:cNvSpPr/>
          <p:nvPr/>
        </p:nvSpPr>
        <p:spPr>
          <a:xfrm>
            <a:off x="1874520" y="4718304"/>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claim PENDING → item RESERVED</a:t>
            </a:r>
            <a:endParaRPr lang="en-US" sz="1150" dirty="0"/>
          </a:p>
        </p:txBody>
      </p:sp>
      <p:sp>
        <p:nvSpPr>
          <p:cNvPr id="44" name="Shape 42"/>
          <p:cNvSpPr/>
          <p:nvPr/>
        </p:nvSpPr>
        <p:spPr>
          <a:xfrm>
            <a:off x="3749040" y="5193792"/>
            <a:ext cx="0" cy="82296"/>
          </a:xfrm>
          <a:prstGeom prst="line">
            <a:avLst/>
          </a:prstGeom>
          <a:noFill/>
          <a:ln w="15875">
            <a:solidFill>
              <a:srgbClr val="5C6B7A"/>
            </a:solidFill>
            <a:prstDash val="solid"/>
            <a:tailEnd type="triangle"/>
          </a:ln>
        </p:spPr>
        <p:txBody>
          <a:bodyPr/>
          <a:lstStyle/>
          <a:p>
            <a:endParaRPr lang="en-US"/>
          </a:p>
        </p:txBody>
      </p:sp>
      <p:sp>
        <p:nvSpPr>
          <p:cNvPr id="45" name="Text 43"/>
          <p:cNvSpPr/>
          <p:nvPr/>
        </p:nvSpPr>
        <p:spPr>
          <a:xfrm>
            <a:off x="6172200" y="4718304"/>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Saga creates the claim and calls Item Service to reserve the item (semantic lock).</a:t>
            </a:r>
            <a:endParaRPr lang="en-US" sz="1000" dirty="0"/>
          </a:p>
        </p:txBody>
      </p:sp>
      <p:sp>
        <p:nvSpPr>
          <p:cNvPr id="46" name="Shape 44"/>
          <p:cNvSpPr/>
          <p:nvPr/>
        </p:nvSpPr>
        <p:spPr>
          <a:xfrm>
            <a:off x="640080" y="5321808"/>
            <a:ext cx="384048" cy="384048"/>
          </a:xfrm>
          <a:prstGeom prst="ellipse">
            <a:avLst/>
          </a:prstGeom>
          <a:solidFill>
            <a:srgbClr val="21295C"/>
          </a:solidFill>
          <a:ln/>
        </p:spPr>
        <p:txBody>
          <a:bodyPr/>
          <a:lstStyle/>
          <a:p>
            <a:endParaRPr lang="en-US"/>
          </a:p>
        </p:txBody>
      </p:sp>
      <p:sp>
        <p:nvSpPr>
          <p:cNvPr id="47" name="Text 45"/>
          <p:cNvSpPr/>
          <p:nvPr/>
        </p:nvSpPr>
        <p:spPr>
          <a:xfrm>
            <a:off x="640080" y="532180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8" name="Shape 46"/>
          <p:cNvSpPr/>
          <p:nvPr/>
        </p:nvSpPr>
        <p:spPr>
          <a:xfrm>
            <a:off x="1691640" y="5276088"/>
            <a:ext cx="4114800" cy="475488"/>
          </a:xfrm>
          <a:prstGeom prst="roundRect">
            <a:avLst>
              <a:gd name="adj" fmla="val 11538"/>
            </a:avLst>
          </a:prstGeom>
          <a:solidFill>
            <a:srgbClr val="21B6A8"/>
          </a:solidFill>
          <a:ln/>
          <a:effectLst>
            <a:outerShdw blurRad="101600" dist="38100" dir="2700000" algn="bl" rotWithShape="0">
              <a:srgbClr val="000000">
                <a:alpha val="12000"/>
              </a:srgbClr>
            </a:outerShdw>
          </a:effectLst>
        </p:spPr>
        <p:txBody>
          <a:bodyPr/>
          <a:lstStyle/>
          <a:p>
            <a:endParaRPr lang="en-US"/>
          </a:p>
        </p:txBody>
      </p:sp>
      <p:sp>
        <p:nvSpPr>
          <p:cNvPr id="49" name="Text 47"/>
          <p:cNvSpPr/>
          <p:nvPr/>
        </p:nvSpPr>
        <p:spPr>
          <a:xfrm>
            <a:off x="1874520" y="5276088"/>
            <a:ext cx="3749040" cy="475488"/>
          </a:xfrm>
          <a:prstGeom prst="rect">
            <a:avLst/>
          </a:prstGeom>
          <a:noFill/>
          <a:ln/>
        </p:spPr>
        <p:txBody>
          <a:bodyPr wrap="square" lIns="0" tIns="0" rIns="0" bIns="0" rtlCol="0" anchor="ctr"/>
          <a:lstStyle/>
          <a:p>
            <a:pPr marL="0" indent="0" algn="l">
              <a:buNone/>
            </a:pPr>
            <a:r>
              <a:rPr lang="en-US" sz="1150" b="1" dirty="0">
                <a:solidFill>
                  <a:srgbClr val="FFFFFF"/>
                </a:solidFill>
                <a:latin typeface="Courier New" pitchFamily="34" charset="0"/>
                <a:ea typeface="Courier New" pitchFamily="34" charset="-122"/>
                <a:cs typeface="Courier New" pitchFamily="34" charset="-120"/>
              </a:rPr>
              <a:t>Finder approves → item RECOVERED</a:t>
            </a:r>
            <a:endParaRPr lang="en-US" sz="1150" dirty="0"/>
          </a:p>
        </p:txBody>
      </p:sp>
      <p:sp>
        <p:nvSpPr>
          <p:cNvPr id="50" name="Text 48"/>
          <p:cNvSpPr/>
          <p:nvPr/>
        </p:nvSpPr>
        <p:spPr>
          <a:xfrm>
            <a:off x="6172200" y="5276088"/>
            <a:ext cx="5468112" cy="475488"/>
          </a:xfrm>
          <a:prstGeom prst="rect">
            <a:avLst/>
          </a:prstGeom>
          <a:noFill/>
          <a:ln/>
        </p:spPr>
        <p:txBody>
          <a:bodyPr wrap="square" lIns="0" tIns="0" rIns="0" bIns="0" rtlCol="0" anchor="ctr"/>
          <a:lstStyle/>
          <a:p>
            <a:pPr marL="0" indent="0">
              <a:buNone/>
            </a:pPr>
            <a:r>
              <a:rPr lang="en-US" sz="1000" i="1" dirty="0">
                <a:solidFill>
                  <a:srgbClr val="1B2430"/>
                </a:solidFill>
                <a:latin typeface="Calibri" pitchFamily="34" charset="0"/>
                <a:ea typeface="Calibri" pitchFamily="34" charset="-122"/>
                <a:cs typeface="Calibri" pitchFamily="34" charset="-120"/>
              </a:rPr>
              <a:t>ClaimApproved + ItemRecovered events published. Notification Service records alerts.</a:t>
            </a:r>
            <a:endParaRPr lang="en-US" sz="1000" dirty="0"/>
          </a:p>
        </p:txBody>
      </p:sp>
      <p:sp>
        <p:nvSpPr>
          <p:cNvPr id="51" name="Shape 49"/>
          <p:cNvSpPr/>
          <p:nvPr/>
        </p:nvSpPr>
        <p:spPr>
          <a:xfrm>
            <a:off x="548640" y="5907024"/>
            <a:ext cx="11091672" cy="0"/>
          </a:xfrm>
          <a:prstGeom prst="line">
            <a:avLst/>
          </a:prstGeom>
          <a:noFill/>
          <a:ln w="12700">
            <a:solidFill>
              <a:srgbClr val="E4ECF1"/>
            </a:solidFill>
            <a:prstDash val="solid"/>
          </a:ln>
        </p:spPr>
        <p:txBody>
          <a:bodyPr/>
          <a:lstStyle/>
          <a:p>
            <a:endParaRPr lang="en-US"/>
          </a:p>
        </p:txBody>
      </p:sp>
      <p:sp>
        <p:nvSpPr>
          <p:cNvPr id="52" name="Text 50"/>
          <p:cNvSpPr/>
          <p:nvPr/>
        </p:nvSpPr>
        <p:spPr>
          <a:xfrm>
            <a:off x="548640" y="5980176"/>
            <a:ext cx="11091672" cy="256032"/>
          </a:xfrm>
          <a:prstGeom prst="rect">
            <a:avLst/>
          </a:prstGeom>
          <a:noFill/>
          <a:ln/>
        </p:spPr>
        <p:txBody>
          <a:bodyPr wrap="square" rtlCol="0" anchor="ctr"/>
          <a:lstStyle/>
          <a:p>
            <a:pPr marL="0" indent="0" algn="ctr">
              <a:buNone/>
            </a:pPr>
            <a:r>
              <a:rPr lang="en-US" sz="1000" i="1" dirty="0">
                <a:solidFill>
                  <a:srgbClr val="5C6B7A"/>
                </a:solidFill>
                <a:latin typeface="Calibri" pitchFamily="34" charset="0"/>
                <a:ea typeface="Calibri" pitchFamily="34" charset="-122"/>
                <a:cs typeface="Calibri" pitchFamily="34" charset="-120"/>
              </a:rPr>
              <a:t>Compensation (rejection) path: Claim/Recovery calls Item Service to release the item back to MATCHED. See full Saga diagram →</a:t>
            </a:r>
            <a:endParaRPr lang="en-US" sz="1000" dirty="0"/>
          </a:p>
        </p:txBody>
      </p:sp>
      <p:sp>
        <p:nvSpPr>
          <p:cNvPr id="53" name="Text 51"/>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54" name="Text 52"/>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CORE TECHNIQUES</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Distributed Saga — Full Claim/Recovery Workflow</a:t>
            </a:r>
            <a:endParaRPr lang="en-US" sz="3000" dirty="0"/>
          </a:p>
        </p:txBody>
      </p:sp>
      <p:sp>
        <p:nvSpPr>
          <p:cNvPr id="4" name="Shape 2"/>
          <p:cNvSpPr/>
          <p:nvPr/>
        </p:nvSpPr>
        <p:spPr>
          <a:xfrm>
            <a:off x="411480" y="1371600"/>
            <a:ext cx="0" cy="4937760"/>
          </a:xfrm>
          <a:prstGeom prst="line">
            <a:avLst/>
          </a:prstGeom>
          <a:noFill/>
          <a:ln w="6350">
            <a:solidFill>
              <a:srgbClr val="E4ECF1"/>
            </a:solidFill>
            <a:prstDash val="solid"/>
          </a:ln>
        </p:spPr>
        <p:txBody>
          <a:bodyPr/>
          <a:lstStyle/>
          <a:p>
            <a:endParaRPr lang="en-US"/>
          </a:p>
        </p:txBody>
      </p:sp>
      <p:sp>
        <p:nvSpPr>
          <p:cNvPr id="5" name="Shape 3"/>
          <p:cNvSpPr/>
          <p:nvPr/>
        </p:nvSpPr>
        <p:spPr>
          <a:xfrm>
            <a:off x="795528" y="1371600"/>
            <a:ext cx="0" cy="4937760"/>
          </a:xfrm>
          <a:prstGeom prst="line">
            <a:avLst/>
          </a:prstGeom>
          <a:noFill/>
          <a:ln w="6350">
            <a:solidFill>
              <a:srgbClr val="E4ECF1"/>
            </a:solidFill>
            <a:prstDash val="solid"/>
          </a:ln>
        </p:spPr>
        <p:txBody>
          <a:bodyPr/>
          <a:lstStyle/>
          <a:p>
            <a:endParaRPr lang="en-US"/>
          </a:p>
        </p:txBody>
      </p:sp>
      <p:sp>
        <p:nvSpPr>
          <p:cNvPr id="6" name="Shape 4"/>
          <p:cNvSpPr/>
          <p:nvPr/>
        </p:nvSpPr>
        <p:spPr>
          <a:xfrm>
            <a:off x="1179576" y="1371600"/>
            <a:ext cx="0" cy="4937760"/>
          </a:xfrm>
          <a:prstGeom prst="line">
            <a:avLst/>
          </a:prstGeom>
          <a:noFill/>
          <a:ln w="6350">
            <a:solidFill>
              <a:srgbClr val="E4ECF1"/>
            </a:solidFill>
            <a:prstDash val="solid"/>
          </a:ln>
        </p:spPr>
        <p:txBody>
          <a:bodyPr/>
          <a:lstStyle/>
          <a:p>
            <a:endParaRPr lang="en-US"/>
          </a:p>
        </p:txBody>
      </p:sp>
      <p:sp>
        <p:nvSpPr>
          <p:cNvPr id="7" name="Shape 5"/>
          <p:cNvSpPr/>
          <p:nvPr/>
        </p:nvSpPr>
        <p:spPr>
          <a:xfrm>
            <a:off x="1563624" y="1371600"/>
            <a:ext cx="0" cy="4937760"/>
          </a:xfrm>
          <a:prstGeom prst="line">
            <a:avLst/>
          </a:prstGeom>
          <a:noFill/>
          <a:ln w="6350">
            <a:solidFill>
              <a:srgbClr val="E4ECF1"/>
            </a:solidFill>
            <a:prstDash val="solid"/>
          </a:ln>
        </p:spPr>
        <p:txBody>
          <a:bodyPr/>
          <a:lstStyle/>
          <a:p>
            <a:endParaRPr lang="en-US"/>
          </a:p>
        </p:txBody>
      </p:sp>
      <p:sp>
        <p:nvSpPr>
          <p:cNvPr id="8" name="Shape 6"/>
          <p:cNvSpPr/>
          <p:nvPr/>
        </p:nvSpPr>
        <p:spPr>
          <a:xfrm>
            <a:off x="1947672" y="1371600"/>
            <a:ext cx="0" cy="4937760"/>
          </a:xfrm>
          <a:prstGeom prst="line">
            <a:avLst/>
          </a:prstGeom>
          <a:noFill/>
          <a:ln w="6350">
            <a:solidFill>
              <a:srgbClr val="E4ECF1"/>
            </a:solidFill>
            <a:prstDash val="solid"/>
          </a:ln>
        </p:spPr>
        <p:txBody>
          <a:bodyPr/>
          <a:lstStyle/>
          <a:p>
            <a:endParaRPr lang="en-US"/>
          </a:p>
        </p:txBody>
      </p:sp>
      <p:sp>
        <p:nvSpPr>
          <p:cNvPr id="9" name="Shape 7"/>
          <p:cNvSpPr/>
          <p:nvPr/>
        </p:nvSpPr>
        <p:spPr>
          <a:xfrm>
            <a:off x="2331720" y="1371600"/>
            <a:ext cx="0" cy="4937760"/>
          </a:xfrm>
          <a:prstGeom prst="line">
            <a:avLst/>
          </a:prstGeom>
          <a:noFill/>
          <a:ln w="6350">
            <a:solidFill>
              <a:srgbClr val="E4ECF1"/>
            </a:solidFill>
            <a:prstDash val="solid"/>
          </a:ln>
        </p:spPr>
        <p:txBody>
          <a:bodyPr/>
          <a:lstStyle/>
          <a:p>
            <a:endParaRPr lang="en-US"/>
          </a:p>
        </p:txBody>
      </p:sp>
      <p:sp>
        <p:nvSpPr>
          <p:cNvPr id="10" name="Shape 8"/>
          <p:cNvSpPr/>
          <p:nvPr/>
        </p:nvSpPr>
        <p:spPr>
          <a:xfrm>
            <a:off x="2715768" y="1371600"/>
            <a:ext cx="0" cy="4937760"/>
          </a:xfrm>
          <a:prstGeom prst="line">
            <a:avLst/>
          </a:prstGeom>
          <a:noFill/>
          <a:ln w="6350">
            <a:solidFill>
              <a:srgbClr val="E4ECF1"/>
            </a:solidFill>
            <a:prstDash val="solid"/>
          </a:ln>
        </p:spPr>
        <p:txBody>
          <a:bodyPr/>
          <a:lstStyle/>
          <a:p>
            <a:endParaRPr lang="en-US"/>
          </a:p>
        </p:txBody>
      </p:sp>
      <p:sp>
        <p:nvSpPr>
          <p:cNvPr id="11" name="Shape 9"/>
          <p:cNvSpPr/>
          <p:nvPr/>
        </p:nvSpPr>
        <p:spPr>
          <a:xfrm>
            <a:off x="3099816" y="1371600"/>
            <a:ext cx="0" cy="4937760"/>
          </a:xfrm>
          <a:prstGeom prst="line">
            <a:avLst/>
          </a:prstGeom>
          <a:noFill/>
          <a:ln w="6350">
            <a:solidFill>
              <a:srgbClr val="E4ECF1"/>
            </a:solidFill>
            <a:prstDash val="solid"/>
          </a:ln>
        </p:spPr>
        <p:txBody>
          <a:bodyPr/>
          <a:lstStyle/>
          <a:p>
            <a:endParaRPr lang="en-US"/>
          </a:p>
        </p:txBody>
      </p:sp>
      <p:sp>
        <p:nvSpPr>
          <p:cNvPr id="12" name="Shape 10"/>
          <p:cNvSpPr/>
          <p:nvPr/>
        </p:nvSpPr>
        <p:spPr>
          <a:xfrm>
            <a:off x="3483864" y="1371600"/>
            <a:ext cx="0" cy="4937760"/>
          </a:xfrm>
          <a:prstGeom prst="line">
            <a:avLst/>
          </a:prstGeom>
          <a:noFill/>
          <a:ln w="6350">
            <a:solidFill>
              <a:srgbClr val="E4ECF1"/>
            </a:solidFill>
            <a:prstDash val="solid"/>
          </a:ln>
        </p:spPr>
        <p:txBody>
          <a:bodyPr/>
          <a:lstStyle/>
          <a:p>
            <a:endParaRPr lang="en-US"/>
          </a:p>
        </p:txBody>
      </p:sp>
      <p:sp>
        <p:nvSpPr>
          <p:cNvPr id="13" name="Shape 11"/>
          <p:cNvSpPr/>
          <p:nvPr/>
        </p:nvSpPr>
        <p:spPr>
          <a:xfrm>
            <a:off x="3867912" y="1371600"/>
            <a:ext cx="0" cy="4937760"/>
          </a:xfrm>
          <a:prstGeom prst="line">
            <a:avLst/>
          </a:prstGeom>
          <a:noFill/>
          <a:ln w="6350">
            <a:solidFill>
              <a:srgbClr val="E4ECF1"/>
            </a:solidFill>
            <a:prstDash val="solid"/>
          </a:ln>
        </p:spPr>
        <p:txBody>
          <a:bodyPr/>
          <a:lstStyle/>
          <a:p>
            <a:endParaRPr lang="en-US"/>
          </a:p>
        </p:txBody>
      </p:sp>
      <p:sp>
        <p:nvSpPr>
          <p:cNvPr id="14" name="Shape 12"/>
          <p:cNvSpPr/>
          <p:nvPr/>
        </p:nvSpPr>
        <p:spPr>
          <a:xfrm>
            <a:off x="4251960" y="1371600"/>
            <a:ext cx="0" cy="4937760"/>
          </a:xfrm>
          <a:prstGeom prst="line">
            <a:avLst/>
          </a:prstGeom>
          <a:noFill/>
          <a:ln w="6350">
            <a:solidFill>
              <a:srgbClr val="E4ECF1"/>
            </a:solidFill>
            <a:prstDash val="solid"/>
          </a:ln>
        </p:spPr>
        <p:txBody>
          <a:bodyPr/>
          <a:lstStyle/>
          <a:p>
            <a:endParaRPr lang="en-US"/>
          </a:p>
        </p:txBody>
      </p:sp>
      <p:sp>
        <p:nvSpPr>
          <p:cNvPr id="15" name="Shape 13"/>
          <p:cNvSpPr/>
          <p:nvPr/>
        </p:nvSpPr>
        <p:spPr>
          <a:xfrm>
            <a:off x="4636008" y="1371600"/>
            <a:ext cx="0" cy="4937760"/>
          </a:xfrm>
          <a:prstGeom prst="line">
            <a:avLst/>
          </a:prstGeom>
          <a:noFill/>
          <a:ln w="6350">
            <a:solidFill>
              <a:srgbClr val="E4ECF1"/>
            </a:solidFill>
            <a:prstDash val="solid"/>
          </a:ln>
        </p:spPr>
        <p:txBody>
          <a:bodyPr/>
          <a:lstStyle/>
          <a:p>
            <a:endParaRPr lang="en-US"/>
          </a:p>
        </p:txBody>
      </p:sp>
      <p:sp>
        <p:nvSpPr>
          <p:cNvPr id="16" name="Shape 14"/>
          <p:cNvSpPr/>
          <p:nvPr/>
        </p:nvSpPr>
        <p:spPr>
          <a:xfrm>
            <a:off x="5020056" y="1371600"/>
            <a:ext cx="0" cy="4937760"/>
          </a:xfrm>
          <a:prstGeom prst="line">
            <a:avLst/>
          </a:prstGeom>
          <a:noFill/>
          <a:ln w="6350">
            <a:solidFill>
              <a:srgbClr val="E4ECF1"/>
            </a:solidFill>
            <a:prstDash val="solid"/>
          </a:ln>
        </p:spPr>
        <p:txBody>
          <a:bodyPr/>
          <a:lstStyle/>
          <a:p>
            <a:endParaRPr lang="en-US"/>
          </a:p>
        </p:txBody>
      </p:sp>
      <p:sp>
        <p:nvSpPr>
          <p:cNvPr id="17" name="Shape 15"/>
          <p:cNvSpPr/>
          <p:nvPr/>
        </p:nvSpPr>
        <p:spPr>
          <a:xfrm>
            <a:off x="5404104" y="1371600"/>
            <a:ext cx="0" cy="4937760"/>
          </a:xfrm>
          <a:prstGeom prst="line">
            <a:avLst/>
          </a:prstGeom>
          <a:noFill/>
          <a:ln w="6350">
            <a:solidFill>
              <a:srgbClr val="E4ECF1"/>
            </a:solidFill>
            <a:prstDash val="solid"/>
          </a:ln>
        </p:spPr>
        <p:txBody>
          <a:bodyPr/>
          <a:lstStyle/>
          <a:p>
            <a:endParaRPr lang="en-US"/>
          </a:p>
        </p:txBody>
      </p:sp>
      <p:sp>
        <p:nvSpPr>
          <p:cNvPr id="18" name="Shape 16"/>
          <p:cNvSpPr/>
          <p:nvPr/>
        </p:nvSpPr>
        <p:spPr>
          <a:xfrm>
            <a:off x="5788152" y="1371600"/>
            <a:ext cx="0" cy="4937760"/>
          </a:xfrm>
          <a:prstGeom prst="line">
            <a:avLst/>
          </a:prstGeom>
          <a:noFill/>
          <a:ln w="6350">
            <a:solidFill>
              <a:srgbClr val="E4ECF1"/>
            </a:solidFill>
            <a:prstDash val="solid"/>
          </a:ln>
        </p:spPr>
        <p:txBody>
          <a:bodyPr/>
          <a:lstStyle/>
          <a:p>
            <a:endParaRPr lang="en-US"/>
          </a:p>
        </p:txBody>
      </p:sp>
      <p:sp>
        <p:nvSpPr>
          <p:cNvPr id="19" name="Shape 17"/>
          <p:cNvSpPr/>
          <p:nvPr/>
        </p:nvSpPr>
        <p:spPr>
          <a:xfrm>
            <a:off x="6172200" y="1371600"/>
            <a:ext cx="0" cy="4937760"/>
          </a:xfrm>
          <a:prstGeom prst="line">
            <a:avLst/>
          </a:prstGeom>
          <a:noFill/>
          <a:ln w="6350">
            <a:solidFill>
              <a:srgbClr val="E4ECF1"/>
            </a:solidFill>
            <a:prstDash val="solid"/>
          </a:ln>
        </p:spPr>
        <p:txBody>
          <a:bodyPr/>
          <a:lstStyle/>
          <a:p>
            <a:endParaRPr lang="en-US"/>
          </a:p>
        </p:txBody>
      </p:sp>
      <p:sp>
        <p:nvSpPr>
          <p:cNvPr id="20" name="Shape 18"/>
          <p:cNvSpPr/>
          <p:nvPr/>
        </p:nvSpPr>
        <p:spPr>
          <a:xfrm>
            <a:off x="6556248" y="1371600"/>
            <a:ext cx="0" cy="4937760"/>
          </a:xfrm>
          <a:prstGeom prst="line">
            <a:avLst/>
          </a:prstGeom>
          <a:noFill/>
          <a:ln w="6350">
            <a:solidFill>
              <a:srgbClr val="E4ECF1"/>
            </a:solidFill>
            <a:prstDash val="solid"/>
          </a:ln>
        </p:spPr>
        <p:txBody>
          <a:bodyPr/>
          <a:lstStyle/>
          <a:p>
            <a:endParaRPr lang="en-US"/>
          </a:p>
        </p:txBody>
      </p:sp>
      <p:sp>
        <p:nvSpPr>
          <p:cNvPr id="21" name="Shape 19"/>
          <p:cNvSpPr/>
          <p:nvPr/>
        </p:nvSpPr>
        <p:spPr>
          <a:xfrm>
            <a:off x="6940296" y="1371600"/>
            <a:ext cx="0" cy="4937760"/>
          </a:xfrm>
          <a:prstGeom prst="line">
            <a:avLst/>
          </a:prstGeom>
          <a:noFill/>
          <a:ln w="6350">
            <a:solidFill>
              <a:srgbClr val="E4ECF1"/>
            </a:solidFill>
            <a:prstDash val="solid"/>
          </a:ln>
        </p:spPr>
        <p:txBody>
          <a:bodyPr/>
          <a:lstStyle/>
          <a:p>
            <a:endParaRPr lang="en-US"/>
          </a:p>
        </p:txBody>
      </p:sp>
      <p:sp>
        <p:nvSpPr>
          <p:cNvPr id="22" name="Shape 20"/>
          <p:cNvSpPr/>
          <p:nvPr/>
        </p:nvSpPr>
        <p:spPr>
          <a:xfrm>
            <a:off x="7324344" y="1371600"/>
            <a:ext cx="0" cy="4937760"/>
          </a:xfrm>
          <a:prstGeom prst="line">
            <a:avLst/>
          </a:prstGeom>
          <a:noFill/>
          <a:ln w="6350">
            <a:solidFill>
              <a:srgbClr val="E4ECF1"/>
            </a:solidFill>
            <a:prstDash val="solid"/>
          </a:ln>
        </p:spPr>
        <p:txBody>
          <a:bodyPr/>
          <a:lstStyle/>
          <a:p>
            <a:endParaRPr lang="en-US"/>
          </a:p>
        </p:txBody>
      </p:sp>
      <p:sp>
        <p:nvSpPr>
          <p:cNvPr id="23" name="Shape 21"/>
          <p:cNvSpPr/>
          <p:nvPr/>
        </p:nvSpPr>
        <p:spPr>
          <a:xfrm>
            <a:off x="7708392" y="1371600"/>
            <a:ext cx="0" cy="4937760"/>
          </a:xfrm>
          <a:prstGeom prst="line">
            <a:avLst/>
          </a:prstGeom>
          <a:noFill/>
          <a:ln w="6350">
            <a:solidFill>
              <a:srgbClr val="E4ECF1"/>
            </a:solidFill>
            <a:prstDash val="solid"/>
          </a:ln>
        </p:spPr>
        <p:txBody>
          <a:bodyPr/>
          <a:lstStyle/>
          <a:p>
            <a:endParaRPr lang="en-US"/>
          </a:p>
        </p:txBody>
      </p:sp>
      <p:sp>
        <p:nvSpPr>
          <p:cNvPr id="24" name="Shape 22"/>
          <p:cNvSpPr/>
          <p:nvPr/>
        </p:nvSpPr>
        <p:spPr>
          <a:xfrm>
            <a:off x="8092440" y="1371600"/>
            <a:ext cx="0" cy="4937760"/>
          </a:xfrm>
          <a:prstGeom prst="line">
            <a:avLst/>
          </a:prstGeom>
          <a:noFill/>
          <a:ln w="6350">
            <a:solidFill>
              <a:srgbClr val="E4ECF1"/>
            </a:solidFill>
            <a:prstDash val="solid"/>
          </a:ln>
        </p:spPr>
        <p:txBody>
          <a:bodyPr/>
          <a:lstStyle/>
          <a:p>
            <a:endParaRPr lang="en-US"/>
          </a:p>
        </p:txBody>
      </p:sp>
      <p:sp>
        <p:nvSpPr>
          <p:cNvPr id="25" name="Shape 23"/>
          <p:cNvSpPr/>
          <p:nvPr/>
        </p:nvSpPr>
        <p:spPr>
          <a:xfrm>
            <a:off x="8476488" y="1371600"/>
            <a:ext cx="0" cy="4937760"/>
          </a:xfrm>
          <a:prstGeom prst="line">
            <a:avLst/>
          </a:prstGeom>
          <a:noFill/>
          <a:ln w="6350">
            <a:solidFill>
              <a:srgbClr val="E4ECF1"/>
            </a:solidFill>
            <a:prstDash val="solid"/>
          </a:ln>
        </p:spPr>
        <p:txBody>
          <a:bodyPr/>
          <a:lstStyle/>
          <a:p>
            <a:endParaRPr lang="en-US"/>
          </a:p>
        </p:txBody>
      </p:sp>
      <p:sp>
        <p:nvSpPr>
          <p:cNvPr id="26" name="Shape 24"/>
          <p:cNvSpPr/>
          <p:nvPr/>
        </p:nvSpPr>
        <p:spPr>
          <a:xfrm>
            <a:off x="8860536" y="1371600"/>
            <a:ext cx="0" cy="4937760"/>
          </a:xfrm>
          <a:prstGeom prst="line">
            <a:avLst/>
          </a:prstGeom>
          <a:noFill/>
          <a:ln w="6350">
            <a:solidFill>
              <a:srgbClr val="E4ECF1"/>
            </a:solidFill>
            <a:prstDash val="solid"/>
          </a:ln>
        </p:spPr>
        <p:txBody>
          <a:bodyPr/>
          <a:lstStyle/>
          <a:p>
            <a:endParaRPr lang="en-US"/>
          </a:p>
        </p:txBody>
      </p:sp>
      <p:sp>
        <p:nvSpPr>
          <p:cNvPr id="27" name="Shape 25"/>
          <p:cNvSpPr/>
          <p:nvPr/>
        </p:nvSpPr>
        <p:spPr>
          <a:xfrm>
            <a:off x="9244584" y="1371600"/>
            <a:ext cx="0" cy="4937760"/>
          </a:xfrm>
          <a:prstGeom prst="line">
            <a:avLst/>
          </a:prstGeom>
          <a:noFill/>
          <a:ln w="6350">
            <a:solidFill>
              <a:srgbClr val="E4ECF1"/>
            </a:solidFill>
            <a:prstDash val="solid"/>
          </a:ln>
        </p:spPr>
        <p:txBody>
          <a:bodyPr/>
          <a:lstStyle/>
          <a:p>
            <a:endParaRPr lang="en-US"/>
          </a:p>
        </p:txBody>
      </p:sp>
      <p:sp>
        <p:nvSpPr>
          <p:cNvPr id="28" name="Shape 26"/>
          <p:cNvSpPr/>
          <p:nvPr/>
        </p:nvSpPr>
        <p:spPr>
          <a:xfrm>
            <a:off x="9628632" y="1371600"/>
            <a:ext cx="0" cy="4937760"/>
          </a:xfrm>
          <a:prstGeom prst="line">
            <a:avLst/>
          </a:prstGeom>
          <a:noFill/>
          <a:ln w="6350">
            <a:solidFill>
              <a:srgbClr val="E4ECF1"/>
            </a:solidFill>
            <a:prstDash val="solid"/>
          </a:ln>
        </p:spPr>
        <p:txBody>
          <a:bodyPr/>
          <a:lstStyle/>
          <a:p>
            <a:endParaRPr lang="en-US"/>
          </a:p>
        </p:txBody>
      </p:sp>
      <p:sp>
        <p:nvSpPr>
          <p:cNvPr id="29" name="Shape 27"/>
          <p:cNvSpPr/>
          <p:nvPr/>
        </p:nvSpPr>
        <p:spPr>
          <a:xfrm>
            <a:off x="10012680" y="1371600"/>
            <a:ext cx="0" cy="4937760"/>
          </a:xfrm>
          <a:prstGeom prst="line">
            <a:avLst/>
          </a:prstGeom>
          <a:noFill/>
          <a:ln w="6350">
            <a:solidFill>
              <a:srgbClr val="E4ECF1"/>
            </a:solidFill>
            <a:prstDash val="solid"/>
          </a:ln>
        </p:spPr>
        <p:txBody>
          <a:bodyPr/>
          <a:lstStyle/>
          <a:p>
            <a:endParaRPr lang="en-US"/>
          </a:p>
        </p:txBody>
      </p:sp>
      <p:sp>
        <p:nvSpPr>
          <p:cNvPr id="30" name="Shape 28"/>
          <p:cNvSpPr/>
          <p:nvPr/>
        </p:nvSpPr>
        <p:spPr>
          <a:xfrm>
            <a:off x="10396728" y="1371600"/>
            <a:ext cx="0" cy="4937760"/>
          </a:xfrm>
          <a:prstGeom prst="line">
            <a:avLst/>
          </a:prstGeom>
          <a:noFill/>
          <a:ln w="6350">
            <a:solidFill>
              <a:srgbClr val="E4ECF1"/>
            </a:solidFill>
            <a:prstDash val="solid"/>
          </a:ln>
        </p:spPr>
        <p:txBody>
          <a:bodyPr/>
          <a:lstStyle/>
          <a:p>
            <a:endParaRPr lang="en-US"/>
          </a:p>
        </p:txBody>
      </p:sp>
      <p:sp>
        <p:nvSpPr>
          <p:cNvPr id="31" name="Shape 29"/>
          <p:cNvSpPr/>
          <p:nvPr/>
        </p:nvSpPr>
        <p:spPr>
          <a:xfrm>
            <a:off x="10780776" y="1371600"/>
            <a:ext cx="0" cy="4937760"/>
          </a:xfrm>
          <a:prstGeom prst="line">
            <a:avLst/>
          </a:prstGeom>
          <a:noFill/>
          <a:ln w="6350">
            <a:solidFill>
              <a:srgbClr val="E4ECF1"/>
            </a:solidFill>
            <a:prstDash val="solid"/>
          </a:ln>
        </p:spPr>
        <p:txBody>
          <a:bodyPr/>
          <a:lstStyle/>
          <a:p>
            <a:endParaRPr lang="en-US"/>
          </a:p>
        </p:txBody>
      </p:sp>
      <p:sp>
        <p:nvSpPr>
          <p:cNvPr id="32" name="Shape 30"/>
          <p:cNvSpPr/>
          <p:nvPr/>
        </p:nvSpPr>
        <p:spPr>
          <a:xfrm>
            <a:off x="11164824" y="1371600"/>
            <a:ext cx="0" cy="4937760"/>
          </a:xfrm>
          <a:prstGeom prst="line">
            <a:avLst/>
          </a:prstGeom>
          <a:noFill/>
          <a:ln w="6350">
            <a:solidFill>
              <a:srgbClr val="E4ECF1"/>
            </a:solidFill>
            <a:prstDash val="solid"/>
          </a:ln>
        </p:spPr>
        <p:txBody>
          <a:bodyPr/>
          <a:lstStyle/>
          <a:p>
            <a:endParaRPr lang="en-US"/>
          </a:p>
        </p:txBody>
      </p:sp>
      <p:sp>
        <p:nvSpPr>
          <p:cNvPr id="33" name="Shape 31"/>
          <p:cNvSpPr/>
          <p:nvPr/>
        </p:nvSpPr>
        <p:spPr>
          <a:xfrm>
            <a:off x="11548872" y="1371600"/>
            <a:ext cx="0" cy="4937760"/>
          </a:xfrm>
          <a:prstGeom prst="line">
            <a:avLst/>
          </a:prstGeom>
          <a:noFill/>
          <a:ln w="6350">
            <a:solidFill>
              <a:srgbClr val="E4ECF1"/>
            </a:solidFill>
            <a:prstDash val="solid"/>
          </a:ln>
        </p:spPr>
        <p:txBody>
          <a:bodyPr/>
          <a:lstStyle/>
          <a:p>
            <a:endParaRPr lang="en-US"/>
          </a:p>
        </p:txBody>
      </p:sp>
      <p:sp>
        <p:nvSpPr>
          <p:cNvPr id="34" name="Shape 32"/>
          <p:cNvSpPr/>
          <p:nvPr/>
        </p:nvSpPr>
        <p:spPr>
          <a:xfrm>
            <a:off x="411480" y="1371600"/>
            <a:ext cx="11365992" cy="0"/>
          </a:xfrm>
          <a:prstGeom prst="line">
            <a:avLst/>
          </a:prstGeom>
          <a:noFill/>
          <a:ln w="6350">
            <a:solidFill>
              <a:srgbClr val="E4ECF1"/>
            </a:solidFill>
            <a:prstDash val="solid"/>
          </a:ln>
        </p:spPr>
        <p:txBody>
          <a:bodyPr/>
          <a:lstStyle/>
          <a:p>
            <a:endParaRPr lang="en-US"/>
          </a:p>
        </p:txBody>
      </p:sp>
      <p:sp>
        <p:nvSpPr>
          <p:cNvPr id="35" name="Shape 33"/>
          <p:cNvSpPr/>
          <p:nvPr/>
        </p:nvSpPr>
        <p:spPr>
          <a:xfrm>
            <a:off x="411480" y="1755648"/>
            <a:ext cx="11365992" cy="0"/>
          </a:xfrm>
          <a:prstGeom prst="line">
            <a:avLst/>
          </a:prstGeom>
          <a:noFill/>
          <a:ln w="6350">
            <a:solidFill>
              <a:srgbClr val="E4ECF1"/>
            </a:solidFill>
            <a:prstDash val="solid"/>
          </a:ln>
        </p:spPr>
        <p:txBody>
          <a:bodyPr/>
          <a:lstStyle/>
          <a:p>
            <a:endParaRPr lang="en-US"/>
          </a:p>
        </p:txBody>
      </p:sp>
      <p:sp>
        <p:nvSpPr>
          <p:cNvPr id="36" name="Shape 34"/>
          <p:cNvSpPr/>
          <p:nvPr/>
        </p:nvSpPr>
        <p:spPr>
          <a:xfrm>
            <a:off x="411480" y="2139696"/>
            <a:ext cx="11365992" cy="0"/>
          </a:xfrm>
          <a:prstGeom prst="line">
            <a:avLst/>
          </a:prstGeom>
          <a:noFill/>
          <a:ln w="6350">
            <a:solidFill>
              <a:srgbClr val="E4ECF1"/>
            </a:solidFill>
            <a:prstDash val="solid"/>
          </a:ln>
        </p:spPr>
        <p:txBody>
          <a:bodyPr/>
          <a:lstStyle/>
          <a:p>
            <a:endParaRPr lang="en-US"/>
          </a:p>
        </p:txBody>
      </p:sp>
      <p:sp>
        <p:nvSpPr>
          <p:cNvPr id="37" name="Shape 35"/>
          <p:cNvSpPr/>
          <p:nvPr/>
        </p:nvSpPr>
        <p:spPr>
          <a:xfrm>
            <a:off x="411480" y="2523744"/>
            <a:ext cx="11365992" cy="0"/>
          </a:xfrm>
          <a:prstGeom prst="line">
            <a:avLst/>
          </a:prstGeom>
          <a:noFill/>
          <a:ln w="6350">
            <a:solidFill>
              <a:srgbClr val="E4ECF1"/>
            </a:solidFill>
            <a:prstDash val="solid"/>
          </a:ln>
        </p:spPr>
        <p:txBody>
          <a:bodyPr/>
          <a:lstStyle/>
          <a:p>
            <a:endParaRPr lang="en-US"/>
          </a:p>
        </p:txBody>
      </p:sp>
      <p:sp>
        <p:nvSpPr>
          <p:cNvPr id="38" name="Shape 36"/>
          <p:cNvSpPr/>
          <p:nvPr/>
        </p:nvSpPr>
        <p:spPr>
          <a:xfrm>
            <a:off x="411480" y="2907792"/>
            <a:ext cx="11365992" cy="0"/>
          </a:xfrm>
          <a:prstGeom prst="line">
            <a:avLst/>
          </a:prstGeom>
          <a:noFill/>
          <a:ln w="6350">
            <a:solidFill>
              <a:srgbClr val="E4ECF1"/>
            </a:solidFill>
            <a:prstDash val="solid"/>
          </a:ln>
        </p:spPr>
        <p:txBody>
          <a:bodyPr/>
          <a:lstStyle/>
          <a:p>
            <a:endParaRPr lang="en-US"/>
          </a:p>
        </p:txBody>
      </p:sp>
      <p:sp>
        <p:nvSpPr>
          <p:cNvPr id="39" name="Shape 37"/>
          <p:cNvSpPr/>
          <p:nvPr/>
        </p:nvSpPr>
        <p:spPr>
          <a:xfrm>
            <a:off x="411480" y="3291840"/>
            <a:ext cx="11365992" cy="0"/>
          </a:xfrm>
          <a:prstGeom prst="line">
            <a:avLst/>
          </a:prstGeom>
          <a:noFill/>
          <a:ln w="6350">
            <a:solidFill>
              <a:srgbClr val="E4ECF1"/>
            </a:solidFill>
            <a:prstDash val="solid"/>
          </a:ln>
        </p:spPr>
        <p:txBody>
          <a:bodyPr/>
          <a:lstStyle/>
          <a:p>
            <a:endParaRPr lang="en-US"/>
          </a:p>
        </p:txBody>
      </p:sp>
      <p:sp>
        <p:nvSpPr>
          <p:cNvPr id="40" name="Shape 38"/>
          <p:cNvSpPr/>
          <p:nvPr/>
        </p:nvSpPr>
        <p:spPr>
          <a:xfrm>
            <a:off x="411480" y="3675888"/>
            <a:ext cx="11365992" cy="0"/>
          </a:xfrm>
          <a:prstGeom prst="line">
            <a:avLst/>
          </a:prstGeom>
          <a:noFill/>
          <a:ln w="6350">
            <a:solidFill>
              <a:srgbClr val="E4ECF1"/>
            </a:solidFill>
            <a:prstDash val="solid"/>
          </a:ln>
        </p:spPr>
        <p:txBody>
          <a:bodyPr/>
          <a:lstStyle/>
          <a:p>
            <a:endParaRPr lang="en-US"/>
          </a:p>
        </p:txBody>
      </p:sp>
      <p:sp>
        <p:nvSpPr>
          <p:cNvPr id="41" name="Shape 39"/>
          <p:cNvSpPr/>
          <p:nvPr/>
        </p:nvSpPr>
        <p:spPr>
          <a:xfrm>
            <a:off x="411480" y="4059936"/>
            <a:ext cx="11365992" cy="0"/>
          </a:xfrm>
          <a:prstGeom prst="line">
            <a:avLst/>
          </a:prstGeom>
          <a:noFill/>
          <a:ln w="6350">
            <a:solidFill>
              <a:srgbClr val="E4ECF1"/>
            </a:solidFill>
            <a:prstDash val="solid"/>
          </a:ln>
        </p:spPr>
        <p:txBody>
          <a:bodyPr/>
          <a:lstStyle/>
          <a:p>
            <a:endParaRPr lang="en-US"/>
          </a:p>
        </p:txBody>
      </p:sp>
      <p:sp>
        <p:nvSpPr>
          <p:cNvPr id="42" name="Shape 40"/>
          <p:cNvSpPr/>
          <p:nvPr/>
        </p:nvSpPr>
        <p:spPr>
          <a:xfrm>
            <a:off x="411480" y="4443984"/>
            <a:ext cx="11365992" cy="0"/>
          </a:xfrm>
          <a:prstGeom prst="line">
            <a:avLst/>
          </a:prstGeom>
          <a:noFill/>
          <a:ln w="6350">
            <a:solidFill>
              <a:srgbClr val="E4ECF1"/>
            </a:solidFill>
            <a:prstDash val="solid"/>
          </a:ln>
        </p:spPr>
        <p:txBody>
          <a:bodyPr/>
          <a:lstStyle/>
          <a:p>
            <a:endParaRPr lang="en-US"/>
          </a:p>
        </p:txBody>
      </p:sp>
      <p:sp>
        <p:nvSpPr>
          <p:cNvPr id="43" name="Shape 41"/>
          <p:cNvSpPr/>
          <p:nvPr/>
        </p:nvSpPr>
        <p:spPr>
          <a:xfrm>
            <a:off x="411480" y="4828032"/>
            <a:ext cx="11365992" cy="0"/>
          </a:xfrm>
          <a:prstGeom prst="line">
            <a:avLst/>
          </a:prstGeom>
          <a:noFill/>
          <a:ln w="6350">
            <a:solidFill>
              <a:srgbClr val="E4ECF1"/>
            </a:solidFill>
            <a:prstDash val="solid"/>
          </a:ln>
        </p:spPr>
        <p:txBody>
          <a:bodyPr/>
          <a:lstStyle/>
          <a:p>
            <a:endParaRPr lang="en-US"/>
          </a:p>
        </p:txBody>
      </p:sp>
      <p:sp>
        <p:nvSpPr>
          <p:cNvPr id="44" name="Shape 42"/>
          <p:cNvSpPr/>
          <p:nvPr/>
        </p:nvSpPr>
        <p:spPr>
          <a:xfrm>
            <a:off x="411480" y="5212080"/>
            <a:ext cx="11365992" cy="0"/>
          </a:xfrm>
          <a:prstGeom prst="line">
            <a:avLst/>
          </a:prstGeom>
          <a:noFill/>
          <a:ln w="6350">
            <a:solidFill>
              <a:srgbClr val="E4ECF1"/>
            </a:solidFill>
            <a:prstDash val="solid"/>
          </a:ln>
        </p:spPr>
        <p:txBody>
          <a:bodyPr/>
          <a:lstStyle/>
          <a:p>
            <a:endParaRPr lang="en-US"/>
          </a:p>
        </p:txBody>
      </p:sp>
      <p:sp>
        <p:nvSpPr>
          <p:cNvPr id="45" name="Shape 43"/>
          <p:cNvSpPr/>
          <p:nvPr/>
        </p:nvSpPr>
        <p:spPr>
          <a:xfrm>
            <a:off x="411480" y="5596128"/>
            <a:ext cx="11365992" cy="0"/>
          </a:xfrm>
          <a:prstGeom prst="line">
            <a:avLst/>
          </a:prstGeom>
          <a:noFill/>
          <a:ln w="6350">
            <a:solidFill>
              <a:srgbClr val="E4ECF1"/>
            </a:solidFill>
            <a:prstDash val="solid"/>
          </a:ln>
        </p:spPr>
        <p:txBody>
          <a:bodyPr/>
          <a:lstStyle/>
          <a:p>
            <a:endParaRPr lang="en-US"/>
          </a:p>
        </p:txBody>
      </p:sp>
      <p:sp>
        <p:nvSpPr>
          <p:cNvPr id="46" name="Shape 44"/>
          <p:cNvSpPr/>
          <p:nvPr/>
        </p:nvSpPr>
        <p:spPr>
          <a:xfrm>
            <a:off x="411480" y="5980176"/>
            <a:ext cx="11365992" cy="0"/>
          </a:xfrm>
          <a:prstGeom prst="line">
            <a:avLst/>
          </a:prstGeom>
          <a:noFill/>
          <a:ln w="6350">
            <a:solidFill>
              <a:srgbClr val="E4ECF1"/>
            </a:solidFill>
            <a:prstDash val="solid"/>
          </a:ln>
        </p:spPr>
        <p:txBody>
          <a:bodyPr/>
          <a:lstStyle/>
          <a:p>
            <a:endParaRPr lang="en-US"/>
          </a:p>
        </p:txBody>
      </p:sp>
      <p:sp>
        <p:nvSpPr>
          <p:cNvPr id="47" name="Shape 45"/>
          <p:cNvSpPr/>
          <p:nvPr/>
        </p:nvSpPr>
        <p:spPr>
          <a:xfrm>
            <a:off x="411480" y="1408176"/>
            <a:ext cx="1645920" cy="411480"/>
          </a:xfrm>
          <a:prstGeom prst="roundRect">
            <a:avLst>
              <a:gd name="adj" fmla="val 11111"/>
            </a:avLst>
          </a:prstGeom>
          <a:solidFill>
            <a:srgbClr val="5C6B7A"/>
          </a:solidFill>
          <a:ln/>
        </p:spPr>
        <p:txBody>
          <a:bodyPr/>
          <a:lstStyle/>
          <a:p>
            <a:endParaRPr lang="en-US"/>
          </a:p>
        </p:txBody>
      </p:sp>
      <p:sp>
        <p:nvSpPr>
          <p:cNvPr id="48" name="Text 46"/>
          <p:cNvSpPr/>
          <p:nvPr/>
        </p:nvSpPr>
        <p:spPr>
          <a:xfrm>
            <a:off x="411480" y="1408176"/>
            <a:ext cx="164592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Client</a:t>
            </a:r>
            <a:endParaRPr lang="en-US" sz="1050" dirty="0"/>
          </a:p>
        </p:txBody>
      </p:sp>
      <p:sp>
        <p:nvSpPr>
          <p:cNvPr id="49" name="Shape 47"/>
          <p:cNvSpPr/>
          <p:nvPr/>
        </p:nvSpPr>
        <p:spPr>
          <a:xfrm>
            <a:off x="1234440" y="1819656"/>
            <a:ext cx="0" cy="4398264"/>
          </a:xfrm>
          <a:prstGeom prst="line">
            <a:avLst/>
          </a:prstGeom>
          <a:noFill/>
          <a:ln w="12700">
            <a:solidFill>
              <a:srgbClr val="5C6B7A"/>
            </a:solidFill>
            <a:prstDash val="dash"/>
          </a:ln>
        </p:spPr>
        <p:txBody>
          <a:bodyPr/>
          <a:lstStyle/>
          <a:p>
            <a:endParaRPr lang="en-US"/>
          </a:p>
        </p:txBody>
      </p:sp>
      <p:sp>
        <p:nvSpPr>
          <p:cNvPr id="50" name="Shape 48"/>
          <p:cNvSpPr/>
          <p:nvPr/>
        </p:nvSpPr>
        <p:spPr>
          <a:xfrm>
            <a:off x="3651504" y="1408176"/>
            <a:ext cx="1645920" cy="411480"/>
          </a:xfrm>
          <a:prstGeom prst="roundRect">
            <a:avLst>
              <a:gd name="adj" fmla="val 11111"/>
            </a:avLst>
          </a:prstGeom>
          <a:solidFill>
            <a:srgbClr val="1C7293"/>
          </a:solidFill>
          <a:ln/>
        </p:spPr>
        <p:txBody>
          <a:bodyPr/>
          <a:lstStyle/>
          <a:p>
            <a:endParaRPr lang="en-US"/>
          </a:p>
        </p:txBody>
      </p:sp>
      <p:sp>
        <p:nvSpPr>
          <p:cNvPr id="51" name="Text 49"/>
          <p:cNvSpPr/>
          <p:nvPr/>
        </p:nvSpPr>
        <p:spPr>
          <a:xfrm>
            <a:off x="3651504" y="1408176"/>
            <a:ext cx="164592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Claim/Recovery</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Service :8002</a:t>
            </a:r>
            <a:endParaRPr lang="en-US" sz="1050" dirty="0"/>
          </a:p>
        </p:txBody>
      </p:sp>
      <p:sp>
        <p:nvSpPr>
          <p:cNvPr id="52" name="Shape 50"/>
          <p:cNvSpPr/>
          <p:nvPr/>
        </p:nvSpPr>
        <p:spPr>
          <a:xfrm>
            <a:off x="4474464" y="1819656"/>
            <a:ext cx="0" cy="4398264"/>
          </a:xfrm>
          <a:prstGeom prst="line">
            <a:avLst/>
          </a:prstGeom>
          <a:noFill/>
          <a:ln w="12700">
            <a:solidFill>
              <a:srgbClr val="5C6B7A"/>
            </a:solidFill>
            <a:prstDash val="dash"/>
          </a:ln>
        </p:spPr>
        <p:txBody>
          <a:bodyPr/>
          <a:lstStyle/>
          <a:p>
            <a:endParaRPr lang="en-US"/>
          </a:p>
        </p:txBody>
      </p:sp>
      <p:sp>
        <p:nvSpPr>
          <p:cNvPr id="53" name="Shape 51"/>
          <p:cNvSpPr/>
          <p:nvPr/>
        </p:nvSpPr>
        <p:spPr>
          <a:xfrm>
            <a:off x="6891528" y="1408176"/>
            <a:ext cx="1645920" cy="411480"/>
          </a:xfrm>
          <a:prstGeom prst="roundRect">
            <a:avLst>
              <a:gd name="adj" fmla="val 11111"/>
            </a:avLst>
          </a:prstGeom>
          <a:solidFill>
            <a:srgbClr val="065A82"/>
          </a:solidFill>
          <a:ln/>
        </p:spPr>
        <p:txBody>
          <a:bodyPr/>
          <a:lstStyle/>
          <a:p>
            <a:endParaRPr lang="en-US"/>
          </a:p>
        </p:txBody>
      </p:sp>
      <p:sp>
        <p:nvSpPr>
          <p:cNvPr id="54" name="Text 52"/>
          <p:cNvSpPr/>
          <p:nvPr/>
        </p:nvSpPr>
        <p:spPr>
          <a:xfrm>
            <a:off x="6891528" y="1408176"/>
            <a:ext cx="164592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Item Service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:8001</a:t>
            </a:r>
            <a:endParaRPr lang="en-US" sz="1050" dirty="0"/>
          </a:p>
        </p:txBody>
      </p:sp>
      <p:sp>
        <p:nvSpPr>
          <p:cNvPr id="55" name="Shape 53"/>
          <p:cNvSpPr/>
          <p:nvPr/>
        </p:nvSpPr>
        <p:spPr>
          <a:xfrm>
            <a:off x="7714488" y="1819656"/>
            <a:ext cx="0" cy="4398264"/>
          </a:xfrm>
          <a:prstGeom prst="line">
            <a:avLst/>
          </a:prstGeom>
          <a:noFill/>
          <a:ln w="12700">
            <a:solidFill>
              <a:srgbClr val="5C6B7A"/>
            </a:solidFill>
            <a:prstDash val="dash"/>
          </a:ln>
        </p:spPr>
        <p:txBody>
          <a:bodyPr/>
          <a:lstStyle/>
          <a:p>
            <a:endParaRPr lang="en-US"/>
          </a:p>
        </p:txBody>
      </p:sp>
      <p:sp>
        <p:nvSpPr>
          <p:cNvPr id="56" name="Shape 54"/>
          <p:cNvSpPr/>
          <p:nvPr/>
        </p:nvSpPr>
        <p:spPr>
          <a:xfrm>
            <a:off x="10131552" y="1408176"/>
            <a:ext cx="1645920" cy="411480"/>
          </a:xfrm>
          <a:prstGeom prst="roundRect">
            <a:avLst>
              <a:gd name="adj" fmla="val 11111"/>
            </a:avLst>
          </a:prstGeom>
          <a:solidFill>
            <a:srgbClr val="21B6A8"/>
          </a:solidFill>
          <a:ln/>
        </p:spPr>
        <p:txBody>
          <a:bodyPr/>
          <a:lstStyle/>
          <a:p>
            <a:endParaRPr lang="en-US"/>
          </a:p>
        </p:txBody>
      </p:sp>
      <p:sp>
        <p:nvSpPr>
          <p:cNvPr id="57" name="Text 55"/>
          <p:cNvSpPr/>
          <p:nvPr/>
        </p:nvSpPr>
        <p:spPr>
          <a:xfrm>
            <a:off x="10131552" y="1408176"/>
            <a:ext cx="164592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Notification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Service :8003</a:t>
            </a:r>
            <a:endParaRPr lang="en-US" sz="1050" dirty="0"/>
          </a:p>
        </p:txBody>
      </p:sp>
      <p:sp>
        <p:nvSpPr>
          <p:cNvPr id="58" name="Shape 56"/>
          <p:cNvSpPr/>
          <p:nvPr/>
        </p:nvSpPr>
        <p:spPr>
          <a:xfrm>
            <a:off x="10954512" y="1819656"/>
            <a:ext cx="0" cy="4398264"/>
          </a:xfrm>
          <a:prstGeom prst="line">
            <a:avLst/>
          </a:prstGeom>
          <a:noFill/>
          <a:ln w="12700">
            <a:solidFill>
              <a:srgbClr val="5C6B7A"/>
            </a:solidFill>
            <a:prstDash val="dash"/>
          </a:ln>
        </p:spPr>
        <p:txBody>
          <a:bodyPr/>
          <a:lstStyle/>
          <a:p>
            <a:endParaRPr lang="en-US"/>
          </a:p>
        </p:txBody>
      </p:sp>
      <p:sp>
        <p:nvSpPr>
          <p:cNvPr id="59" name="Shape 57"/>
          <p:cNvSpPr/>
          <p:nvPr/>
        </p:nvSpPr>
        <p:spPr>
          <a:xfrm>
            <a:off x="1234440" y="2112264"/>
            <a:ext cx="3240024" cy="0"/>
          </a:xfrm>
          <a:prstGeom prst="line">
            <a:avLst/>
          </a:prstGeom>
          <a:noFill/>
          <a:ln w="15875">
            <a:solidFill>
              <a:srgbClr val="1B2430"/>
            </a:solidFill>
            <a:prstDash val="solid"/>
            <a:tailEnd type="triangle"/>
          </a:ln>
        </p:spPr>
        <p:txBody>
          <a:bodyPr/>
          <a:lstStyle/>
          <a:p>
            <a:endParaRPr lang="en-US"/>
          </a:p>
        </p:txBody>
      </p:sp>
      <p:sp>
        <p:nvSpPr>
          <p:cNvPr id="60" name="Text 58"/>
          <p:cNvSpPr/>
          <p:nvPr/>
        </p:nvSpPr>
        <p:spPr>
          <a:xfrm>
            <a:off x="1234440" y="1911096"/>
            <a:ext cx="3240024" cy="182880"/>
          </a:xfrm>
          <a:prstGeom prst="rect">
            <a:avLst/>
          </a:prstGeom>
          <a:noFill/>
          <a:ln/>
        </p:spPr>
        <p:txBody>
          <a:bodyPr wrap="square" lIns="0" tIns="0" rIns="0" bIns="0" rtlCol="0" anchor="ctr"/>
          <a:lstStyle/>
          <a:p>
            <a:pPr marL="0" indent="0" algn="ctr">
              <a:buNone/>
            </a:pPr>
            <a:r>
              <a:rPr lang="en-US" sz="850" dirty="0">
                <a:solidFill>
                  <a:srgbClr val="1B2430"/>
                </a:solidFill>
                <a:latin typeface="Courier New" pitchFamily="34" charset="0"/>
                <a:ea typeface="Courier New" pitchFamily="34" charset="-122"/>
                <a:cs typeface="Courier New" pitchFamily="34" charset="-120"/>
              </a:rPr>
              <a:t>POST /claims {itemId}</a:t>
            </a:r>
            <a:endParaRPr lang="en-US" sz="850" dirty="0"/>
          </a:p>
        </p:txBody>
      </p:sp>
      <p:sp>
        <p:nvSpPr>
          <p:cNvPr id="61" name="Shape 59"/>
          <p:cNvSpPr/>
          <p:nvPr/>
        </p:nvSpPr>
        <p:spPr>
          <a:xfrm>
            <a:off x="3422904" y="2459736"/>
            <a:ext cx="2103120" cy="274320"/>
          </a:xfrm>
          <a:prstGeom prst="roundRect">
            <a:avLst>
              <a:gd name="adj" fmla="val 16667"/>
            </a:avLst>
          </a:prstGeom>
          <a:solidFill>
            <a:srgbClr val="1C7293"/>
          </a:solidFill>
          <a:ln/>
        </p:spPr>
        <p:txBody>
          <a:bodyPr/>
          <a:lstStyle/>
          <a:p>
            <a:endParaRPr lang="en-US"/>
          </a:p>
        </p:txBody>
      </p:sp>
      <p:sp>
        <p:nvSpPr>
          <p:cNvPr id="62" name="Text 60"/>
          <p:cNvSpPr/>
          <p:nvPr/>
        </p:nvSpPr>
        <p:spPr>
          <a:xfrm>
            <a:off x="3422904" y="2459736"/>
            <a:ext cx="21031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claim.status = PENDING</a:t>
            </a:r>
            <a:endParaRPr lang="en-US" sz="850" dirty="0"/>
          </a:p>
        </p:txBody>
      </p:sp>
      <p:sp>
        <p:nvSpPr>
          <p:cNvPr id="63" name="Shape 61"/>
          <p:cNvSpPr/>
          <p:nvPr/>
        </p:nvSpPr>
        <p:spPr>
          <a:xfrm>
            <a:off x="4474464" y="2843784"/>
            <a:ext cx="3240024" cy="0"/>
          </a:xfrm>
          <a:prstGeom prst="line">
            <a:avLst/>
          </a:prstGeom>
          <a:noFill/>
          <a:ln w="15875">
            <a:solidFill>
              <a:srgbClr val="1B2430"/>
            </a:solidFill>
            <a:prstDash val="solid"/>
            <a:tailEnd type="triangle"/>
          </a:ln>
        </p:spPr>
        <p:txBody>
          <a:bodyPr/>
          <a:lstStyle/>
          <a:p>
            <a:endParaRPr lang="en-US"/>
          </a:p>
        </p:txBody>
      </p:sp>
      <p:sp>
        <p:nvSpPr>
          <p:cNvPr id="64" name="Text 62"/>
          <p:cNvSpPr/>
          <p:nvPr/>
        </p:nvSpPr>
        <p:spPr>
          <a:xfrm>
            <a:off x="4474464" y="2642616"/>
            <a:ext cx="3240024" cy="182880"/>
          </a:xfrm>
          <a:prstGeom prst="rect">
            <a:avLst/>
          </a:prstGeom>
          <a:noFill/>
          <a:ln/>
        </p:spPr>
        <p:txBody>
          <a:bodyPr wrap="square" lIns="0" tIns="0" rIns="0" bIns="0" rtlCol="0" anchor="ctr"/>
          <a:lstStyle/>
          <a:p>
            <a:pPr marL="0" indent="0" algn="ctr">
              <a:buNone/>
            </a:pPr>
            <a:r>
              <a:rPr lang="en-US" sz="850" dirty="0">
                <a:solidFill>
                  <a:srgbClr val="1B2430"/>
                </a:solidFill>
                <a:latin typeface="Courier New" pitchFamily="34" charset="0"/>
                <a:ea typeface="Courier New" pitchFamily="34" charset="-122"/>
                <a:cs typeface="Courier New" pitchFamily="34" charset="-120"/>
              </a:rPr>
              <a:t>POST /items/{id}/reserve</a:t>
            </a:r>
            <a:endParaRPr lang="en-US" sz="850" dirty="0"/>
          </a:p>
        </p:txBody>
      </p:sp>
      <p:sp>
        <p:nvSpPr>
          <p:cNvPr id="65" name="Shape 63"/>
          <p:cNvSpPr/>
          <p:nvPr/>
        </p:nvSpPr>
        <p:spPr>
          <a:xfrm>
            <a:off x="6662928" y="3191256"/>
            <a:ext cx="2103120" cy="274320"/>
          </a:xfrm>
          <a:prstGeom prst="roundRect">
            <a:avLst>
              <a:gd name="adj" fmla="val 16667"/>
            </a:avLst>
          </a:prstGeom>
          <a:solidFill>
            <a:srgbClr val="065A82"/>
          </a:solidFill>
          <a:ln/>
        </p:spPr>
        <p:txBody>
          <a:bodyPr/>
          <a:lstStyle/>
          <a:p>
            <a:endParaRPr lang="en-US"/>
          </a:p>
        </p:txBody>
      </p:sp>
      <p:sp>
        <p:nvSpPr>
          <p:cNvPr id="66" name="Text 64"/>
          <p:cNvSpPr/>
          <p:nvPr/>
        </p:nvSpPr>
        <p:spPr>
          <a:xfrm>
            <a:off x="6662928" y="3191256"/>
            <a:ext cx="21031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item.status = RESERVED</a:t>
            </a:r>
            <a:endParaRPr lang="en-US" sz="850" dirty="0"/>
          </a:p>
        </p:txBody>
      </p:sp>
      <p:sp>
        <p:nvSpPr>
          <p:cNvPr id="67" name="Shape 65"/>
          <p:cNvSpPr/>
          <p:nvPr/>
        </p:nvSpPr>
        <p:spPr>
          <a:xfrm>
            <a:off x="4474464" y="3575304"/>
            <a:ext cx="6480048" cy="0"/>
          </a:xfrm>
          <a:prstGeom prst="line">
            <a:avLst/>
          </a:prstGeom>
          <a:noFill/>
          <a:ln w="15875">
            <a:solidFill>
              <a:srgbClr val="21295C"/>
            </a:solidFill>
            <a:prstDash val="dash"/>
            <a:tailEnd type="triangle"/>
          </a:ln>
        </p:spPr>
        <p:txBody>
          <a:bodyPr/>
          <a:lstStyle/>
          <a:p>
            <a:endParaRPr lang="en-US"/>
          </a:p>
        </p:txBody>
      </p:sp>
      <p:sp>
        <p:nvSpPr>
          <p:cNvPr id="68" name="Text 66"/>
          <p:cNvSpPr/>
          <p:nvPr/>
        </p:nvSpPr>
        <p:spPr>
          <a:xfrm>
            <a:off x="4474464" y="3374136"/>
            <a:ext cx="6480048" cy="182880"/>
          </a:xfrm>
          <a:prstGeom prst="rect">
            <a:avLst/>
          </a:prstGeom>
          <a:noFill/>
          <a:ln/>
        </p:spPr>
        <p:txBody>
          <a:bodyPr wrap="square" lIns="0" tIns="0" rIns="0" bIns="0" rtlCol="0" anchor="ctr"/>
          <a:lstStyle/>
          <a:p>
            <a:pPr marL="0" indent="0" algn="ctr">
              <a:buNone/>
            </a:pPr>
            <a:r>
              <a:rPr lang="en-US" sz="850" dirty="0">
                <a:solidFill>
                  <a:srgbClr val="21295C"/>
                </a:solidFill>
                <a:latin typeface="Courier New" pitchFamily="34" charset="0"/>
                <a:ea typeface="Courier New" pitchFamily="34" charset="-122"/>
                <a:cs typeface="Courier New" pitchFamily="34" charset="-120"/>
              </a:rPr>
              <a:t>Redis: ClaimCreated</a:t>
            </a:r>
            <a:endParaRPr lang="en-US" sz="850" dirty="0"/>
          </a:p>
        </p:txBody>
      </p:sp>
      <p:sp>
        <p:nvSpPr>
          <p:cNvPr id="69" name="Shape 67"/>
          <p:cNvSpPr/>
          <p:nvPr/>
        </p:nvSpPr>
        <p:spPr>
          <a:xfrm>
            <a:off x="484632" y="3904488"/>
            <a:ext cx="11219688" cy="2304288"/>
          </a:xfrm>
          <a:prstGeom prst="rect">
            <a:avLst/>
          </a:prstGeom>
          <a:solidFill>
            <a:srgbClr val="FFFFFF">
              <a:alpha val="85000"/>
            </a:srgbClr>
          </a:solidFill>
          <a:ln w="12700">
            <a:solidFill>
              <a:srgbClr val="5C6B7A"/>
            </a:solidFill>
            <a:prstDash val="solid"/>
          </a:ln>
        </p:spPr>
        <p:txBody>
          <a:bodyPr/>
          <a:lstStyle/>
          <a:p>
            <a:endParaRPr lang="en-US"/>
          </a:p>
        </p:txBody>
      </p:sp>
      <p:sp>
        <p:nvSpPr>
          <p:cNvPr id="70" name="Shape 68"/>
          <p:cNvSpPr/>
          <p:nvPr/>
        </p:nvSpPr>
        <p:spPr>
          <a:xfrm>
            <a:off x="484632" y="3904488"/>
            <a:ext cx="566928" cy="219456"/>
          </a:xfrm>
          <a:prstGeom prst="rect">
            <a:avLst/>
          </a:prstGeom>
          <a:solidFill>
            <a:srgbClr val="5C6B7A"/>
          </a:solidFill>
          <a:ln/>
        </p:spPr>
        <p:txBody>
          <a:bodyPr/>
          <a:lstStyle/>
          <a:p>
            <a:endParaRPr lang="en-US"/>
          </a:p>
        </p:txBody>
      </p:sp>
      <p:sp>
        <p:nvSpPr>
          <p:cNvPr id="71" name="Text 69"/>
          <p:cNvSpPr/>
          <p:nvPr/>
        </p:nvSpPr>
        <p:spPr>
          <a:xfrm>
            <a:off x="484632" y="3904488"/>
            <a:ext cx="566928"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ourier New" pitchFamily="34" charset="0"/>
                <a:ea typeface="Courier New" pitchFamily="34" charset="-122"/>
                <a:cs typeface="Courier New" pitchFamily="34" charset="-120"/>
              </a:rPr>
              <a:t>alt</a:t>
            </a:r>
            <a:endParaRPr lang="en-US" sz="900" dirty="0"/>
          </a:p>
        </p:txBody>
      </p:sp>
      <p:sp>
        <p:nvSpPr>
          <p:cNvPr id="72" name="Text 70"/>
          <p:cNvSpPr/>
          <p:nvPr/>
        </p:nvSpPr>
        <p:spPr>
          <a:xfrm>
            <a:off x="1124712" y="3904488"/>
            <a:ext cx="2743200" cy="201168"/>
          </a:xfrm>
          <a:prstGeom prst="rect">
            <a:avLst/>
          </a:prstGeom>
          <a:noFill/>
          <a:ln/>
        </p:spPr>
        <p:txBody>
          <a:bodyPr wrap="square" lIns="0" tIns="0" rIns="0" bIns="0" rtlCol="0" anchor="ctr"/>
          <a:lstStyle/>
          <a:p>
            <a:pPr marL="0" indent="0">
              <a:buNone/>
            </a:pPr>
            <a:r>
              <a:rPr lang="en-US" sz="900" i="1" dirty="0">
                <a:solidFill>
                  <a:srgbClr val="5C6B7A"/>
                </a:solidFill>
                <a:latin typeface="Courier New" pitchFamily="34" charset="0"/>
                <a:ea typeface="Courier New" pitchFamily="34" charset="-122"/>
                <a:cs typeface="Courier New" pitchFamily="34" charset="-120"/>
              </a:rPr>
              <a:t>[claim approved]</a:t>
            </a:r>
            <a:endParaRPr lang="en-US" sz="900" dirty="0"/>
          </a:p>
        </p:txBody>
      </p:sp>
      <p:sp>
        <p:nvSpPr>
          <p:cNvPr id="73" name="Shape 71"/>
          <p:cNvSpPr/>
          <p:nvPr/>
        </p:nvSpPr>
        <p:spPr>
          <a:xfrm>
            <a:off x="4474464" y="4178808"/>
            <a:ext cx="3240024" cy="0"/>
          </a:xfrm>
          <a:prstGeom prst="line">
            <a:avLst/>
          </a:prstGeom>
          <a:noFill/>
          <a:ln w="15875">
            <a:solidFill>
              <a:srgbClr val="1B2430"/>
            </a:solidFill>
            <a:prstDash val="solid"/>
            <a:tailEnd type="triangle"/>
          </a:ln>
        </p:spPr>
        <p:txBody>
          <a:bodyPr/>
          <a:lstStyle/>
          <a:p>
            <a:endParaRPr lang="en-US"/>
          </a:p>
        </p:txBody>
      </p:sp>
      <p:sp>
        <p:nvSpPr>
          <p:cNvPr id="74" name="Text 72"/>
          <p:cNvSpPr/>
          <p:nvPr/>
        </p:nvSpPr>
        <p:spPr>
          <a:xfrm>
            <a:off x="4474464" y="3977640"/>
            <a:ext cx="3240024" cy="182880"/>
          </a:xfrm>
          <a:prstGeom prst="rect">
            <a:avLst/>
          </a:prstGeom>
          <a:noFill/>
          <a:ln/>
        </p:spPr>
        <p:txBody>
          <a:bodyPr wrap="square" lIns="0" tIns="0" rIns="0" bIns="0" rtlCol="0" anchor="ctr"/>
          <a:lstStyle/>
          <a:p>
            <a:pPr marL="0" indent="0" algn="ctr">
              <a:buNone/>
            </a:pPr>
            <a:r>
              <a:rPr lang="en-US" sz="850" dirty="0">
                <a:solidFill>
                  <a:srgbClr val="1B2430"/>
                </a:solidFill>
                <a:latin typeface="Courier New" pitchFamily="34" charset="0"/>
                <a:ea typeface="Courier New" pitchFamily="34" charset="-122"/>
                <a:cs typeface="Courier New" pitchFamily="34" charset="-120"/>
              </a:rPr>
              <a:t>POST /items/{id}/recover</a:t>
            </a:r>
            <a:endParaRPr lang="en-US" sz="850" dirty="0"/>
          </a:p>
        </p:txBody>
      </p:sp>
      <p:sp>
        <p:nvSpPr>
          <p:cNvPr id="75" name="Shape 73"/>
          <p:cNvSpPr/>
          <p:nvPr/>
        </p:nvSpPr>
        <p:spPr>
          <a:xfrm>
            <a:off x="6662928" y="4526280"/>
            <a:ext cx="2103120" cy="274320"/>
          </a:xfrm>
          <a:prstGeom prst="roundRect">
            <a:avLst>
              <a:gd name="adj" fmla="val 16667"/>
            </a:avLst>
          </a:prstGeom>
          <a:solidFill>
            <a:srgbClr val="21B6A8"/>
          </a:solidFill>
          <a:ln/>
        </p:spPr>
        <p:txBody>
          <a:bodyPr/>
          <a:lstStyle/>
          <a:p>
            <a:endParaRPr lang="en-US"/>
          </a:p>
        </p:txBody>
      </p:sp>
      <p:sp>
        <p:nvSpPr>
          <p:cNvPr id="76" name="Text 74"/>
          <p:cNvSpPr/>
          <p:nvPr/>
        </p:nvSpPr>
        <p:spPr>
          <a:xfrm>
            <a:off x="6662928" y="4526280"/>
            <a:ext cx="21031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item.status = RECOVERED</a:t>
            </a:r>
            <a:endParaRPr lang="en-US" sz="850" dirty="0"/>
          </a:p>
        </p:txBody>
      </p:sp>
      <p:sp>
        <p:nvSpPr>
          <p:cNvPr id="77" name="Shape 75"/>
          <p:cNvSpPr/>
          <p:nvPr/>
        </p:nvSpPr>
        <p:spPr>
          <a:xfrm>
            <a:off x="4474464" y="4892040"/>
            <a:ext cx="6480048" cy="0"/>
          </a:xfrm>
          <a:prstGeom prst="line">
            <a:avLst/>
          </a:prstGeom>
          <a:noFill/>
          <a:ln w="15875">
            <a:solidFill>
              <a:srgbClr val="21295C"/>
            </a:solidFill>
            <a:prstDash val="dash"/>
            <a:tailEnd type="triangle"/>
          </a:ln>
        </p:spPr>
        <p:txBody>
          <a:bodyPr/>
          <a:lstStyle/>
          <a:p>
            <a:endParaRPr lang="en-US"/>
          </a:p>
        </p:txBody>
      </p:sp>
      <p:sp>
        <p:nvSpPr>
          <p:cNvPr id="78" name="Text 76"/>
          <p:cNvSpPr/>
          <p:nvPr/>
        </p:nvSpPr>
        <p:spPr>
          <a:xfrm>
            <a:off x="4474464" y="4690872"/>
            <a:ext cx="6480048" cy="182880"/>
          </a:xfrm>
          <a:prstGeom prst="rect">
            <a:avLst/>
          </a:prstGeom>
          <a:noFill/>
          <a:ln/>
        </p:spPr>
        <p:txBody>
          <a:bodyPr wrap="square" lIns="0" tIns="0" rIns="0" bIns="0" rtlCol="0" anchor="ctr"/>
          <a:lstStyle/>
          <a:p>
            <a:pPr marL="0" indent="0" algn="ctr">
              <a:buNone/>
            </a:pPr>
            <a:r>
              <a:rPr lang="en-US" sz="850" dirty="0">
                <a:solidFill>
                  <a:srgbClr val="21295C"/>
                </a:solidFill>
                <a:latin typeface="Courier New" pitchFamily="34" charset="0"/>
                <a:ea typeface="Courier New" pitchFamily="34" charset="-122"/>
                <a:cs typeface="Courier New" pitchFamily="34" charset="-120"/>
              </a:rPr>
              <a:t>Redis: ClaimApproved + ItemRecovered</a:t>
            </a:r>
            <a:endParaRPr lang="en-US" sz="850" dirty="0"/>
          </a:p>
        </p:txBody>
      </p:sp>
      <p:sp>
        <p:nvSpPr>
          <p:cNvPr id="79" name="Shape 77"/>
          <p:cNvSpPr/>
          <p:nvPr/>
        </p:nvSpPr>
        <p:spPr>
          <a:xfrm>
            <a:off x="9902952" y="5166360"/>
            <a:ext cx="2103120" cy="274320"/>
          </a:xfrm>
          <a:prstGeom prst="roundRect">
            <a:avLst>
              <a:gd name="adj" fmla="val 16667"/>
            </a:avLst>
          </a:prstGeom>
          <a:solidFill>
            <a:srgbClr val="21B6A8"/>
          </a:solidFill>
          <a:ln/>
        </p:spPr>
        <p:txBody>
          <a:bodyPr/>
          <a:lstStyle/>
          <a:p>
            <a:endParaRPr lang="en-US"/>
          </a:p>
        </p:txBody>
      </p:sp>
      <p:sp>
        <p:nvSpPr>
          <p:cNvPr id="80" name="Text 78"/>
          <p:cNvSpPr/>
          <p:nvPr/>
        </p:nvSpPr>
        <p:spPr>
          <a:xfrm>
            <a:off x="9902952" y="5166360"/>
            <a:ext cx="21031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records notifications</a:t>
            </a:r>
            <a:endParaRPr lang="en-US" sz="850" dirty="0"/>
          </a:p>
        </p:txBody>
      </p:sp>
      <p:sp>
        <p:nvSpPr>
          <p:cNvPr id="81" name="Shape 79"/>
          <p:cNvSpPr/>
          <p:nvPr/>
        </p:nvSpPr>
        <p:spPr>
          <a:xfrm>
            <a:off x="484632" y="5184648"/>
            <a:ext cx="11219688" cy="0"/>
          </a:xfrm>
          <a:prstGeom prst="line">
            <a:avLst/>
          </a:prstGeom>
          <a:noFill/>
          <a:ln w="12700">
            <a:solidFill>
              <a:srgbClr val="5C6B7A"/>
            </a:solidFill>
            <a:prstDash val="dash"/>
          </a:ln>
        </p:spPr>
        <p:txBody>
          <a:bodyPr/>
          <a:lstStyle/>
          <a:p>
            <a:endParaRPr lang="en-US"/>
          </a:p>
        </p:txBody>
      </p:sp>
      <p:sp>
        <p:nvSpPr>
          <p:cNvPr id="82" name="Text 80"/>
          <p:cNvSpPr/>
          <p:nvPr/>
        </p:nvSpPr>
        <p:spPr>
          <a:xfrm>
            <a:off x="576072" y="5212080"/>
            <a:ext cx="4114800" cy="182880"/>
          </a:xfrm>
          <a:prstGeom prst="rect">
            <a:avLst/>
          </a:prstGeom>
          <a:noFill/>
          <a:ln/>
        </p:spPr>
        <p:txBody>
          <a:bodyPr wrap="square" lIns="0" tIns="0" rIns="0" bIns="0" rtlCol="0" anchor="ctr"/>
          <a:lstStyle/>
          <a:p>
            <a:pPr marL="0" indent="0">
              <a:buNone/>
            </a:pPr>
            <a:r>
              <a:rPr lang="en-US" sz="900" i="1" dirty="0">
                <a:solidFill>
                  <a:srgbClr val="C0392B"/>
                </a:solidFill>
                <a:latin typeface="Courier New" pitchFamily="34" charset="0"/>
                <a:ea typeface="Courier New" pitchFamily="34" charset="-122"/>
                <a:cs typeface="Courier New" pitchFamily="34" charset="-120"/>
              </a:rPr>
              <a:t>[else: claim rejected — compensation]</a:t>
            </a:r>
            <a:endParaRPr lang="en-US" sz="900" dirty="0"/>
          </a:p>
        </p:txBody>
      </p:sp>
      <p:sp>
        <p:nvSpPr>
          <p:cNvPr id="83" name="Shape 81"/>
          <p:cNvSpPr/>
          <p:nvPr/>
        </p:nvSpPr>
        <p:spPr>
          <a:xfrm>
            <a:off x="3422904" y="5440680"/>
            <a:ext cx="2103120" cy="274320"/>
          </a:xfrm>
          <a:prstGeom prst="roundRect">
            <a:avLst>
              <a:gd name="adj" fmla="val 16667"/>
            </a:avLst>
          </a:prstGeom>
          <a:solidFill>
            <a:srgbClr val="C0392B"/>
          </a:solidFill>
          <a:ln/>
        </p:spPr>
        <p:txBody>
          <a:bodyPr/>
          <a:lstStyle/>
          <a:p>
            <a:endParaRPr lang="en-US"/>
          </a:p>
        </p:txBody>
      </p:sp>
      <p:sp>
        <p:nvSpPr>
          <p:cNvPr id="84" name="Text 82"/>
          <p:cNvSpPr/>
          <p:nvPr/>
        </p:nvSpPr>
        <p:spPr>
          <a:xfrm>
            <a:off x="3422904" y="5440680"/>
            <a:ext cx="21031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item→MATCHED (compensation)</a:t>
            </a:r>
            <a:endParaRPr lang="en-US" sz="850" dirty="0"/>
          </a:p>
        </p:txBody>
      </p:sp>
      <p:sp>
        <p:nvSpPr>
          <p:cNvPr id="85" name="Shape 83"/>
          <p:cNvSpPr/>
          <p:nvPr/>
        </p:nvSpPr>
        <p:spPr>
          <a:xfrm>
            <a:off x="4474464" y="5824728"/>
            <a:ext cx="3240024" cy="0"/>
          </a:xfrm>
          <a:prstGeom prst="line">
            <a:avLst/>
          </a:prstGeom>
          <a:noFill/>
          <a:ln w="15875">
            <a:solidFill>
              <a:srgbClr val="1B2430"/>
            </a:solidFill>
            <a:prstDash val="solid"/>
            <a:tailEnd type="triangle"/>
          </a:ln>
        </p:spPr>
        <p:txBody>
          <a:bodyPr/>
          <a:lstStyle/>
          <a:p>
            <a:endParaRPr lang="en-US"/>
          </a:p>
        </p:txBody>
      </p:sp>
      <p:sp>
        <p:nvSpPr>
          <p:cNvPr id="86" name="Text 84"/>
          <p:cNvSpPr/>
          <p:nvPr/>
        </p:nvSpPr>
        <p:spPr>
          <a:xfrm>
            <a:off x="4474464" y="5623560"/>
            <a:ext cx="3240024" cy="182880"/>
          </a:xfrm>
          <a:prstGeom prst="rect">
            <a:avLst/>
          </a:prstGeom>
          <a:noFill/>
          <a:ln/>
        </p:spPr>
        <p:txBody>
          <a:bodyPr wrap="square" lIns="0" tIns="0" rIns="0" bIns="0" rtlCol="0" anchor="ctr"/>
          <a:lstStyle/>
          <a:p>
            <a:pPr marL="0" indent="0" algn="ctr">
              <a:buNone/>
            </a:pPr>
            <a:r>
              <a:rPr lang="en-US" sz="850" dirty="0">
                <a:solidFill>
                  <a:srgbClr val="1B2430"/>
                </a:solidFill>
                <a:latin typeface="Courier New" pitchFamily="34" charset="0"/>
                <a:ea typeface="Courier New" pitchFamily="34" charset="-122"/>
                <a:cs typeface="Courier New" pitchFamily="34" charset="-120"/>
              </a:rPr>
              <a:t>POST /items/{id}/release</a:t>
            </a:r>
            <a:endParaRPr lang="en-US" sz="850" dirty="0"/>
          </a:p>
        </p:txBody>
      </p:sp>
      <p:sp>
        <p:nvSpPr>
          <p:cNvPr id="87" name="Shape 85"/>
          <p:cNvSpPr/>
          <p:nvPr/>
        </p:nvSpPr>
        <p:spPr>
          <a:xfrm>
            <a:off x="4474464" y="6135624"/>
            <a:ext cx="6480048" cy="0"/>
          </a:xfrm>
          <a:prstGeom prst="line">
            <a:avLst/>
          </a:prstGeom>
          <a:noFill/>
          <a:ln w="15875">
            <a:solidFill>
              <a:srgbClr val="21295C"/>
            </a:solidFill>
            <a:prstDash val="dash"/>
            <a:tailEnd type="triangle"/>
          </a:ln>
        </p:spPr>
        <p:txBody>
          <a:bodyPr/>
          <a:lstStyle/>
          <a:p>
            <a:endParaRPr lang="en-US"/>
          </a:p>
        </p:txBody>
      </p:sp>
      <p:sp>
        <p:nvSpPr>
          <p:cNvPr id="88" name="Text 86"/>
          <p:cNvSpPr/>
          <p:nvPr/>
        </p:nvSpPr>
        <p:spPr>
          <a:xfrm>
            <a:off x="4474464" y="5934456"/>
            <a:ext cx="6480048" cy="182880"/>
          </a:xfrm>
          <a:prstGeom prst="rect">
            <a:avLst/>
          </a:prstGeom>
          <a:noFill/>
          <a:ln/>
        </p:spPr>
        <p:txBody>
          <a:bodyPr wrap="square" lIns="0" tIns="0" rIns="0" bIns="0" rtlCol="0" anchor="ctr"/>
          <a:lstStyle/>
          <a:p>
            <a:pPr marL="0" indent="0" algn="ctr">
              <a:buNone/>
            </a:pPr>
            <a:r>
              <a:rPr lang="en-US" sz="850" dirty="0">
                <a:solidFill>
                  <a:srgbClr val="21295C"/>
                </a:solidFill>
                <a:latin typeface="Courier New" pitchFamily="34" charset="0"/>
                <a:ea typeface="Courier New" pitchFamily="34" charset="-122"/>
                <a:cs typeface="Courier New" pitchFamily="34" charset="-120"/>
              </a:rPr>
              <a:t>Redis: ClaimRejected</a:t>
            </a:r>
            <a:endParaRPr lang="en-US" sz="850" dirty="0"/>
          </a:p>
        </p:txBody>
      </p:sp>
      <p:sp>
        <p:nvSpPr>
          <p:cNvPr id="89" name="Text 87"/>
          <p:cNvSpPr/>
          <p:nvPr/>
        </p:nvSpPr>
        <p:spPr>
          <a:xfrm>
            <a:off x="411480" y="6300216"/>
            <a:ext cx="11365992" cy="237744"/>
          </a:xfrm>
          <a:prstGeom prst="rect">
            <a:avLst/>
          </a:prstGeom>
          <a:noFill/>
          <a:ln/>
        </p:spPr>
        <p:txBody>
          <a:bodyPr wrap="square" rtlCol="0" anchor="ctr"/>
          <a:lstStyle/>
          <a:p>
            <a:pPr marL="0" indent="0" algn="ctr">
              <a:buNone/>
            </a:pPr>
            <a:r>
              <a:rPr lang="en-US" sz="950" i="1" dirty="0">
                <a:solidFill>
                  <a:srgbClr val="5C6B7A"/>
                </a:solidFill>
                <a:latin typeface="Calibri" pitchFamily="34" charset="0"/>
                <a:ea typeface="Calibri" pitchFamily="34" charset="-122"/>
                <a:cs typeface="Calibri" pitchFamily="34" charset="-120"/>
              </a:rPr>
              <a:t>Compensation = new forward update releasing the item — never a database rollback  |  Orchestrated by Claim/Recovery Service  |  Mirrored in AWS Step Functions</a:t>
            </a:r>
            <a:endParaRPr lang="en-US" sz="950" dirty="0"/>
          </a:p>
        </p:txBody>
      </p:sp>
      <p:sp>
        <p:nvSpPr>
          <p:cNvPr id="90" name="Text 88"/>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91" name="Text 89"/>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CORE TECHNIQUES</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Communication &amp; Event-Driven Architecture</a:t>
            </a:r>
            <a:endParaRPr lang="en-US" sz="3000" dirty="0"/>
          </a:p>
        </p:txBody>
      </p:sp>
      <p:sp>
        <p:nvSpPr>
          <p:cNvPr id="4" name="Shape 2"/>
          <p:cNvSpPr/>
          <p:nvPr/>
        </p:nvSpPr>
        <p:spPr>
          <a:xfrm>
            <a:off x="548640" y="1508760"/>
            <a:ext cx="5212080" cy="2423160"/>
          </a:xfrm>
          <a:prstGeom prst="roundRect">
            <a:avLst>
              <a:gd name="adj" fmla="val 301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777240" y="1737360"/>
            <a:ext cx="457200" cy="457200"/>
          </a:xfrm>
          <a:prstGeom prst="ellipse">
            <a:avLst/>
          </a:prstGeom>
          <a:solidFill>
            <a:srgbClr val="065A8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80110" y="1840230"/>
            <a:ext cx="251460" cy="251460"/>
          </a:xfrm>
          <a:prstGeom prst="rect">
            <a:avLst/>
          </a:prstGeom>
        </p:spPr>
      </p:pic>
      <p:sp>
        <p:nvSpPr>
          <p:cNvPr id="7" name="Text 4"/>
          <p:cNvSpPr/>
          <p:nvPr/>
        </p:nvSpPr>
        <p:spPr>
          <a:xfrm>
            <a:off x="1417320" y="1783080"/>
            <a:ext cx="3657600" cy="365760"/>
          </a:xfrm>
          <a:prstGeom prst="rect">
            <a:avLst/>
          </a:prstGeom>
          <a:noFill/>
          <a:ln/>
        </p:spPr>
        <p:txBody>
          <a:bodyPr wrap="square" rtlCol="0" anchor="ctr"/>
          <a:lstStyle/>
          <a:p>
            <a:pPr marL="0" indent="0">
              <a:buNone/>
            </a:pPr>
            <a:r>
              <a:rPr lang="en-US" sz="1450" b="1" dirty="0">
                <a:solidFill>
                  <a:srgbClr val="1B2430"/>
                </a:solidFill>
                <a:latin typeface="Calibri" pitchFamily="34" charset="0"/>
                <a:ea typeface="Calibri" pitchFamily="34" charset="-122"/>
                <a:cs typeface="Calibri" pitchFamily="34" charset="-120"/>
              </a:rPr>
              <a:t>Synchronous — REST</a:t>
            </a:r>
            <a:endParaRPr lang="en-US" sz="1450" dirty="0"/>
          </a:p>
        </p:txBody>
      </p:sp>
      <p:sp>
        <p:nvSpPr>
          <p:cNvPr id="8" name="Text 5"/>
          <p:cNvSpPr/>
          <p:nvPr/>
        </p:nvSpPr>
        <p:spPr>
          <a:xfrm>
            <a:off x="822960" y="2221992"/>
            <a:ext cx="4663440" cy="274320"/>
          </a:xfrm>
          <a:prstGeom prst="rect">
            <a:avLst/>
          </a:prstGeom>
          <a:noFill/>
          <a:ln/>
        </p:spPr>
        <p:txBody>
          <a:bodyPr wrap="square" rtlCol="0" anchor="ctr"/>
          <a:lstStyle/>
          <a:p>
            <a:pPr marL="0" indent="0">
              <a:buNone/>
            </a:pPr>
            <a:r>
              <a:rPr lang="en-US" sz="1050" i="1" dirty="0">
                <a:solidFill>
                  <a:srgbClr val="5C6B7A"/>
                </a:solidFill>
                <a:latin typeface="Calibri" pitchFamily="34" charset="0"/>
                <a:ea typeface="Calibri" pitchFamily="34" charset="-122"/>
                <a:cs typeface="Calibri" pitchFamily="34" charset="-120"/>
              </a:rPr>
              <a:t>Used when the client needs an immediate response</a:t>
            </a:r>
            <a:endParaRPr lang="en-US" sz="1050" dirty="0"/>
          </a:p>
        </p:txBody>
      </p:sp>
      <p:sp>
        <p:nvSpPr>
          <p:cNvPr id="9" name="Shape 6"/>
          <p:cNvSpPr/>
          <p:nvPr/>
        </p:nvSpPr>
        <p:spPr>
          <a:xfrm>
            <a:off x="868680" y="2651760"/>
            <a:ext cx="109728" cy="109728"/>
          </a:xfrm>
          <a:prstGeom prst="ellipse">
            <a:avLst/>
          </a:prstGeom>
          <a:solidFill>
            <a:srgbClr val="065A82"/>
          </a:solidFill>
          <a:ln/>
        </p:spPr>
        <p:txBody>
          <a:bodyPr/>
          <a:lstStyle/>
          <a:p>
            <a:endParaRPr lang="en-US"/>
          </a:p>
        </p:txBody>
      </p:sp>
      <p:sp>
        <p:nvSpPr>
          <p:cNvPr id="10" name="Text 7"/>
          <p:cNvSpPr/>
          <p:nvPr/>
        </p:nvSpPr>
        <p:spPr>
          <a:xfrm>
            <a:off x="1097280" y="2532888"/>
            <a:ext cx="4434840" cy="320040"/>
          </a:xfrm>
          <a:prstGeom prst="rect">
            <a:avLst/>
          </a:prstGeom>
          <a:noFill/>
          <a:ln/>
        </p:spPr>
        <p:txBody>
          <a:bodyPr wrap="square" lIns="0" tIns="0" rIns="0" bIns="0" rtlCol="0" anchor="ctr"/>
          <a:lstStyle/>
          <a:p>
            <a:pPr marL="0" indent="0">
              <a:buNone/>
            </a:pPr>
            <a:r>
              <a:rPr lang="en-US" sz="1050" dirty="0">
                <a:solidFill>
                  <a:srgbClr val="1B2430"/>
                </a:solidFill>
                <a:latin typeface="Courier New" pitchFamily="34" charset="0"/>
                <a:ea typeface="Courier New" pitchFamily="34" charset="-122"/>
                <a:cs typeface="Courier New" pitchFamily="34" charset="-120"/>
              </a:rPr>
              <a:t>POST /register · POST /login   (Item Service)</a:t>
            </a:r>
            <a:endParaRPr lang="en-US" sz="1050" dirty="0"/>
          </a:p>
        </p:txBody>
      </p:sp>
      <p:sp>
        <p:nvSpPr>
          <p:cNvPr id="11" name="Shape 8"/>
          <p:cNvSpPr/>
          <p:nvPr/>
        </p:nvSpPr>
        <p:spPr>
          <a:xfrm>
            <a:off x="868680" y="2971800"/>
            <a:ext cx="109728" cy="109728"/>
          </a:xfrm>
          <a:prstGeom prst="ellipse">
            <a:avLst/>
          </a:prstGeom>
          <a:solidFill>
            <a:srgbClr val="065A82"/>
          </a:solidFill>
          <a:ln/>
        </p:spPr>
        <p:txBody>
          <a:bodyPr/>
          <a:lstStyle/>
          <a:p>
            <a:endParaRPr lang="en-US"/>
          </a:p>
        </p:txBody>
      </p:sp>
      <p:sp>
        <p:nvSpPr>
          <p:cNvPr id="12" name="Text 9"/>
          <p:cNvSpPr/>
          <p:nvPr/>
        </p:nvSpPr>
        <p:spPr>
          <a:xfrm>
            <a:off x="1097280" y="2852928"/>
            <a:ext cx="4434840" cy="320040"/>
          </a:xfrm>
          <a:prstGeom prst="rect">
            <a:avLst/>
          </a:prstGeom>
          <a:noFill/>
          <a:ln/>
        </p:spPr>
        <p:txBody>
          <a:bodyPr wrap="square" lIns="0" tIns="0" rIns="0" bIns="0" rtlCol="0" anchor="ctr"/>
          <a:lstStyle/>
          <a:p>
            <a:pPr marL="0" indent="0">
              <a:buNone/>
            </a:pPr>
            <a:r>
              <a:rPr lang="en-US" sz="1050" dirty="0">
                <a:solidFill>
                  <a:srgbClr val="1B2430"/>
                </a:solidFill>
                <a:latin typeface="Courier New" pitchFamily="34" charset="0"/>
                <a:ea typeface="Courier New" pitchFamily="34" charset="-122"/>
                <a:cs typeface="Courier New" pitchFamily="34" charset="-120"/>
              </a:rPr>
              <a:t>POST /items                     (Item Service)</a:t>
            </a:r>
            <a:endParaRPr lang="en-US" sz="1050" dirty="0"/>
          </a:p>
        </p:txBody>
      </p:sp>
      <p:sp>
        <p:nvSpPr>
          <p:cNvPr id="13" name="Shape 10"/>
          <p:cNvSpPr/>
          <p:nvPr/>
        </p:nvSpPr>
        <p:spPr>
          <a:xfrm>
            <a:off x="868680" y="3291840"/>
            <a:ext cx="109728" cy="109728"/>
          </a:xfrm>
          <a:prstGeom prst="ellipse">
            <a:avLst/>
          </a:prstGeom>
          <a:solidFill>
            <a:srgbClr val="065A82"/>
          </a:solidFill>
          <a:ln/>
        </p:spPr>
        <p:txBody>
          <a:bodyPr/>
          <a:lstStyle/>
          <a:p>
            <a:endParaRPr lang="en-US"/>
          </a:p>
        </p:txBody>
      </p:sp>
      <p:sp>
        <p:nvSpPr>
          <p:cNvPr id="14" name="Text 11"/>
          <p:cNvSpPr/>
          <p:nvPr/>
        </p:nvSpPr>
        <p:spPr>
          <a:xfrm>
            <a:off x="1097280" y="3172968"/>
            <a:ext cx="4434840" cy="320040"/>
          </a:xfrm>
          <a:prstGeom prst="rect">
            <a:avLst/>
          </a:prstGeom>
          <a:noFill/>
          <a:ln/>
        </p:spPr>
        <p:txBody>
          <a:bodyPr wrap="square" lIns="0" tIns="0" rIns="0" bIns="0" rtlCol="0" anchor="ctr"/>
          <a:lstStyle/>
          <a:p>
            <a:pPr marL="0" indent="0">
              <a:buNone/>
            </a:pPr>
            <a:r>
              <a:rPr lang="en-US" sz="1050" dirty="0">
                <a:solidFill>
                  <a:srgbClr val="1B2430"/>
                </a:solidFill>
                <a:latin typeface="Courier New" pitchFamily="34" charset="0"/>
                <a:ea typeface="Courier New" pitchFamily="34" charset="-122"/>
                <a:cs typeface="Courier New" pitchFamily="34" charset="-120"/>
              </a:rPr>
              <a:t>POST /claims                    (Claim/Recovery)</a:t>
            </a:r>
            <a:endParaRPr lang="en-US" sz="1050" dirty="0"/>
          </a:p>
        </p:txBody>
      </p:sp>
      <p:sp>
        <p:nvSpPr>
          <p:cNvPr id="15" name="Shape 12"/>
          <p:cNvSpPr/>
          <p:nvPr/>
        </p:nvSpPr>
        <p:spPr>
          <a:xfrm>
            <a:off x="868680" y="3611880"/>
            <a:ext cx="109728" cy="109728"/>
          </a:xfrm>
          <a:prstGeom prst="ellipse">
            <a:avLst/>
          </a:prstGeom>
          <a:solidFill>
            <a:srgbClr val="065A82"/>
          </a:solidFill>
          <a:ln/>
        </p:spPr>
        <p:txBody>
          <a:bodyPr/>
          <a:lstStyle/>
          <a:p>
            <a:endParaRPr lang="en-US"/>
          </a:p>
        </p:txBody>
      </p:sp>
      <p:sp>
        <p:nvSpPr>
          <p:cNvPr id="16" name="Text 13"/>
          <p:cNvSpPr/>
          <p:nvPr/>
        </p:nvSpPr>
        <p:spPr>
          <a:xfrm>
            <a:off x="1097280" y="3493008"/>
            <a:ext cx="4434840" cy="320040"/>
          </a:xfrm>
          <a:prstGeom prst="rect">
            <a:avLst/>
          </a:prstGeom>
          <a:noFill/>
          <a:ln/>
        </p:spPr>
        <p:txBody>
          <a:bodyPr wrap="square" lIns="0" tIns="0" rIns="0" bIns="0" rtlCol="0" anchor="ctr"/>
          <a:lstStyle/>
          <a:p>
            <a:pPr marL="0" indent="0">
              <a:buNone/>
            </a:pPr>
            <a:r>
              <a:rPr lang="en-US" sz="1050" dirty="0">
                <a:solidFill>
                  <a:srgbClr val="1B2430"/>
                </a:solidFill>
                <a:latin typeface="Courier New" pitchFamily="34" charset="0"/>
                <a:ea typeface="Courier New" pitchFamily="34" charset="-122"/>
                <a:cs typeface="Courier New" pitchFamily="34" charset="-120"/>
              </a:rPr>
              <a:t>PUT /claims/{id}/approve|reject  (Claim/Recovery)</a:t>
            </a:r>
            <a:endParaRPr lang="en-US" sz="1050" dirty="0"/>
          </a:p>
        </p:txBody>
      </p:sp>
      <p:sp>
        <p:nvSpPr>
          <p:cNvPr id="17" name="Shape 14"/>
          <p:cNvSpPr/>
          <p:nvPr/>
        </p:nvSpPr>
        <p:spPr>
          <a:xfrm>
            <a:off x="5989320" y="1508760"/>
            <a:ext cx="5623560" cy="2423160"/>
          </a:xfrm>
          <a:prstGeom prst="roundRect">
            <a:avLst>
              <a:gd name="adj" fmla="val 3019"/>
            </a:avLst>
          </a:prstGeom>
          <a:solidFill>
            <a:srgbClr val="21295C"/>
          </a:solidFill>
          <a:ln/>
          <a:effectLst>
            <a:outerShdw blurRad="101600" dist="38100" dir="2700000" algn="bl" rotWithShape="0">
              <a:srgbClr val="000000">
                <a:alpha val="12000"/>
              </a:srgbClr>
            </a:outerShdw>
          </a:effectLst>
        </p:spPr>
        <p:txBody>
          <a:bodyPr/>
          <a:lstStyle/>
          <a:p>
            <a:endParaRPr lang="en-US"/>
          </a:p>
        </p:txBody>
      </p:sp>
      <p:sp>
        <p:nvSpPr>
          <p:cNvPr id="18" name="Shape 15"/>
          <p:cNvSpPr/>
          <p:nvPr/>
        </p:nvSpPr>
        <p:spPr>
          <a:xfrm>
            <a:off x="6217920" y="1737360"/>
            <a:ext cx="457200" cy="457200"/>
          </a:xfrm>
          <a:prstGeom prst="ellipse">
            <a:avLst/>
          </a:prstGeom>
          <a:solidFill>
            <a:srgbClr val="21B6A8"/>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6320790" y="1840230"/>
            <a:ext cx="251460" cy="251460"/>
          </a:xfrm>
          <a:prstGeom prst="rect">
            <a:avLst/>
          </a:prstGeom>
        </p:spPr>
      </p:pic>
      <p:sp>
        <p:nvSpPr>
          <p:cNvPr id="20" name="Text 16"/>
          <p:cNvSpPr/>
          <p:nvPr/>
        </p:nvSpPr>
        <p:spPr>
          <a:xfrm>
            <a:off x="6858000" y="1783080"/>
            <a:ext cx="41148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Asynchronous — Redis pub/sub</a:t>
            </a:r>
            <a:endParaRPr lang="en-US" sz="1450" dirty="0"/>
          </a:p>
        </p:txBody>
      </p:sp>
      <p:sp>
        <p:nvSpPr>
          <p:cNvPr id="21" name="Text 17"/>
          <p:cNvSpPr/>
          <p:nvPr/>
        </p:nvSpPr>
        <p:spPr>
          <a:xfrm>
            <a:off x="6263640" y="2221992"/>
            <a:ext cx="5074920" cy="274320"/>
          </a:xfrm>
          <a:prstGeom prst="rect">
            <a:avLst/>
          </a:prstGeom>
          <a:noFill/>
          <a:ln/>
        </p:spPr>
        <p:txBody>
          <a:bodyPr wrap="square" rtlCol="0" anchor="ctr"/>
          <a:lstStyle/>
          <a:p>
            <a:pPr marL="0" indent="0">
              <a:buNone/>
            </a:pPr>
            <a:r>
              <a:rPr lang="en-US" sz="980" i="1" dirty="0">
                <a:solidFill>
                  <a:srgbClr val="CFE3F2"/>
                </a:solidFill>
                <a:latin typeface="Calibri" pitchFamily="34" charset="0"/>
                <a:ea typeface="Calibri" pitchFamily="34" charset="-122"/>
                <a:cs typeface="Calibri" pitchFamily="34" charset="-120"/>
              </a:rPr>
              <a:t>Channel: lostify:events  |  producer: Item Svc + Claim/Recovery  |  consumer: Notification Svc</a:t>
            </a:r>
            <a:endParaRPr lang="en-US" sz="980" dirty="0"/>
          </a:p>
        </p:txBody>
      </p:sp>
      <p:sp>
        <p:nvSpPr>
          <p:cNvPr id="22" name="Shape 18"/>
          <p:cNvSpPr/>
          <p:nvPr/>
        </p:nvSpPr>
        <p:spPr>
          <a:xfrm>
            <a:off x="6254496" y="2679192"/>
            <a:ext cx="905256" cy="960120"/>
          </a:xfrm>
          <a:prstGeom prst="roundRect">
            <a:avLst>
              <a:gd name="adj" fmla="val 6061"/>
            </a:avLst>
          </a:prstGeom>
          <a:solidFill>
            <a:srgbClr val="1C7293"/>
          </a:solidFill>
          <a:ln/>
        </p:spPr>
        <p:txBody>
          <a:bodyPr/>
          <a:lstStyle/>
          <a:p>
            <a:endParaRPr lang="en-US"/>
          </a:p>
        </p:txBody>
      </p:sp>
      <p:sp>
        <p:nvSpPr>
          <p:cNvPr id="23" name="Text 19"/>
          <p:cNvSpPr/>
          <p:nvPr/>
        </p:nvSpPr>
        <p:spPr>
          <a:xfrm>
            <a:off x="6272784" y="2679192"/>
            <a:ext cx="832104" cy="960120"/>
          </a:xfrm>
          <a:prstGeom prst="rect">
            <a:avLst/>
          </a:prstGeom>
          <a:noFill/>
          <a:ln/>
        </p:spPr>
        <p:txBody>
          <a:bodyPr wrap="square" lIns="0" tIns="0" rIns="0" bIns="0" rtlCol="0" anchor="ctr"/>
          <a:lstStyle/>
          <a:p>
            <a:pPr marL="0" indent="0" algn="ctr">
              <a:buNone/>
            </a:pPr>
            <a:r>
              <a:rPr lang="en-US" sz="780" b="1" dirty="0">
                <a:solidFill>
                  <a:srgbClr val="FFFFFF"/>
                </a:solidFill>
                <a:latin typeface="Courier New" pitchFamily="34" charset="0"/>
                <a:ea typeface="Courier New" pitchFamily="34" charset="-122"/>
                <a:cs typeface="Courier New" pitchFamily="34" charset="-120"/>
              </a:rPr>
              <a:t>ItemCreated</a:t>
            </a:r>
            <a:endParaRPr lang="en-US" sz="780" dirty="0"/>
          </a:p>
        </p:txBody>
      </p:sp>
      <p:sp>
        <p:nvSpPr>
          <p:cNvPr id="24" name="Shape 20"/>
          <p:cNvSpPr/>
          <p:nvPr/>
        </p:nvSpPr>
        <p:spPr>
          <a:xfrm>
            <a:off x="7168896" y="3154680"/>
            <a:ext cx="82296" cy="0"/>
          </a:xfrm>
          <a:prstGeom prst="line">
            <a:avLst/>
          </a:prstGeom>
          <a:noFill/>
          <a:ln w="19050">
            <a:solidFill>
              <a:srgbClr val="21B6A8"/>
            </a:solidFill>
            <a:prstDash val="solid"/>
            <a:tailEnd type="triangle"/>
          </a:ln>
        </p:spPr>
        <p:txBody>
          <a:bodyPr/>
          <a:lstStyle/>
          <a:p>
            <a:endParaRPr lang="en-US"/>
          </a:p>
        </p:txBody>
      </p:sp>
      <p:sp>
        <p:nvSpPr>
          <p:cNvPr id="25" name="Shape 21"/>
          <p:cNvSpPr/>
          <p:nvPr/>
        </p:nvSpPr>
        <p:spPr>
          <a:xfrm>
            <a:off x="7287768" y="2679192"/>
            <a:ext cx="905256" cy="960120"/>
          </a:xfrm>
          <a:prstGeom prst="roundRect">
            <a:avLst>
              <a:gd name="adj" fmla="val 6061"/>
            </a:avLst>
          </a:prstGeom>
          <a:solidFill>
            <a:srgbClr val="1C7293"/>
          </a:solidFill>
          <a:ln/>
        </p:spPr>
        <p:txBody>
          <a:bodyPr/>
          <a:lstStyle/>
          <a:p>
            <a:endParaRPr lang="en-US"/>
          </a:p>
        </p:txBody>
      </p:sp>
      <p:sp>
        <p:nvSpPr>
          <p:cNvPr id="26" name="Text 22"/>
          <p:cNvSpPr/>
          <p:nvPr/>
        </p:nvSpPr>
        <p:spPr>
          <a:xfrm>
            <a:off x="7306056" y="2679192"/>
            <a:ext cx="832104" cy="960120"/>
          </a:xfrm>
          <a:prstGeom prst="rect">
            <a:avLst/>
          </a:prstGeom>
          <a:noFill/>
          <a:ln/>
        </p:spPr>
        <p:txBody>
          <a:bodyPr wrap="square" lIns="0" tIns="0" rIns="0" bIns="0" rtlCol="0" anchor="ctr"/>
          <a:lstStyle/>
          <a:p>
            <a:pPr marL="0" indent="0" algn="ctr">
              <a:buNone/>
            </a:pPr>
            <a:r>
              <a:rPr lang="en-US" sz="780" b="1" dirty="0">
                <a:solidFill>
                  <a:srgbClr val="FFFFFF"/>
                </a:solidFill>
                <a:latin typeface="Courier New" pitchFamily="34" charset="0"/>
                <a:ea typeface="Courier New" pitchFamily="34" charset="-122"/>
                <a:cs typeface="Courier New" pitchFamily="34" charset="-120"/>
              </a:rPr>
              <a:t>MatchFound</a:t>
            </a:r>
            <a:endParaRPr lang="en-US" sz="780" dirty="0"/>
          </a:p>
        </p:txBody>
      </p:sp>
      <p:sp>
        <p:nvSpPr>
          <p:cNvPr id="27" name="Shape 23"/>
          <p:cNvSpPr/>
          <p:nvPr/>
        </p:nvSpPr>
        <p:spPr>
          <a:xfrm>
            <a:off x="8202168" y="3154680"/>
            <a:ext cx="82296" cy="0"/>
          </a:xfrm>
          <a:prstGeom prst="line">
            <a:avLst/>
          </a:prstGeom>
          <a:noFill/>
          <a:ln w="19050">
            <a:solidFill>
              <a:srgbClr val="21B6A8"/>
            </a:solidFill>
            <a:prstDash val="solid"/>
            <a:tailEnd type="triangle"/>
          </a:ln>
        </p:spPr>
        <p:txBody>
          <a:bodyPr/>
          <a:lstStyle/>
          <a:p>
            <a:endParaRPr lang="en-US"/>
          </a:p>
        </p:txBody>
      </p:sp>
      <p:sp>
        <p:nvSpPr>
          <p:cNvPr id="28" name="Shape 24"/>
          <p:cNvSpPr/>
          <p:nvPr/>
        </p:nvSpPr>
        <p:spPr>
          <a:xfrm>
            <a:off x="8321040" y="2679192"/>
            <a:ext cx="905256" cy="960120"/>
          </a:xfrm>
          <a:prstGeom prst="roundRect">
            <a:avLst>
              <a:gd name="adj" fmla="val 6061"/>
            </a:avLst>
          </a:prstGeom>
          <a:solidFill>
            <a:srgbClr val="1C7293"/>
          </a:solidFill>
          <a:ln/>
        </p:spPr>
        <p:txBody>
          <a:bodyPr/>
          <a:lstStyle/>
          <a:p>
            <a:endParaRPr lang="en-US"/>
          </a:p>
        </p:txBody>
      </p:sp>
      <p:sp>
        <p:nvSpPr>
          <p:cNvPr id="29" name="Text 25"/>
          <p:cNvSpPr/>
          <p:nvPr/>
        </p:nvSpPr>
        <p:spPr>
          <a:xfrm>
            <a:off x="8339328" y="2679192"/>
            <a:ext cx="832104" cy="960120"/>
          </a:xfrm>
          <a:prstGeom prst="rect">
            <a:avLst/>
          </a:prstGeom>
          <a:noFill/>
          <a:ln/>
        </p:spPr>
        <p:txBody>
          <a:bodyPr wrap="square" lIns="0" tIns="0" rIns="0" bIns="0" rtlCol="0" anchor="ctr"/>
          <a:lstStyle/>
          <a:p>
            <a:pPr marL="0" indent="0" algn="ctr">
              <a:buNone/>
            </a:pPr>
            <a:r>
              <a:rPr lang="en-US" sz="780" b="1" dirty="0">
                <a:solidFill>
                  <a:srgbClr val="FFFFFF"/>
                </a:solidFill>
                <a:latin typeface="Courier New" pitchFamily="34" charset="0"/>
                <a:ea typeface="Courier New" pitchFamily="34" charset="-122"/>
                <a:cs typeface="Courier New" pitchFamily="34" charset="-120"/>
              </a:rPr>
              <a:t>ClaimCreated</a:t>
            </a:r>
            <a:endParaRPr lang="en-US" sz="780" dirty="0"/>
          </a:p>
        </p:txBody>
      </p:sp>
      <p:sp>
        <p:nvSpPr>
          <p:cNvPr id="30" name="Shape 26"/>
          <p:cNvSpPr/>
          <p:nvPr/>
        </p:nvSpPr>
        <p:spPr>
          <a:xfrm>
            <a:off x="9235440" y="3154680"/>
            <a:ext cx="82296" cy="0"/>
          </a:xfrm>
          <a:prstGeom prst="line">
            <a:avLst/>
          </a:prstGeom>
          <a:noFill/>
          <a:ln w="19050">
            <a:solidFill>
              <a:srgbClr val="21B6A8"/>
            </a:solidFill>
            <a:prstDash val="solid"/>
            <a:tailEnd type="triangle"/>
          </a:ln>
        </p:spPr>
        <p:txBody>
          <a:bodyPr/>
          <a:lstStyle/>
          <a:p>
            <a:endParaRPr lang="en-US"/>
          </a:p>
        </p:txBody>
      </p:sp>
      <p:sp>
        <p:nvSpPr>
          <p:cNvPr id="31" name="Shape 27"/>
          <p:cNvSpPr/>
          <p:nvPr/>
        </p:nvSpPr>
        <p:spPr>
          <a:xfrm>
            <a:off x="9354312" y="2679192"/>
            <a:ext cx="905256" cy="960120"/>
          </a:xfrm>
          <a:prstGeom prst="roundRect">
            <a:avLst>
              <a:gd name="adj" fmla="val 6061"/>
            </a:avLst>
          </a:prstGeom>
          <a:solidFill>
            <a:srgbClr val="1C7293"/>
          </a:solidFill>
          <a:ln/>
        </p:spPr>
        <p:txBody>
          <a:bodyPr/>
          <a:lstStyle/>
          <a:p>
            <a:endParaRPr lang="en-US"/>
          </a:p>
        </p:txBody>
      </p:sp>
      <p:sp>
        <p:nvSpPr>
          <p:cNvPr id="32" name="Text 28"/>
          <p:cNvSpPr/>
          <p:nvPr/>
        </p:nvSpPr>
        <p:spPr>
          <a:xfrm>
            <a:off x="9372600" y="2679192"/>
            <a:ext cx="832104" cy="960120"/>
          </a:xfrm>
          <a:prstGeom prst="rect">
            <a:avLst/>
          </a:prstGeom>
          <a:noFill/>
          <a:ln/>
        </p:spPr>
        <p:txBody>
          <a:bodyPr wrap="square" lIns="0" tIns="0" rIns="0" bIns="0" rtlCol="0" anchor="ctr"/>
          <a:lstStyle/>
          <a:p>
            <a:pPr marL="0" indent="0" algn="ctr">
              <a:buNone/>
            </a:pPr>
            <a:r>
              <a:rPr lang="en-US" sz="780" b="1" dirty="0">
                <a:solidFill>
                  <a:srgbClr val="FFFFFF"/>
                </a:solidFill>
                <a:latin typeface="Courier New" pitchFamily="34" charset="0"/>
                <a:ea typeface="Courier New" pitchFamily="34" charset="-122"/>
                <a:cs typeface="Courier New" pitchFamily="34" charset="-120"/>
              </a:rPr>
              <a:t>ClaimApproved</a:t>
            </a:r>
            <a:endParaRPr lang="en-US" sz="780" dirty="0"/>
          </a:p>
          <a:p>
            <a:pPr marL="0" indent="0" algn="ctr">
              <a:buNone/>
            </a:pPr>
            <a:r>
              <a:rPr lang="en-US" sz="780" b="1" dirty="0">
                <a:solidFill>
                  <a:srgbClr val="FFFFFF"/>
                </a:solidFill>
                <a:latin typeface="Courier New" pitchFamily="34" charset="0"/>
                <a:ea typeface="Courier New" pitchFamily="34" charset="-122"/>
                <a:cs typeface="Courier New" pitchFamily="34" charset="-120"/>
              </a:rPr>
              <a:t>ClaimRejected</a:t>
            </a:r>
            <a:endParaRPr lang="en-US" sz="780" dirty="0"/>
          </a:p>
        </p:txBody>
      </p:sp>
      <p:sp>
        <p:nvSpPr>
          <p:cNvPr id="33" name="Shape 29"/>
          <p:cNvSpPr/>
          <p:nvPr/>
        </p:nvSpPr>
        <p:spPr>
          <a:xfrm>
            <a:off x="10268712" y="3154680"/>
            <a:ext cx="82296" cy="0"/>
          </a:xfrm>
          <a:prstGeom prst="line">
            <a:avLst/>
          </a:prstGeom>
          <a:noFill/>
          <a:ln w="19050">
            <a:solidFill>
              <a:srgbClr val="21B6A8"/>
            </a:solidFill>
            <a:prstDash val="solid"/>
            <a:tailEnd type="triangle"/>
          </a:ln>
        </p:spPr>
        <p:txBody>
          <a:bodyPr/>
          <a:lstStyle/>
          <a:p>
            <a:endParaRPr lang="en-US"/>
          </a:p>
        </p:txBody>
      </p:sp>
      <p:sp>
        <p:nvSpPr>
          <p:cNvPr id="34" name="Shape 30"/>
          <p:cNvSpPr/>
          <p:nvPr/>
        </p:nvSpPr>
        <p:spPr>
          <a:xfrm>
            <a:off x="10387584" y="2679192"/>
            <a:ext cx="905256" cy="960120"/>
          </a:xfrm>
          <a:prstGeom prst="roundRect">
            <a:avLst>
              <a:gd name="adj" fmla="val 6061"/>
            </a:avLst>
          </a:prstGeom>
          <a:solidFill>
            <a:srgbClr val="1C7293"/>
          </a:solidFill>
          <a:ln/>
        </p:spPr>
        <p:txBody>
          <a:bodyPr/>
          <a:lstStyle/>
          <a:p>
            <a:endParaRPr lang="en-US"/>
          </a:p>
        </p:txBody>
      </p:sp>
      <p:sp>
        <p:nvSpPr>
          <p:cNvPr id="35" name="Text 31"/>
          <p:cNvSpPr/>
          <p:nvPr/>
        </p:nvSpPr>
        <p:spPr>
          <a:xfrm>
            <a:off x="10405872" y="2679192"/>
            <a:ext cx="832104" cy="960120"/>
          </a:xfrm>
          <a:prstGeom prst="rect">
            <a:avLst/>
          </a:prstGeom>
          <a:noFill/>
          <a:ln/>
        </p:spPr>
        <p:txBody>
          <a:bodyPr wrap="square" lIns="0" tIns="0" rIns="0" bIns="0" rtlCol="0" anchor="ctr"/>
          <a:lstStyle/>
          <a:p>
            <a:pPr marL="0" indent="0" algn="ctr">
              <a:buNone/>
            </a:pPr>
            <a:r>
              <a:rPr lang="en-US" sz="780" b="1" dirty="0">
                <a:solidFill>
                  <a:srgbClr val="FFFFFF"/>
                </a:solidFill>
                <a:latin typeface="Courier New" pitchFamily="34" charset="0"/>
                <a:ea typeface="Courier New" pitchFamily="34" charset="-122"/>
                <a:cs typeface="Courier New" pitchFamily="34" charset="-120"/>
              </a:rPr>
              <a:t>ItemRecovered</a:t>
            </a:r>
            <a:endParaRPr lang="en-US" sz="780" dirty="0"/>
          </a:p>
        </p:txBody>
      </p:sp>
      <p:sp>
        <p:nvSpPr>
          <p:cNvPr id="36" name="Shape 32"/>
          <p:cNvSpPr/>
          <p:nvPr/>
        </p:nvSpPr>
        <p:spPr>
          <a:xfrm>
            <a:off x="548640" y="4160520"/>
            <a:ext cx="3611880" cy="1664208"/>
          </a:xfrm>
          <a:prstGeom prst="roundRect">
            <a:avLst>
              <a:gd name="adj" fmla="val 4396"/>
            </a:avLst>
          </a:prstGeom>
          <a:solidFill>
            <a:srgbClr val="EEF4F7"/>
          </a:solidFill>
          <a:ln/>
        </p:spPr>
        <p:txBody>
          <a:bodyPr/>
          <a:lstStyle/>
          <a:p>
            <a:endParaRPr lang="en-US"/>
          </a:p>
        </p:txBody>
      </p:sp>
      <p:sp>
        <p:nvSpPr>
          <p:cNvPr id="37" name="Shape 33"/>
          <p:cNvSpPr/>
          <p:nvPr/>
        </p:nvSpPr>
        <p:spPr>
          <a:xfrm>
            <a:off x="731520" y="4343400"/>
            <a:ext cx="384048" cy="384048"/>
          </a:xfrm>
          <a:prstGeom prst="ellipse">
            <a:avLst/>
          </a:prstGeom>
          <a:solidFill>
            <a:srgbClr val="1C7293"/>
          </a:solidFill>
          <a:ln/>
        </p:spPr>
        <p:txBody>
          <a:bodyPr/>
          <a:lstStyle/>
          <a:p>
            <a:endParaRPr lang="en-US"/>
          </a:p>
        </p:txBody>
      </p:sp>
      <p:pic>
        <p:nvPicPr>
          <p:cNvPr id="38" name="Image 2" descr="preencoded.png"/>
          <p:cNvPicPr>
            <a:picLocks noChangeAspect="1"/>
          </p:cNvPicPr>
          <p:nvPr/>
        </p:nvPicPr>
        <p:blipFill>
          <a:blip r:embed="rId5"/>
          <a:stretch>
            <a:fillRect/>
          </a:stretch>
        </p:blipFill>
        <p:spPr>
          <a:xfrm>
            <a:off x="817931" y="4429811"/>
            <a:ext cx="211226" cy="211226"/>
          </a:xfrm>
          <a:prstGeom prst="rect">
            <a:avLst/>
          </a:prstGeom>
        </p:spPr>
      </p:pic>
      <p:sp>
        <p:nvSpPr>
          <p:cNvPr id="39" name="Text 34"/>
          <p:cNvSpPr/>
          <p:nvPr/>
        </p:nvSpPr>
        <p:spPr>
          <a:xfrm>
            <a:off x="1234440" y="4379976"/>
            <a:ext cx="2788920" cy="32004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Why Redis?</a:t>
            </a:r>
            <a:endParaRPr lang="en-US" sz="1250" dirty="0"/>
          </a:p>
        </p:txBody>
      </p:sp>
      <p:sp>
        <p:nvSpPr>
          <p:cNvPr id="40" name="Text 35"/>
          <p:cNvSpPr/>
          <p:nvPr/>
        </p:nvSpPr>
        <p:spPr>
          <a:xfrm>
            <a:off x="822960" y="4818888"/>
            <a:ext cx="3063240" cy="914400"/>
          </a:xfrm>
          <a:prstGeom prst="rect">
            <a:avLst/>
          </a:prstGeom>
          <a:noFill/>
          <a:ln/>
        </p:spPr>
        <p:txBody>
          <a:bodyPr wrap="square" rtlCol="0" anchor="ctr"/>
          <a:lstStyle/>
          <a:p>
            <a:pPr marL="342900" indent="-342900">
              <a:spcAft>
                <a:spcPts val="400"/>
              </a:spcAft>
              <a:buSzPct val="100000"/>
              <a:buChar char="•"/>
            </a:pPr>
            <a:r>
              <a:rPr lang="en-US" sz="950" dirty="0">
                <a:solidFill>
                  <a:srgbClr val="1B2430"/>
                </a:solidFill>
                <a:latin typeface="Calibri" pitchFamily="34" charset="0"/>
                <a:ea typeface="Calibri" pitchFamily="34" charset="-122"/>
                <a:cs typeface="Calibri" pitchFamily="34" charset="-120"/>
              </a:rPr>
              <a:t>Lightweight, zero-config pub/sub</a:t>
            </a:r>
            <a:endParaRPr lang="en-US" sz="950" dirty="0"/>
          </a:p>
          <a:p>
            <a:pPr marL="342900" indent="-342900">
              <a:spcAft>
                <a:spcPts val="400"/>
              </a:spcAft>
              <a:buSzPct val="100000"/>
              <a:buChar char="•"/>
            </a:pPr>
            <a:r>
              <a:rPr lang="en-US" sz="950" dirty="0">
                <a:solidFill>
                  <a:srgbClr val="1B2430"/>
                </a:solidFill>
                <a:latin typeface="Calibri" pitchFamily="34" charset="0"/>
                <a:ea typeface="Calibri" pitchFamily="34" charset="-122"/>
                <a:cs typeface="Calibri" pitchFamily="34" charset="-120"/>
              </a:rPr>
              <a:t>No external broker needed at this prototype scale</a:t>
            </a:r>
            <a:endParaRPr lang="en-US" sz="950" dirty="0"/>
          </a:p>
        </p:txBody>
      </p:sp>
      <p:sp>
        <p:nvSpPr>
          <p:cNvPr id="41" name="Shape 36"/>
          <p:cNvSpPr/>
          <p:nvPr/>
        </p:nvSpPr>
        <p:spPr>
          <a:xfrm>
            <a:off x="4389120" y="4160520"/>
            <a:ext cx="3611880" cy="1664208"/>
          </a:xfrm>
          <a:prstGeom prst="roundRect">
            <a:avLst>
              <a:gd name="adj" fmla="val 4396"/>
            </a:avLst>
          </a:prstGeom>
          <a:solidFill>
            <a:srgbClr val="EEF4F7"/>
          </a:solidFill>
          <a:ln/>
        </p:spPr>
        <p:txBody>
          <a:bodyPr/>
          <a:lstStyle/>
          <a:p>
            <a:endParaRPr lang="en-US"/>
          </a:p>
        </p:txBody>
      </p:sp>
      <p:sp>
        <p:nvSpPr>
          <p:cNvPr id="42" name="Shape 37"/>
          <p:cNvSpPr/>
          <p:nvPr/>
        </p:nvSpPr>
        <p:spPr>
          <a:xfrm>
            <a:off x="4572000" y="4343400"/>
            <a:ext cx="384048" cy="384048"/>
          </a:xfrm>
          <a:prstGeom prst="ellipse">
            <a:avLst/>
          </a:prstGeom>
          <a:solidFill>
            <a:srgbClr val="1C7293"/>
          </a:solidFill>
          <a:ln/>
        </p:spPr>
        <p:txBody>
          <a:bodyPr/>
          <a:lstStyle/>
          <a:p>
            <a:endParaRPr lang="en-US"/>
          </a:p>
        </p:txBody>
      </p:sp>
      <p:pic>
        <p:nvPicPr>
          <p:cNvPr id="43" name="Image 3" descr="preencoded.png"/>
          <p:cNvPicPr>
            <a:picLocks noChangeAspect="1"/>
          </p:cNvPicPr>
          <p:nvPr/>
        </p:nvPicPr>
        <p:blipFill>
          <a:blip r:embed="rId6"/>
          <a:stretch>
            <a:fillRect/>
          </a:stretch>
        </p:blipFill>
        <p:spPr>
          <a:xfrm>
            <a:off x="4658411" y="4429811"/>
            <a:ext cx="211226" cy="211226"/>
          </a:xfrm>
          <a:prstGeom prst="rect">
            <a:avLst/>
          </a:prstGeom>
        </p:spPr>
      </p:pic>
      <p:sp>
        <p:nvSpPr>
          <p:cNvPr id="44" name="Text 38"/>
          <p:cNvSpPr/>
          <p:nvPr/>
        </p:nvSpPr>
        <p:spPr>
          <a:xfrm>
            <a:off x="5074920" y="4379976"/>
            <a:ext cx="2788920" cy="32004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Idempotency</a:t>
            </a:r>
            <a:endParaRPr lang="en-US" sz="1250" dirty="0"/>
          </a:p>
        </p:txBody>
      </p:sp>
      <p:sp>
        <p:nvSpPr>
          <p:cNvPr id="45" name="Text 39"/>
          <p:cNvSpPr/>
          <p:nvPr/>
        </p:nvSpPr>
        <p:spPr>
          <a:xfrm>
            <a:off x="4663440" y="4818888"/>
            <a:ext cx="3063240" cy="914400"/>
          </a:xfrm>
          <a:prstGeom prst="rect">
            <a:avLst/>
          </a:prstGeom>
          <a:noFill/>
          <a:ln/>
        </p:spPr>
        <p:txBody>
          <a:bodyPr wrap="square" rtlCol="0" anchor="ctr"/>
          <a:lstStyle/>
          <a:p>
            <a:pPr marL="342900" indent="-342900">
              <a:spcAft>
                <a:spcPts val="400"/>
              </a:spcAft>
              <a:buSzPct val="100000"/>
              <a:buChar char="•"/>
            </a:pPr>
            <a:r>
              <a:rPr lang="en-US" sz="950" dirty="0">
                <a:solidFill>
                  <a:srgbClr val="1B2430"/>
                </a:solidFill>
                <a:latin typeface="Calibri" pitchFamily="34" charset="0"/>
                <a:ea typeface="Calibri" pitchFamily="34" charset="-122"/>
                <a:cs typeface="Calibri" pitchFamily="34" charset="-120"/>
              </a:rPr>
              <a:t>Redis can redeliver a message</a:t>
            </a:r>
            <a:endParaRPr lang="en-US" sz="950" dirty="0"/>
          </a:p>
          <a:p>
            <a:pPr marL="342900" indent="-342900">
              <a:spcAft>
                <a:spcPts val="400"/>
              </a:spcAft>
              <a:buSzPct val="100000"/>
              <a:buChar char="•"/>
            </a:pPr>
            <a:r>
              <a:rPr lang="en-US" sz="950" dirty="0">
                <a:solidFill>
                  <a:srgbClr val="1B2430"/>
                </a:solidFill>
                <a:latin typeface="Calibri" pitchFamily="34" charset="0"/>
                <a:ea typeface="Calibri" pitchFamily="34" charset="-122"/>
                <a:cs typeface="Calibri" pitchFamily="34" charset="-120"/>
              </a:rPr>
              <a:t>Notification Service stores processed eventId values to prevent duplicates</a:t>
            </a:r>
            <a:endParaRPr lang="en-US" sz="950" dirty="0"/>
          </a:p>
        </p:txBody>
      </p:sp>
      <p:sp>
        <p:nvSpPr>
          <p:cNvPr id="46" name="Shape 40"/>
          <p:cNvSpPr/>
          <p:nvPr/>
        </p:nvSpPr>
        <p:spPr>
          <a:xfrm>
            <a:off x="8229600" y="4160520"/>
            <a:ext cx="3611880" cy="1664208"/>
          </a:xfrm>
          <a:prstGeom prst="roundRect">
            <a:avLst>
              <a:gd name="adj" fmla="val 4396"/>
            </a:avLst>
          </a:prstGeom>
          <a:solidFill>
            <a:srgbClr val="EEF4F7"/>
          </a:solidFill>
          <a:ln/>
        </p:spPr>
        <p:txBody>
          <a:bodyPr/>
          <a:lstStyle/>
          <a:p>
            <a:endParaRPr lang="en-US"/>
          </a:p>
        </p:txBody>
      </p:sp>
      <p:sp>
        <p:nvSpPr>
          <p:cNvPr id="47" name="Shape 41"/>
          <p:cNvSpPr/>
          <p:nvPr/>
        </p:nvSpPr>
        <p:spPr>
          <a:xfrm>
            <a:off x="8412480" y="4343400"/>
            <a:ext cx="384048" cy="384048"/>
          </a:xfrm>
          <a:prstGeom prst="ellipse">
            <a:avLst/>
          </a:prstGeom>
          <a:solidFill>
            <a:srgbClr val="1C7293"/>
          </a:solidFill>
          <a:ln/>
        </p:spPr>
        <p:txBody>
          <a:bodyPr/>
          <a:lstStyle/>
          <a:p>
            <a:endParaRPr lang="en-US"/>
          </a:p>
        </p:txBody>
      </p:sp>
      <p:pic>
        <p:nvPicPr>
          <p:cNvPr id="48" name="Image 4" descr="preencoded.png"/>
          <p:cNvPicPr>
            <a:picLocks noChangeAspect="1"/>
          </p:cNvPicPr>
          <p:nvPr/>
        </p:nvPicPr>
        <p:blipFill>
          <a:blip r:embed="rId7"/>
          <a:stretch>
            <a:fillRect/>
          </a:stretch>
        </p:blipFill>
        <p:spPr>
          <a:xfrm>
            <a:off x="8498891" y="4429811"/>
            <a:ext cx="211226" cy="211226"/>
          </a:xfrm>
          <a:prstGeom prst="rect">
            <a:avLst/>
          </a:prstGeom>
        </p:spPr>
      </p:pic>
      <p:sp>
        <p:nvSpPr>
          <p:cNvPr id="49" name="Text 42"/>
          <p:cNvSpPr/>
          <p:nvPr/>
        </p:nvSpPr>
        <p:spPr>
          <a:xfrm>
            <a:off x="8915400" y="4379976"/>
            <a:ext cx="2788920" cy="32004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Event Schema</a:t>
            </a:r>
            <a:endParaRPr lang="en-US" sz="1250" dirty="0"/>
          </a:p>
        </p:txBody>
      </p:sp>
      <p:sp>
        <p:nvSpPr>
          <p:cNvPr id="50" name="Text 43"/>
          <p:cNvSpPr/>
          <p:nvPr/>
        </p:nvSpPr>
        <p:spPr>
          <a:xfrm>
            <a:off x="8503920" y="4818888"/>
            <a:ext cx="3063240" cy="914400"/>
          </a:xfrm>
          <a:prstGeom prst="rect">
            <a:avLst/>
          </a:prstGeom>
          <a:noFill/>
          <a:ln/>
        </p:spPr>
        <p:txBody>
          <a:bodyPr wrap="square" rtlCol="0" anchor="ctr"/>
          <a:lstStyle/>
          <a:p>
            <a:pPr marL="0" indent="0">
              <a:spcAft>
                <a:spcPts val="400"/>
              </a:spcAft>
              <a:buNone/>
            </a:pPr>
            <a:r>
              <a:rPr lang="en-US" sz="950" dirty="0">
                <a:solidFill>
                  <a:srgbClr val="1B2430"/>
                </a:solidFill>
                <a:latin typeface="Courier New" pitchFamily="34" charset="0"/>
                <a:ea typeface="Courier New" pitchFamily="34" charset="-122"/>
                <a:cs typeface="Courier New" pitchFamily="34" charset="-120"/>
              </a:rPr>
              <a:t>{ eventId, eventType,</a:t>
            </a:r>
            <a:endParaRPr lang="en-US" sz="950" dirty="0"/>
          </a:p>
          <a:p>
            <a:pPr marL="0" indent="0">
              <a:spcAft>
                <a:spcPts val="400"/>
              </a:spcAft>
              <a:buNone/>
            </a:pPr>
            <a:r>
              <a:rPr lang="en-US" sz="950" dirty="0">
                <a:solidFill>
                  <a:srgbClr val="1B2430"/>
                </a:solidFill>
                <a:latin typeface="Courier New" pitchFamily="34" charset="0"/>
                <a:ea typeface="Courier New" pitchFamily="34" charset="-122"/>
                <a:cs typeface="Courier New" pitchFamily="34" charset="-120"/>
              </a:rPr>
              <a:t>  timestamp, payload }</a:t>
            </a:r>
            <a:endParaRPr lang="en-US" sz="950" dirty="0"/>
          </a:p>
        </p:txBody>
      </p:sp>
      <p:sp>
        <p:nvSpPr>
          <p:cNvPr id="51" name="Text 44"/>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52" name="Text 45"/>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CORE TECHNIQUES</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Data Synchronization &amp; Cross-Service Queries</a:t>
            </a:r>
            <a:endParaRPr lang="en-US" sz="3000" dirty="0"/>
          </a:p>
        </p:txBody>
      </p:sp>
      <p:sp>
        <p:nvSpPr>
          <p:cNvPr id="4" name="Shape 2"/>
          <p:cNvSpPr/>
          <p:nvPr/>
        </p:nvSpPr>
        <p:spPr>
          <a:xfrm>
            <a:off x="548640" y="1508760"/>
            <a:ext cx="5989320" cy="4206240"/>
          </a:xfrm>
          <a:prstGeom prst="roundRect">
            <a:avLst>
              <a:gd name="adj" fmla="val 173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868680" y="1691640"/>
            <a:ext cx="5349240" cy="365760"/>
          </a:xfrm>
          <a:prstGeom prst="rect">
            <a:avLst/>
          </a:prstGeom>
          <a:noFill/>
          <a:ln/>
        </p:spPr>
        <p:txBody>
          <a:bodyPr wrap="square"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API Composition — React Dashboard</a:t>
            </a:r>
            <a:endParaRPr lang="en-US" sz="1350" dirty="0"/>
          </a:p>
        </p:txBody>
      </p:sp>
      <p:sp>
        <p:nvSpPr>
          <p:cNvPr id="6" name="Shape 4"/>
          <p:cNvSpPr/>
          <p:nvPr/>
        </p:nvSpPr>
        <p:spPr>
          <a:xfrm>
            <a:off x="2491740" y="2167128"/>
            <a:ext cx="2103120" cy="438912"/>
          </a:xfrm>
          <a:prstGeom prst="roundRect">
            <a:avLst>
              <a:gd name="adj" fmla="val 12500"/>
            </a:avLst>
          </a:prstGeom>
          <a:solidFill>
            <a:srgbClr val="5C6B7A"/>
          </a:solidFill>
          <a:ln/>
        </p:spPr>
        <p:txBody>
          <a:bodyPr/>
          <a:lstStyle/>
          <a:p>
            <a:endParaRPr lang="en-US"/>
          </a:p>
        </p:txBody>
      </p:sp>
      <p:sp>
        <p:nvSpPr>
          <p:cNvPr id="7" name="Text 5"/>
          <p:cNvSpPr/>
          <p:nvPr/>
        </p:nvSpPr>
        <p:spPr>
          <a:xfrm>
            <a:off x="2491740" y="2167128"/>
            <a:ext cx="210312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React Dashboard</a:t>
            </a:r>
            <a:endParaRPr lang="en-US" sz="1000" dirty="0"/>
          </a:p>
        </p:txBody>
      </p:sp>
      <p:sp>
        <p:nvSpPr>
          <p:cNvPr id="8" name="Shape 6"/>
          <p:cNvSpPr/>
          <p:nvPr/>
        </p:nvSpPr>
        <p:spPr>
          <a:xfrm>
            <a:off x="3543300" y="2606040"/>
            <a:ext cx="0" cy="274320"/>
          </a:xfrm>
          <a:prstGeom prst="line">
            <a:avLst/>
          </a:prstGeom>
          <a:noFill/>
          <a:ln w="19050">
            <a:solidFill>
              <a:srgbClr val="5C6B7A"/>
            </a:solidFill>
            <a:prstDash val="solid"/>
            <a:tailEnd type="triangle"/>
          </a:ln>
        </p:spPr>
        <p:txBody>
          <a:bodyPr/>
          <a:lstStyle/>
          <a:p>
            <a:endParaRPr lang="en-US"/>
          </a:p>
        </p:txBody>
      </p:sp>
      <p:sp>
        <p:nvSpPr>
          <p:cNvPr id="9" name="Shape 7"/>
          <p:cNvSpPr/>
          <p:nvPr/>
        </p:nvSpPr>
        <p:spPr>
          <a:xfrm>
            <a:off x="2354580" y="2880360"/>
            <a:ext cx="2377440" cy="411480"/>
          </a:xfrm>
          <a:prstGeom prst="roundRect">
            <a:avLst>
              <a:gd name="adj" fmla="val 13333"/>
            </a:avLst>
          </a:prstGeom>
          <a:solidFill>
            <a:srgbClr val="21295C"/>
          </a:solidFill>
          <a:ln/>
        </p:spPr>
        <p:txBody>
          <a:bodyPr/>
          <a:lstStyle/>
          <a:p>
            <a:endParaRPr lang="en-US"/>
          </a:p>
        </p:txBody>
      </p:sp>
      <p:sp>
        <p:nvSpPr>
          <p:cNvPr id="10" name="Text 8"/>
          <p:cNvSpPr/>
          <p:nvPr/>
        </p:nvSpPr>
        <p:spPr>
          <a:xfrm>
            <a:off x="2354580" y="2880360"/>
            <a:ext cx="23774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nginx proxy (:3001)</a:t>
            </a:r>
            <a:endParaRPr lang="en-US" sz="1000" dirty="0"/>
          </a:p>
        </p:txBody>
      </p:sp>
      <p:sp>
        <p:nvSpPr>
          <p:cNvPr id="11" name="Shape 9"/>
          <p:cNvSpPr/>
          <p:nvPr/>
        </p:nvSpPr>
        <p:spPr>
          <a:xfrm>
            <a:off x="1623060" y="3291840"/>
            <a:ext cx="0" cy="502920"/>
          </a:xfrm>
          <a:prstGeom prst="line">
            <a:avLst/>
          </a:prstGeom>
          <a:noFill/>
          <a:ln w="15875">
            <a:solidFill>
              <a:srgbClr val="5C6B7A"/>
            </a:solidFill>
            <a:prstDash val="solid"/>
            <a:tailEnd type="triangle"/>
          </a:ln>
        </p:spPr>
        <p:txBody>
          <a:bodyPr/>
          <a:lstStyle/>
          <a:p>
            <a:endParaRPr lang="en-US"/>
          </a:p>
        </p:txBody>
      </p:sp>
      <p:sp>
        <p:nvSpPr>
          <p:cNvPr id="12" name="Text 10"/>
          <p:cNvSpPr/>
          <p:nvPr/>
        </p:nvSpPr>
        <p:spPr>
          <a:xfrm>
            <a:off x="1303020" y="3383280"/>
            <a:ext cx="640080" cy="182880"/>
          </a:xfrm>
          <a:prstGeom prst="rect">
            <a:avLst/>
          </a:prstGeom>
          <a:noFill/>
          <a:ln/>
        </p:spPr>
        <p:txBody>
          <a:bodyPr wrap="square" lIns="0" tIns="0" rIns="0" bIns="0" rtlCol="0" anchor="ctr"/>
          <a:lstStyle/>
          <a:p>
            <a:pPr marL="0" indent="0" algn="ctr">
              <a:buNone/>
            </a:pPr>
            <a:r>
              <a:rPr lang="en-US" sz="750" dirty="0">
                <a:solidFill>
                  <a:srgbClr val="5C6B7A"/>
                </a:solidFill>
                <a:latin typeface="Courier New" pitchFamily="34" charset="0"/>
                <a:ea typeface="Courier New" pitchFamily="34" charset="-122"/>
                <a:cs typeface="Courier New" pitchFamily="34" charset="-120"/>
              </a:rPr>
              <a:t>pull</a:t>
            </a:r>
            <a:endParaRPr lang="en-US" sz="750" dirty="0"/>
          </a:p>
        </p:txBody>
      </p:sp>
      <p:sp>
        <p:nvSpPr>
          <p:cNvPr id="13" name="Shape 11"/>
          <p:cNvSpPr/>
          <p:nvPr/>
        </p:nvSpPr>
        <p:spPr>
          <a:xfrm>
            <a:off x="754380" y="3813048"/>
            <a:ext cx="1737360" cy="640080"/>
          </a:xfrm>
          <a:prstGeom prst="roundRect">
            <a:avLst>
              <a:gd name="adj" fmla="val 8571"/>
            </a:avLst>
          </a:prstGeom>
          <a:solidFill>
            <a:srgbClr val="1C7293"/>
          </a:solidFill>
          <a:ln/>
        </p:spPr>
        <p:txBody>
          <a:bodyPr/>
          <a:lstStyle/>
          <a:p>
            <a:endParaRPr lang="en-US"/>
          </a:p>
        </p:txBody>
      </p:sp>
      <p:sp>
        <p:nvSpPr>
          <p:cNvPr id="14" name="Text 12"/>
          <p:cNvSpPr/>
          <p:nvPr/>
        </p:nvSpPr>
        <p:spPr>
          <a:xfrm>
            <a:off x="827532" y="3858768"/>
            <a:ext cx="1591056"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Item Service</a:t>
            </a:r>
            <a:endParaRPr lang="en-US" sz="1000" dirty="0"/>
          </a:p>
        </p:txBody>
      </p:sp>
      <p:sp>
        <p:nvSpPr>
          <p:cNvPr id="15" name="Text 13"/>
          <p:cNvSpPr/>
          <p:nvPr/>
        </p:nvSpPr>
        <p:spPr>
          <a:xfrm>
            <a:off x="827532" y="4142232"/>
            <a:ext cx="1591056" cy="274320"/>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GET /items</a:t>
            </a:r>
            <a:endParaRPr lang="en-US" sz="850" dirty="0"/>
          </a:p>
        </p:txBody>
      </p:sp>
      <p:sp>
        <p:nvSpPr>
          <p:cNvPr id="16" name="Shape 14"/>
          <p:cNvSpPr/>
          <p:nvPr/>
        </p:nvSpPr>
        <p:spPr>
          <a:xfrm>
            <a:off x="3543300" y="3291840"/>
            <a:ext cx="0" cy="502920"/>
          </a:xfrm>
          <a:prstGeom prst="line">
            <a:avLst/>
          </a:prstGeom>
          <a:noFill/>
          <a:ln w="15875">
            <a:solidFill>
              <a:srgbClr val="5C6B7A"/>
            </a:solidFill>
            <a:prstDash val="solid"/>
            <a:tailEnd type="triangle"/>
          </a:ln>
        </p:spPr>
        <p:txBody>
          <a:bodyPr/>
          <a:lstStyle/>
          <a:p>
            <a:endParaRPr lang="en-US"/>
          </a:p>
        </p:txBody>
      </p:sp>
      <p:sp>
        <p:nvSpPr>
          <p:cNvPr id="17" name="Text 15"/>
          <p:cNvSpPr/>
          <p:nvPr/>
        </p:nvSpPr>
        <p:spPr>
          <a:xfrm>
            <a:off x="3223260" y="3383280"/>
            <a:ext cx="640080" cy="182880"/>
          </a:xfrm>
          <a:prstGeom prst="rect">
            <a:avLst/>
          </a:prstGeom>
          <a:noFill/>
          <a:ln/>
        </p:spPr>
        <p:txBody>
          <a:bodyPr wrap="square" lIns="0" tIns="0" rIns="0" bIns="0" rtlCol="0" anchor="ctr"/>
          <a:lstStyle/>
          <a:p>
            <a:pPr marL="0" indent="0" algn="ctr">
              <a:buNone/>
            </a:pPr>
            <a:r>
              <a:rPr lang="en-US" sz="750" dirty="0">
                <a:solidFill>
                  <a:srgbClr val="5C6B7A"/>
                </a:solidFill>
                <a:latin typeface="Courier New" pitchFamily="34" charset="0"/>
                <a:ea typeface="Courier New" pitchFamily="34" charset="-122"/>
                <a:cs typeface="Courier New" pitchFamily="34" charset="-120"/>
              </a:rPr>
              <a:t>pull</a:t>
            </a:r>
            <a:endParaRPr lang="en-US" sz="750" dirty="0"/>
          </a:p>
        </p:txBody>
      </p:sp>
      <p:sp>
        <p:nvSpPr>
          <p:cNvPr id="18" name="Shape 16"/>
          <p:cNvSpPr/>
          <p:nvPr/>
        </p:nvSpPr>
        <p:spPr>
          <a:xfrm>
            <a:off x="2674620" y="3813048"/>
            <a:ext cx="1737360" cy="640080"/>
          </a:xfrm>
          <a:prstGeom prst="roundRect">
            <a:avLst>
              <a:gd name="adj" fmla="val 8571"/>
            </a:avLst>
          </a:prstGeom>
          <a:solidFill>
            <a:srgbClr val="1C7293"/>
          </a:solidFill>
          <a:ln/>
        </p:spPr>
        <p:txBody>
          <a:bodyPr/>
          <a:lstStyle/>
          <a:p>
            <a:endParaRPr lang="en-US"/>
          </a:p>
        </p:txBody>
      </p:sp>
      <p:sp>
        <p:nvSpPr>
          <p:cNvPr id="19" name="Text 17"/>
          <p:cNvSpPr/>
          <p:nvPr/>
        </p:nvSpPr>
        <p:spPr>
          <a:xfrm>
            <a:off x="2747772" y="3858768"/>
            <a:ext cx="1591056"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Claim/Recovery</a:t>
            </a:r>
            <a:endParaRPr lang="en-US" sz="1000" dirty="0"/>
          </a:p>
        </p:txBody>
      </p:sp>
      <p:sp>
        <p:nvSpPr>
          <p:cNvPr id="20" name="Text 18"/>
          <p:cNvSpPr/>
          <p:nvPr/>
        </p:nvSpPr>
        <p:spPr>
          <a:xfrm>
            <a:off x="2747772" y="4142232"/>
            <a:ext cx="1591056" cy="274320"/>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GET /claims/{id}/saga</a:t>
            </a:r>
            <a:endParaRPr lang="en-US" sz="850" dirty="0"/>
          </a:p>
        </p:txBody>
      </p:sp>
      <p:sp>
        <p:nvSpPr>
          <p:cNvPr id="21" name="Shape 19"/>
          <p:cNvSpPr/>
          <p:nvPr/>
        </p:nvSpPr>
        <p:spPr>
          <a:xfrm>
            <a:off x="5463540" y="3291840"/>
            <a:ext cx="0" cy="502920"/>
          </a:xfrm>
          <a:prstGeom prst="line">
            <a:avLst/>
          </a:prstGeom>
          <a:noFill/>
          <a:ln w="15875">
            <a:solidFill>
              <a:srgbClr val="5C6B7A"/>
            </a:solidFill>
            <a:prstDash val="dash"/>
            <a:tailEnd type="triangle"/>
          </a:ln>
        </p:spPr>
        <p:txBody>
          <a:bodyPr/>
          <a:lstStyle/>
          <a:p>
            <a:endParaRPr lang="en-US"/>
          </a:p>
        </p:txBody>
      </p:sp>
      <p:sp>
        <p:nvSpPr>
          <p:cNvPr id="22" name="Text 20"/>
          <p:cNvSpPr/>
          <p:nvPr/>
        </p:nvSpPr>
        <p:spPr>
          <a:xfrm>
            <a:off x="5143500" y="3383280"/>
            <a:ext cx="640080" cy="182880"/>
          </a:xfrm>
          <a:prstGeom prst="rect">
            <a:avLst/>
          </a:prstGeom>
          <a:noFill/>
          <a:ln/>
        </p:spPr>
        <p:txBody>
          <a:bodyPr wrap="square" lIns="0" tIns="0" rIns="0" bIns="0" rtlCol="0" anchor="ctr"/>
          <a:lstStyle/>
          <a:p>
            <a:pPr marL="0" indent="0" algn="ctr">
              <a:buNone/>
            </a:pPr>
            <a:r>
              <a:rPr lang="en-US" sz="750" dirty="0">
                <a:solidFill>
                  <a:srgbClr val="21B6A8"/>
                </a:solidFill>
                <a:latin typeface="Courier New" pitchFamily="34" charset="0"/>
                <a:ea typeface="Courier New" pitchFamily="34" charset="-122"/>
                <a:cs typeface="Courier New" pitchFamily="34" charset="-120"/>
              </a:rPr>
              <a:t>push</a:t>
            </a:r>
            <a:endParaRPr lang="en-US" sz="750" dirty="0"/>
          </a:p>
        </p:txBody>
      </p:sp>
      <p:sp>
        <p:nvSpPr>
          <p:cNvPr id="23" name="Shape 21"/>
          <p:cNvSpPr/>
          <p:nvPr/>
        </p:nvSpPr>
        <p:spPr>
          <a:xfrm>
            <a:off x="4594860" y="3813048"/>
            <a:ext cx="1737360" cy="640080"/>
          </a:xfrm>
          <a:prstGeom prst="roundRect">
            <a:avLst>
              <a:gd name="adj" fmla="val 8571"/>
            </a:avLst>
          </a:prstGeom>
          <a:solidFill>
            <a:srgbClr val="1C7293"/>
          </a:solidFill>
          <a:ln/>
        </p:spPr>
        <p:txBody>
          <a:bodyPr/>
          <a:lstStyle/>
          <a:p>
            <a:endParaRPr lang="en-US"/>
          </a:p>
        </p:txBody>
      </p:sp>
      <p:sp>
        <p:nvSpPr>
          <p:cNvPr id="24" name="Text 22"/>
          <p:cNvSpPr/>
          <p:nvPr/>
        </p:nvSpPr>
        <p:spPr>
          <a:xfrm>
            <a:off x="4668012" y="3858768"/>
            <a:ext cx="1591056"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Notification Svc</a:t>
            </a:r>
            <a:endParaRPr lang="en-US" sz="1000" dirty="0"/>
          </a:p>
        </p:txBody>
      </p:sp>
      <p:sp>
        <p:nvSpPr>
          <p:cNvPr id="25" name="Text 23"/>
          <p:cNvSpPr/>
          <p:nvPr/>
        </p:nvSpPr>
        <p:spPr>
          <a:xfrm>
            <a:off x="4668012" y="4142232"/>
            <a:ext cx="1591056" cy="274320"/>
          </a:xfrm>
          <a:prstGeom prst="rect">
            <a:avLst/>
          </a:prstGeom>
          <a:noFill/>
          <a:ln/>
        </p:spPr>
        <p:txBody>
          <a:bodyPr wrap="square" lIns="0" tIns="0" rIns="0" bIns="0" rtlCol="0" anchor="ctr"/>
          <a:lstStyle/>
          <a:p>
            <a:pPr marL="0" indent="0">
              <a:buNone/>
            </a:pPr>
            <a:r>
              <a:rPr lang="en-US" sz="850" dirty="0">
                <a:solidFill>
                  <a:srgbClr val="EAF3F8"/>
                </a:solidFill>
                <a:latin typeface="Courier New" pitchFamily="34" charset="0"/>
                <a:ea typeface="Courier New" pitchFamily="34" charset="-122"/>
                <a:cs typeface="Courier New" pitchFamily="34" charset="-120"/>
              </a:rPr>
              <a:t>GET /events/processed</a:t>
            </a:r>
            <a:endParaRPr lang="en-US" sz="850" dirty="0"/>
          </a:p>
        </p:txBody>
      </p:sp>
      <p:sp>
        <p:nvSpPr>
          <p:cNvPr id="26" name="Text 24"/>
          <p:cNvSpPr/>
          <p:nvPr/>
        </p:nvSpPr>
        <p:spPr>
          <a:xfrm>
            <a:off x="868680" y="4690872"/>
            <a:ext cx="5349240" cy="329184"/>
          </a:xfrm>
          <a:prstGeom prst="rect">
            <a:avLst/>
          </a:prstGeom>
          <a:noFill/>
          <a:ln/>
        </p:spPr>
        <p:txBody>
          <a:bodyPr wrap="square" rtlCol="0" anchor="ctr"/>
          <a:lstStyle/>
          <a:p>
            <a:pPr marL="0" indent="0">
              <a:buNone/>
            </a:pPr>
            <a:r>
              <a:rPr lang="en-US" sz="1000" i="1" dirty="0">
                <a:solidFill>
                  <a:srgbClr val="5C6B7A"/>
                </a:solidFill>
                <a:latin typeface="Calibri" pitchFamily="34" charset="0"/>
                <a:ea typeface="Calibri" pitchFamily="34" charset="-122"/>
                <a:cs typeface="Calibri" pitchFamily="34" charset="-120"/>
              </a:rPr>
              <a:t>Combined response — partial results shown if one service is slow/unavailable</a:t>
            </a:r>
            <a:endParaRPr lang="en-US" sz="1000" dirty="0"/>
          </a:p>
        </p:txBody>
      </p:sp>
      <p:sp>
        <p:nvSpPr>
          <p:cNvPr id="27" name="Text 25"/>
          <p:cNvSpPr/>
          <p:nvPr/>
        </p:nvSpPr>
        <p:spPr>
          <a:xfrm>
            <a:off x="868680" y="5074920"/>
            <a:ext cx="5349240" cy="548640"/>
          </a:xfrm>
          <a:prstGeom prst="rect">
            <a:avLst/>
          </a:prstGeom>
          <a:noFill/>
          <a:ln/>
        </p:spPr>
        <p:txBody>
          <a:bodyPr wrap="square" rtlCol="0" anchor="ctr"/>
          <a:lstStyle/>
          <a:p>
            <a:pPr marL="0" indent="0">
              <a:buNone/>
            </a:pPr>
            <a:r>
              <a:rPr lang="en-US" sz="1000" b="1" dirty="0">
                <a:solidFill>
                  <a:srgbClr val="1C7293"/>
                </a:solidFill>
                <a:latin typeface="Courier New" pitchFamily="34" charset="0"/>
                <a:ea typeface="Courier New" pitchFamily="34" charset="-122"/>
                <a:cs typeface="Courier New" pitchFamily="34" charset="-120"/>
              </a:rPr>
              <a:t>pull: </a:t>
            </a:r>
            <a:r>
              <a:rPr lang="en-US" sz="1000" dirty="0">
                <a:solidFill>
                  <a:srgbClr val="1B2430"/>
                </a:solidFill>
                <a:latin typeface="Calibri" pitchFamily="34" charset="0"/>
                <a:ea typeface="Calibri" pitchFamily="34" charset="-122"/>
                <a:cs typeface="Calibri" pitchFamily="34" charset="-120"/>
              </a:rPr>
              <a:t>Dashboard fetches current state from Item + Claim/Recovery on page refresh   </a:t>
            </a:r>
            <a:r>
              <a:rPr lang="en-US" sz="1000" b="1" dirty="0">
                <a:solidFill>
                  <a:srgbClr val="21B6A8"/>
                </a:solidFill>
                <a:latin typeface="Courier New" pitchFamily="34" charset="0"/>
                <a:ea typeface="Courier New" pitchFamily="34" charset="-122"/>
                <a:cs typeface="Courier New" pitchFamily="34" charset="-120"/>
              </a:rPr>
              <a:t>push: </a:t>
            </a:r>
            <a:endParaRPr lang="en-US" sz="1000" dirty="0"/>
          </a:p>
          <a:p>
            <a:pPr marL="0" indent="0">
              <a:buNone/>
            </a:pPr>
            <a:r>
              <a:rPr lang="en-US" sz="1000" dirty="0">
                <a:solidFill>
                  <a:srgbClr val="1B2430"/>
                </a:solidFill>
                <a:latin typeface="Calibri" pitchFamily="34" charset="0"/>
                <a:ea typeface="Calibri" pitchFamily="34" charset="-122"/>
                <a:cs typeface="Calibri" pitchFamily="34" charset="-120"/>
              </a:rPr>
              <a:t>Notification Service keeps its own log by listening to Redis events</a:t>
            </a:r>
            <a:endParaRPr lang="en-US" sz="1000" dirty="0"/>
          </a:p>
        </p:txBody>
      </p:sp>
      <p:sp>
        <p:nvSpPr>
          <p:cNvPr id="28" name="Shape 26"/>
          <p:cNvSpPr/>
          <p:nvPr/>
        </p:nvSpPr>
        <p:spPr>
          <a:xfrm>
            <a:off x="6812280" y="1508760"/>
            <a:ext cx="4846320" cy="1234440"/>
          </a:xfrm>
          <a:prstGeom prst="roundRect">
            <a:avLst>
              <a:gd name="adj" fmla="val 5926"/>
            </a:avLst>
          </a:prstGeom>
          <a:solidFill>
            <a:srgbClr val="EEF4F7"/>
          </a:solidFill>
          <a:ln/>
        </p:spPr>
        <p:txBody>
          <a:bodyPr/>
          <a:lstStyle/>
          <a:p>
            <a:endParaRPr lang="en-US"/>
          </a:p>
        </p:txBody>
      </p:sp>
      <p:sp>
        <p:nvSpPr>
          <p:cNvPr id="29" name="Text 27"/>
          <p:cNvSpPr/>
          <p:nvPr/>
        </p:nvSpPr>
        <p:spPr>
          <a:xfrm>
            <a:off x="7086600" y="1645920"/>
            <a:ext cx="429768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Eventual Consistency</a:t>
            </a:r>
            <a:endParaRPr lang="en-US" sz="1300" dirty="0"/>
          </a:p>
        </p:txBody>
      </p:sp>
      <p:sp>
        <p:nvSpPr>
          <p:cNvPr id="30" name="Text 28"/>
          <p:cNvSpPr/>
          <p:nvPr/>
        </p:nvSpPr>
        <p:spPr>
          <a:xfrm>
            <a:off x="7086600" y="2011680"/>
            <a:ext cx="4297680" cy="640080"/>
          </a:xfrm>
          <a:prstGeom prst="rect">
            <a:avLst/>
          </a:prstGeom>
          <a:noFill/>
          <a:ln/>
        </p:spPr>
        <p:txBody>
          <a:bodyPr wrap="square" rtlCol="0" anchor="ctr"/>
          <a:lstStyle/>
          <a:p>
            <a:pPr marL="0" indent="0">
              <a:buNone/>
            </a:pPr>
            <a:r>
              <a:rPr lang="en-US" sz="1050" dirty="0">
                <a:solidFill>
                  <a:srgbClr val="1B2430"/>
                </a:solidFill>
                <a:latin typeface="Calibri" pitchFamily="34" charset="0"/>
                <a:ea typeface="Calibri" pitchFamily="34" charset="-122"/>
                <a:cs typeface="Calibri" pitchFamily="34" charset="-120"/>
              </a:rPr>
              <a:t>The notification log updates after the Redis event arrives — not inside the same transaction as item or claim creation.</a:t>
            </a:r>
            <a:endParaRPr lang="en-US" sz="1050" dirty="0"/>
          </a:p>
        </p:txBody>
      </p:sp>
      <p:sp>
        <p:nvSpPr>
          <p:cNvPr id="31" name="Shape 29"/>
          <p:cNvSpPr/>
          <p:nvPr/>
        </p:nvSpPr>
        <p:spPr>
          <a:xfrm>
            <a:off x="6812280" y="2926080"/>
            <a:ext cx="4846320" cy="1234440"/>
          </a:xfrm>
          <a:prstGeom prst="roundRect">
            <a:avLst>
              <a:gd name="adj" fmla="val 5926"/>
            </a:avLst>
          </a:prstGeom>
          <a:solidFill>
            <a:srgbClr val="EEF4F7"/>
          </a:solidFill>
          <a:ln/>
        </p:spPr>
        <p:txBody>
          <a:bodyPr/>
          <a:lstStyle/>
          <a:p>
            <a:endParaRPr lang="en-US"/>
          </a:p>
        </p:txBody>
      </p:sp>
      <p:sp>
        <p:nvSpPr>
          <p:cNvPr id="32" name="Text 30"/>
          <p:cNvSpPr/>
          <p:nvPr/>
        </p:nvSpPr>
        <p:spPr>
          <a:xfrm>
            <a:off x="7086600" y="3063240"/>
            <a:ext cx="429768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Graceful Degradation</a:t>
            </a:r>
            <a:endParaRPr lang="en-US" sz="1300" dirty="0"/>
          </a:p>
        </p:txBody>
      </p:sp>
      <p:sp>
        <p:nvSpPr>
          <p:cNvPr id="33" name="Text 31"/>
          <p:cNvSpPr/>
          <p:nvPr/>
        </p:nvSpPr>
        <p:spPr>
          <a:xfrm>
            <a:off x="7086600" y="3429000"/>
            <a:ext cx="4297680" cy="640080"/>
          </a:xfrm>
          <a:prstGeom prst="rect">
            <a:avLst/>
          </a:prstGeom>
          <a:noFill/>
          <a:ln/>
        </p:spPr>
        <p:txBody>
          <a:bodyPr wrap="square" rtlCol="0" anchor="ctr"/>
          <a:lstStyle/>
          <a:p>
            <a:pPr marL="0" indent="0">
              <a:buNone/>
            </a:pPr>
            <a:r>
              <a:rPr lang="en-US" sz="1050" dirty="0">
                <a:solidFill>
                  <a:srgbClr val="1B2430"/>
                </a:solidFill>
                <a:latin typeface="Calibri" pitchFamily="34" charset="0"/>
                <a:ea typeface="Calibri" pitchFamily="34" charset="-122"/>
                <a:cs typeface="Calibri" pitchFamily="34" charset="-120"/>
              </a:rPr>
              <a:t>If Notification Service is unavailable, the dashboard still shows item and claim data instead of failing the whole page.</a:t>
            </a:r>
            <a:endParaRPr lang="en-US" sz="1050" dirty="0"/>
          </a:p>
        </p:txBody>
      </p:sp>
      <p:sp>
        <p:nvSpPr>
          <p:cNvPr id="34" name="Shape 32"/>
          <p:cNvSpPr/>
          <p:nvPr/>
        </p:nvSpPr>
        <p:spPr>
          <a:xfrm>
            <a:off x="6812280" y="4343400"/>
            <a:ext cx="4846320" cy="1234440"/>
          </a:xfrm>
          <a:prstGeom prst="roundRect">
            <a:avLst>
              <a:gd name="adj" fmla="val 5926"/>
            </a:avLst>
          </a:prstGeom>
          <a:solidFill>
            <a:srgbClr val="EEF4F7"/>
          </a:solidFill>
          <a:ln/>
        </p:spPr>
        <p:txBody>
          <a:bodyPr/>
          <a:lstStyle/>
          <a:p>
            <a:endParaRPr lang="en-US"/>
          </a:p>
        </p:txBody>
      </p:sp>
      <p:sp>
        <p:nvSpPr>
          <p:cNvPr id="35" name="Text 33"/>
          <p:cNvSpPr/>
          <p:nvPr/>
        </p:nvSpPr>
        <p:spPr>
          <a:xfrm>
            <a:off x="7086600" y="4480560"/>
            <a:ext cx="429768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Future: CQRS Read Model</a:t>
            </a:r>
            <a:endParaRPr lang="en-US" sz="1300" dirty="0"/>
          </a:p>
        </p:txBody>
      </p:sp>
      <p:sp>
        <p:nvSpPr>
          <p:cNvPr id="36" name="Text 34"/>
          <p:cNvSpPr/>
          <p:nvPr/>
        </p:nvSpPr>
        <p:spPr>
          <a:xfrm>
            <a:off x="7086600" y="4846320"/>
            <a:ext cx="4297680" cy="640080"/>
          </a:xfrm>
          <a:prstGeom prst="rect">
            <a:avLst/>
          </a:prstGeom>
          <a:noFill/>
          <a:ln/>
        </p:spPr>
        <p:txBody>
          <a:bodyPr wrap="square" rtlCol="0" anchor="ctr"/>
          <a:lstStyle/>
          <a:p>
            <a:pPr marL="0" indent="0">
              <a:buNone/>
            </a:pPr>
            <a:r>
              <a:rPr lang="en-US" sz="1050" dirty="0">
                <a:solidFill>
                  <a:srgbClr val="1B2430"/>
                </a:solidFill>
                <a:latin typeface="Calibri" pitchFamily="34" charset="0"/>
                <a:ea typeface="Calibri" pitchFamily="34" charset="-122"/>
                <a:cs typeface="Calibri" pitchFamily="34" charset="-120"/>
              </a:rPr>
              <a:t>A dedicated read-optimised Dashboard Service could pre-build the combined view for faster loading.</a:t>
            </a:r>
            <a:endParaRPr lang="en-US" sz="1050" dirty="0"/>
          </a:p>
        </p:txBody>
      </p:sp>
      <p:sp>
        <p:nvSpPr>
          <p:cNvPr id="37" name="Text 35"/>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38" name="Text 36"/>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CORE TECHNIQUES</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Deployment &amp; Cloud Infrastructure</a:t>
            </a:r>
            <a:endParaRPr lang="en-US" sz="3000" dirty="0"/>
          </a:p>
        </p:txBody>
      </p:sp>
      <p:sp>
        <p:nvSpPr>
          <p:cNvPr id="4" name="Shape 2"/>
          <p:cNvSpPr/>
          <p:nvPr/>
        </p:nvSpPr>
        <p:spPr>
          <a:xfrm>
            <a:off x="548640" y="1444752"/>
            <a:ext cx="5760720" cy="804672"/>
          </a:xfrm>
          <a:prstGeom prst="roundRect">
            <a:avLst>
              <a:gd name="adj" fmla="val 7955"/>
            </a:avLst>
          </a:prstGeom>
          <a:solidFill>
            <a:srgbClr val="065A82"/>
          </a:solidFill>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713232" y="1572768"/>
            <a:ext cx="548640" cy="548640"/>
          </a:xfrm>
          <a:prstGeom prst="ellipse">
            <a:avLst/>
          </a:prstGeom>
          <a:solidFill>
            <a:srgbClr val="1C729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36676" y="1696212"/>
            <a:ext cx="301752" cy="301752"/>
          </a:xfrm>
          <a:prstGeom prst="rect">
            <a:avLst/>
          </a:prstGeom>
        </p:spPr>
      </p:pic>
      <p:sp>
        <p:nvSpPr>
          <p:cNvPr id="7" name="Text 4"/>
          <p:cNvSpPr/>
          <p:nvPr/>
        </p:nvSpPr>
        <p:spPr>
          <a:xfrm>
            <a:off x="1463040" y="1554480"/>
            <a:ext cx="46634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Docker Compose</a:t>
            </a:r>
            <a:endParaRPr lang="en-US" sz="1400" dirty="0"/>
          </a:p>
        </p:txBody>
      </p:sp>
      <p:sp>
        <p:nvSpPr>
          <p:cNvPr id="8" name="Text 5"/>
          <p:cNvSpPr/>
          <p:nvPr/>
        </p:nvSpPr>
        <p:spPr>
          <a:xfrm>
            <a:off x="1463040" y="1901952"/>
            <a:ext cx="4663440" cy="320040"/>
          </a:xfrm>
          <a:prstGeom prst="rect">
            <a:avLst/>
          </a:prstGeom>
          <a:noFill/>
          <a:ln/>
        </p:spPr>
        <p:txBody>
          <a:bodyPr wrap="square" lIns="0" tIns="0" rIns="0" bIns="0" rtlCol="0" anchor="ctr"/>
          <a:lstStyle/>
          <a:p>
            <a:pPr marL="0" indent="0">
              <a:buNone/>
            </a:pPr>
            <a:r>
              <a:rPr lang="en-US" sz="1000" dirty="0">
                <a:solidFill>
                  <a:srgbClr val="EAF3F8"/>
                </a:solidFill>
                <a:latin typeface="Calibri" pitchFamily="34" charset="0"/>
                <a:ea typeface="Calibri" pitchFamily="34" charset="-122"/>
                <a:cs typeface="Calibri" pitchFamily="34" charset="-120"/>
              </a:rPr>
              <a:t>docker-compose.yml (local) + docker-compose.prod.yml (EC2)</a:t>
            </a:r>
            <a:endParaRPr lang="en-US" sz="1000" dirty="0"/>
          </a:p>
        </p:txBody>
      </p:sp>
      <p:sp>
        <p:nvSpPr>
          <p:cNvPr id="9" name="Shape 6"/>
          <p:cNvSpPr/>
          <p:nvPr/>
        </p:nvSpPr>
        <p:spPr>
          <a:xfrm>
            <a:off x="3429000" y="2249424"/>
            <a:ext cx="0" cy="109728"/>
          </a:xfrm>
          <a:prstGeom prst="line">
            <a:avLst/>
          </a:prstGeom>
          <a:noFill/>
          <a:ln w="19050">
            <a:solidFill>
              <a:srgbClr val="5C6B7A"/>
            </a:solidFill>
            <a:prstDash val="solid"/>
          </a:ln>
        </p:spPr>
        <p:txBody>
          <a:bodyPr/>
          <a:lstStyle/>
          <a:p>
            <a:endParaRPr lang="en-US"/>
          </a:p>
        </p:txBody>
      </p:sp>
      <p:sp>
        <p:nvSpPr>
          <p:cNvPr id="10" name="Shape 7"/>
          <p:cNvSpPr/>
          <p:nvPr/>
        </p:nvSpPr>
        <p:spPr>
          <a:xfrm>
            <a:off x="548640" y="2359152"/>
            <a:ext cx="5760720" cy="804672"/>
          </a:xfrm>
          <a:prstGeom prst="roundRect">
            <a:avLst>
              <a:gd name="adj" fmla="val 7955"/>
            </a:avLst>
          </a:prstGeom>
          <a:solidFill>
            <a:srgbClr val="1C7293"/>
          </a:solidFill>
          <a:ln/>
          <a:effectLst>
            <a:outerShdw blurRad="101600" dist="38100" dir="2700000" algn="bl" rotWithShape="0">
              <a:srgbClr val="000000">
                <a:alpha val="12000"/>
              </a:srgbClr>
            </a:outerShdw>
          </a:effectLst>
        </p:spPr>
        <p:txBody>
          <a:bodyPr/>
          <a:lstStyle/>
          <a:p>
            <a:endParaRPr lang="en-US"/>
          </a:p>
        </p:txBody>
      </p:sp>
      <p:sp>
        <p:nvSpPr>
          <p:cNvPr id="11" name="Shape 8"/>
          <p:cNvSpPr/>
          <p:nvPr/>
        </p:nvSpPr>
        <p:spPr>
          <a:xfrm>
            <a:off x="713232" y="2487168"/>
            <a:ext cx="548640" cy="548640"/>
          </a:xfrm>
          <a:prstGeom prst="ellipse">
            <a:avLst/>
          </a:prstGeom>
          <a:solidFill>
            <a:srgbClr val="065A82"/>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836676" y="2610612"/>
            <a:ext cx="301752" cy="301752"/>
          </a:xfrm>
          <a:prstGeom prst="rect">
            <a:avLst/>
          </a:prstGeom>
        </p:spPr>
      </p:pic>
      <p:sp>
        <p:nvSpPr>
          <p:cNvPr id="13" name="Text 9"/>
          <p:cNvSpPr/>
          <p:nvPr/>
        </p:nvSpPr>
        <p:spPr>
          <a:xfrm>
            <a:off x="1463040" y="2468880"/>
            <a:ext cx="46634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AWS EC2</a:t>
            </a:r>
            <a:endParaRPr lang="en-US" sz="1400" dirty="0"/>
          </a:p>
        </p:txBody>
      </p:sp>
      <p:sp>
        <p:nvSpPr>
          <p:cNvPr id="14" name="Text 10"/>
          <p:cNvSpPr/>
          <p:nvPr/>
        </p:nvSpPr>
        <p:spPr>
          <a:xfrm>
            <a:off x="1463040" y="2816352"/>
            <a:ext cx="4663440" cy="320040"/>
          </a:xfrm>
          <a:prstGeom prst="rect">
            <a:avLst/>
          </a:prstGeom>
          <a:noFill/>
          <a:ln/>
        </p:spPr>
        <p:txBody>
          <a:bodyPr wrap="square" lIns="0" tIns="0" rIns="0" bIns="0" rtlCol="0" anchor="ctr"/>
          <a:lstStyle/>
          <a:p>
            <a:pPr marL="0" indent="0">
              <a:buNone/>
            </a:pPr>
            <a:r>
              <a:rPr lang="en-US" sz="1000" dirty="0">
                <a:solidFill>
                  <a:srgbClr val="EAF3F8"/>
                </a:solidFill>
                <a:latin typeface="Calibri" pitchFamily="34" charset="0"/>
                <a:ea typeface="Calibri" pitchFamily="34" charset="-122"/>
                <a:cs typeface="Calibri" pitchFamily="34" charset="-120"/>
              </a:rPr>
              <a:t>t3.small · Ubuntu 24.04 · public IP 44.220.148.111</a:t>
            </a:r>
            <a:endParaRPr lang="en-US" sz="1000" dirty="0"/>
          </a:p>
        </p:txBody>
      </p:sp>
      <p:sp>
        <p:nvSpPr>
          <p:cNvPr id="15" name="Shape 11"/>
          <p:cNvSpPr/>
          <p:nvPr/>
        </p:nvSpPr>
        <p:spPr>
          <a:xfrm>
            <a:off x="3429000" y="3163824"/>
            <a:ext cx="0" cy="109728"/>
          </a:xfrm>
          <a:prstGeom prst="line">
            <a:avLst/>
          </a:prstGeom>
          <a:noFill/>
          <a:ln w="19050">
            <a:solidFill>
              <a:srgbClr val="5C6B7A"/>
            </a:solidFill>
            <a:prstDash val="solid"/>
          </a:ln>
        </p:spPr>
        <p:txBody>
          <a:bodyPr/>
          <a:lstStyle/>
          <a:p>
            <a:endParaRPr lang="en-US"/>
          </a:p>
        </p:txBody>
      </p:sp>
      <p:sp>
        <p:nvSpPr>
          <p:cNvPr id="16" name="Shape 12"/>
          <p:cNvSpPr/>
          <p:nvPr/>
        </p:nvSpPr>
        <p:spPr>
          <a:xfrm>
            <a:off x="548640" y="3273552"/>
            <a:ext cx="5760720" cy="804672"/>
          </a:xfrm>
          <a:prstGeom prst="roundRect">
            <a:avLst>
              <a:gd name="adj" fmla="val 7955"/>
            </a:avLst>
          </a:prstGeom>
          <a:solidFill>
            <a:srgbClr val="065A82"/>
          </a:solidFill>
          <a:ln/>
          <a:effectLst>
            <a:outerShdw blurRad="101600" dist="38100" dir="2700000" algn="bl" rotWithShape="0">
              <a:srgbClr val="000000">
                <a:alpha val="12000"/>
              </a:srgbClr>
            </a:outerShdw>
          </a:effectLst>
        </p:spPr>
        <p:txBody>
          <a:bodyPr/>
          <a:lstStyle/>
          <a:p>
            <a:endParaRPr lang="en-US"/>
          </a:p>
        </p:txBody>
      </p:sp>
      <p:sp>
        <p:nvSpPr>
          <p:cNvPr id="17" name="Shape 13"/>
          <p:cNvSpPr/>
          <p:nvPr/>
        </p:nvSpPr>
        <p:spPr>
          <a:xfrm>
            <a:off x="713232" y="3401568"/>
            <a:ext cx="548640" cy="548640"/>
          </a:xfrm>
          <a:prstGeom prst="ellipse">
            <a:avLst/>
          </a:prstGeom>
          <a:solidFill>
            <a:srgbClr val="1C7293"/>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6676" y="3525012"/>
            <a:ext cx="301752" cy="301752"/>
          </a:xfrm>
          <a:prstGeom prst="rect">
            <a:avLst/>
          </a:prstGeom>
        </p:spPr>
      </p:pic>
      <p:sp>
        <p:nvSpPr>
          <p:cNvPr id="19" name="Text 14"/>
          <p:cNvSpPr/>
          <p:nvPr/>
        </p:nvSpPr>
        <p:spPr>
          <a:xfrm>
            <a:off x="1463040" y="3383280"/>
            <a:ext cx="46634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SQLite per service</a:t>
            </a:r>
            <a:endParaRPr lang="en-US" sz="1400" dirty="0"/>
          </a:p>
        </p:txBody>
      </p:sp>
      <p:sp>
        <p:nvSpPr>
          <p:cNvPr id="20" name="Text 15"/>
          <p:cNvSpPr/>
          <p:nvPr/>
        </p:nvSpPr>
        <p:spPr>
          <a:xfrm>
            <a:off x="1463040" y="3730752"/>
            <a:ext cx="4663440" cy="320040"/>
          </a:xfrm>
          <a:prstGeom prst="rect">
            <a:avLst/>
          </a:prstGeom>
          <a:noFill/>
          <a:ln/>
        </p:spPr>
        <p:txBody>
          <a:bodyPr wrap="square" lIns="0" tIns="0" rIns="0" bIns="0" rtlCol="0" anchor="ctr"/>
          <a:lstStyle/>
          <a:p>
            <a:pPr marL="0" indent="0">
              <a:buNone/>
            </a:pPr>
            <a:r>
              <a:rPr lang="en-US" sz="1000" dirty="0">
                <a:solidFill>
                  <a:srgbClr val="EAF3F8"/>
                </a:solidFill>
                <a:latin typeface="Calibri" pitchFamily="34" charset="0"/>
                <a:ea typeface="Calibri" pitchFamily="34" charset="-122"/>
                <a:cs typeface="Calibri" pitchFamily="34" charset="-120"/>
              </a:rPr>
              <a:t>item.db · claim.db · notification.db  — zero-config</a:t>
            </a:r>
            <a:endParaRPr lang="en-US" sz="1000" dirty="0"/>
          </a:p>
        </p:txBody>
      </p:sp>
      <p:sp>
        <p:nvSpPr>
          <p:cNvPr id="21" name="Shape 16"/>
          <p:cNvSpPr/>
          <p:nvPr/>
        </p:nvSpPr>
        <p:spPr>
          <a:xfrm>
            <a:off x="3429000" y="4078224"/>
            <a:ext cx="0" cy="109728"/>
          </a:xfrm>
          <a:prstGeom prst="line">
            <a:avLst/>
          </a:prstGeom>
          <a:noFill/>
          <a:ln w="19050">
            <a:solidFill>
              <a:srgbClr val="5C6B7A"/>
            </a:solidFill>
            <a:prstDash val="solid"/>
          </a:ln>
        </p:spPr>
        <p:txBody>
          <a:bodyPr/>
          <a:lstStyle/>
          <a:p>
            <a:endParaRPr lang="en-US"/>
          </a:p>
        </p:txBody>
      </p:sp>
      <p:sp>
        <p:nvSpPr>
          <p:cNvPr id="22" name="Shape 17"/>
          <p:cNvSpPr/>
          <p:nvPr/>
        </p:nvSpPr>
        <p:spPr>
          <a:xfrm>
            <a:off x="548640" y="4187952"/>
            <a:ext cx="5760720" cy="804672"/>
          </a:xfrm>
          <a:prstGeom prst="roundRect">
            <a:avLst>
              <a:gd name="adj" fmla="val 7955"/>
            </a:avLst>
          </a:prstGeom>
          <a:solidFill>
            <a:srgbClr val="1C7293"/>
          </a:solidFill>
          <a:ln/>
          <a:effectLst>
            <a:outerShdw blurRad="101600" dist="38100" dir="2700000" algn="bl" rotWithShape="0">
              <a:srgbClr val="000000">
                <a:alpha val="12000"/>
              </a:srgbClr>
            </a:outerShdw>
          </a:effectLst>
        </p:spPr>
        <p:txBody>
          <a:bodyPr/>
          <a:lstStyle/>
          <a:p>
            <a:endParaRPr lang="en-US"/>
          </a:p>
        </p:txBody>
      </p:sp>
      <p:sp>
        <p:nvSpPr>
          <p:cNvPr id="23" name="Shape 18"/>
          <p:cNvSpPr/>
          <p:nvPr/>
        </p:nvSpPr>
        <p:spPr>
          <a:xfrm>
            <a:off x="713232" y="4315968"/>
            <a:ext cx="548640" cy="548640"/>
          </a:xfrm>
          <a:prstGeom prst="ellipse">
            <a:avLst/>
          </a:prstGeom>
          <a:solidFill>
            <a:srgbClr val="065A82"/>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836676" y="4439412"/>
            <a:ext cx="301752" cy="301752"/>
          </a:xfrm>
          <a:prstGeom prst="rect">
            <a:avLst/>
          </a:prstGeom>
        </p:spPr>
      </p:pic>
      <p:sp>
        <p:nvSpPr>
          <p:cNvPr id="25" name="Text 19"/>
          <p:cNvSpPr/>
          <p:nvPr/>
        </p:nvSpPr>
        <p:spPr>
          <a:xfrm>
            <a:off x="1463040" y="4297680"/>
            <a:ext cx="46634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Redis 7</a:t>
            </a:r>
            <a:endParaRPr lang="en-US" sz="1400" dirty="0"/>
          </a:p>
        </p:txBody>
      </p:sp>
      <p:sp>
        <p:nvSpPr>
          <p:cNvPr id="26" name="Text 20"/>
          <p:cNvSpPr/>
          <p:nvPr/>
        </p:nvSpPr>
        <p:spPr>
          <a:xfrm>
            <a:off x="1463040" y="4645152"/>
            <a:ext cx="4663440" cy="320040"/>
          </a:xfrm>
          <a:prstGeom prst="rect">
            <a:avLst/>
          </a:prstGeom>
          <a:noFill/>
          <a:ln/>
        </p:spPr>
        <p:txBody>
          <a:bodyPr wrap="square" lIns="0" tIns="0" rIns="0" bIns="0" rtlCol="0" anchor="ctr"/>
          <a:lstStyle/>
          <a:p>
            <a:pPr marL="0" indent="0">
              <a:buNone/>
            </a:pPr>
            <a:r>
              <a:rPr lang="en-US" sz="1000" dirty="0">
                <a:solidFill>
                  <a:srgbClr val="EAF3F8"/>
                </a:solidFill>
                <a:latin typeface="Calibri" pitchFamily="34" charset="0"/>
                <a:ea typeface="Calibri" pitchFamily="34" charset="-122"/>
                <a:cs typeface="Calibri" pitchFamily="34" charset="-120"/>
              </a:rPr>
              <a:t>pub/sub · channel lostify:events · internal only</a:t>
            </a:r>
            <a:endParaRPr lang="en-US" sz="1000" dirty="0"/>
          </a:p>
        </p:txBody>
      </p:sp>
      <p:sp>
        <p:nvSpPr>
          <p:cNvPr id="27" name="Shape 21"/>
          <p:cNvSpPr/>
          <p:nvPr/>
        </p:nvSpPr>
        <p:spPr>
          <a:xfrm>
            <a:off x="3429000" y="4992624"/>
            <a:ext cx="0" cy="109728"/>
          </a:xfrm>
          <a:prstGeom prst="line">
            <a:avLst/>
          </a:prstGeom>
          <a:noFill/>
          <a:ln w="19050">
            <a:solidFill>
              <a:srgbClr val="5C6B7A"/>
            </a:solidFill>
            <a:prstDash val="solid"/>
          </a:ln>
        </p:spPr>
        <p:txBody>
          <a:bodyPr/>
          <a:lstStyle/>
          <a:p>
            <a:endParaRPr lang="en-US"/>
          </a:p>
        </p:txBody>
      </p:sp>
      <p:sp>
        <p:nvSpPr>
          <p:cNvPr id="28" name="Shape 22"/>
          <p:cNvSpPr/>
          <p:nvPr/>
        </p:nvSpPr>
        <p:spPr>
          <a:xfrm>
            <a:off x="548640" y="5102352"/>
            <a:ext cx="5760720" cy="804672"/>
          </a:xfrm>
          <a:prstGeom prst="roundRect">
            <a:avLst>
              <a:gd name="adj" fmla="val 7955"/>
            </a:avLst>
          </a:prstGeom>
          <a:solidFill>
            <a:srgbClr val="21B6A8"/>
          </a:solidFill>
          <a:ln/>
          <a:effectLst>
            <a:outerShdw blurRad="101600" dist="38100" dir="2700000" algn="bl" rotWithShape="0">
              <a:srgbClr val="000000">
                <a:alpha val="12000"/>
              </a:srgbClr>
            </a:outerShdw>
          </a:effectLst>
        </p:spPr>
        <p:txBody>
          <a:bodyPr/>
          <a:lstStyle/>
          <a:p>
            <a:endParaRPr lang="en-US"/>
          </a:p>
        </p:txBody>
      </p:sp>
      <p:sp>
        <p:nvSpPr>
          <p:cNvPr id="29" name="Shape 23"/>
          <p:cNvSpPr/>
          <p:nvPr/>
        </p:nvSpPr>
        <p:spPr>
          <a:xfrm>
            <a:off x="713232" y="5230368"/>
            <a:ext cx="548640" cy="548640"/>
          </a:xfrm>
          <a:prstGeom prst="ellipse">
            <a:avLst/>
          </a:prstGeom>
          <a:solidFill>
            <a:srgbClr val="1C7293"/>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836676" y="5353812"/>
            <a:ext cx="301752" cy="301752"/>
          </a:xfrm>
          <a:prstGeom prst="rect">
            <a:avLst/>
          </a:prstGeom>
        </p:spPr>
      </p:pic>
      <p:sp>
        <p:nvSpPr>
          <p:cNvPr id="31" name="Text 24"/>
          <p:cNvSpPr/>
          <p:nvPr/>
        </p:nvSpPr>
        <p:spPr>
          <a:xfrm>
            <a:off x="1463040" y="5212080"/>
            <a:ext cx="46634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AWS Step Functions</a:t>
            </a:r>
            <a:endParaRPr lang="en-US" sz="1400" dirty="0"/>
          </a:p>
        </p:txBody>
      </p:sp>
      <p:sp>
        <p:nvSpPr>
          <p:cNvPr id="32" name="Text 25"/>
          <p:cNvSpPr/>
          <p:nvPr/>
        </p:nvSpPr>
        <p:spPr>
          <a:xfrm>
            <a:off x="1463040" y="5559552"/>
            <a:ext cx="4663440" cy="320040"/>
          </a:xfrm>
          <a:prstGeom prst="rect">
            <a:avLst/>
          </a:prstGeom>
          <a:noFill/>
          <a:ln/>
        </p:spPr>
        <p:txBody>
          <a:bodyPr wrap="square" lIns="0" tIns="0" rIns="0" bIns="0" rtlCol="0" anchor="ctr"/>
          <a:lstStyle/>
          <a:p>
            <a:pPr marL="0" indent="0">
              <a:buNone/>
            </a:pPr>
            <a:r>
              <a:rPr lang="en-US" sz="1000" dirty="0">
                <a:solidFill>
                  <a:srgbClr val="EAF3F8"/>
                </a:solidFill>
                <a:latin typeface="Calibri" pitchFamily="34" charset="0"/>
                <a:ea typeface="Calibri" pitchFamily="34" charset="-122"/>
                <a:cs typeface="Calibri" pitchFamily="34" charset="-120"/>
              </a:rPr>
              <a:t>ClaimRecoverySaga · 5 Lambda mocks · eu-central-1</a:t>
            </a:r>
            <a:endParaRPr lang="en-US" sz="1000" dirty="0"/>
          </a:p>
        </p:txBody>
      </p:sp>
      <p:sp>
        <p:nvSpPr>
          <p:cNvPr id="33" name="Shape 26"/>
          <p:cNvSpPr/>
          <p:nvPr/>
        </p:nvSpPr>
        <p:spPr>
          <a:xfrm>
            <a:off x="6675120" y="1444752"/>
            <a:ext cx="4983480" cy="1920240"/>
          </a:xfrm>
          <a:prstGeom prst="roundRect">
            <a:avLst>
              <a:gd name="adj" fmla="val 3810"/>
            </a:avLst>
          </a:prstGeom>
          <a:solidFill>
            <a:srgbClr val="EEF4F7"/>
          </a:solidFill>
          <a:ln/>
        </p:spPr>
        <p:txBody>
          <a:bodyPr/>
          <a:lstStyle/>
          <a:p>
            <a:endParaRPr lang="en-US"/>
          </a:p>
        </p:txBody>
      </p:sp>
      <p:sp>
        <p:nvSpPr>
          <p:cNvPr id="34" name="Shape 27"/>
          <p:cNvSpPr/>
          <p:nvPr/>
        </p:nvSpPr>
        <p:spPr>
          <a:xfrm>
            <a:off x="6876288" y="1645920"/>
            <a:ext cx="420624" cy="420624"/>
          </a:xfrm>
          <a:prstGeom prst="ellipse">
            <a:avLst/>
          </a:prstGeom>
          <a:solidFill>
            <a:srgbClr val="1C7293"/>
          </a:solidFill>
          <a:ln/>
        </p:spPr>
        <p:txBody>
          <a:bodyPr/>
          <a:lstStyle/>
          <a:p>
            <a:endParaRPr lang="en-US"/>
          </a:p>
        </p:txBody>
      </p:sp>
      <p:pic>
        <p:nvPicPr>
          <p:cNvPr id="35" name="Image 5" descr="preencoded.png"/>
          <p:cNvPicPr>
            <a:picLocks noChangeAspect="1"/>
          </p:cNvPicPr>
          <p:nvPr/>
        </p:nvPicPr>
        <p:blipFill>
          <a:blip r:embed="rId8"/>
          <a:stretch>
            <a:fillRect/>
          </a:stretch>
        </p:blipFill>
        <p:spPr>
          <a:xfrm>
            <a:off x="6970928" y="1740560"/>
            <a:ext cx="231343" cy="231343"/>
          </a:xfrm>
          <a:prstGeom prst="rect">
            <a:avLst/>
          </a:prstGeom>
        </p:spPr>
      </p:pic>
      <p:sp>
        <p:nvSpPr>
          <p:cNvPr id="36" name="Text 28"/>
          <p:cNvSpPr/>
          <p:nvPr/>
        </p:nvSpPr>
        <p:spPr>
          <a:xfrm>
            <a:off x="7424928" y="1682496"/>
            <a:ext cx="4069080" cy="32004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GitHub Actions CI/CD</a:t>
            </a:r>
            <a:endParaRPr lang="en-US" sz="1300" dirty="0"/>
          </a:p>
        </p:txBody>
      </p:sp>
      <p:sp>
        <p:nvSpPr>
          <p:cNvPr id="37" name="Text 29"/>
          <p:cNvSpPr/>
          <p:nvPr/>
        </p:nvSpPr>
        <p:spPr>
          <a:xfrm>
            <a:off x="6995160" y="2157984"/>
            <a:ext cx="4480560" cy="347472"/>
          </a:xfrm>
          <a:prstGeom prst="rect">
            <a:avLst/>
          </a:prstGeom>
          <a:noFill/>
          <a:ln/>
        </p:spPr>
        <p:txBody>
          <a:bodyPr wrap="square" rtlCol="0" anchor="ctr"/>
          <a:lstStyle/>
          <a:p>
            <a:pPr marL="0" indent="0">
              <a:buNone/>
            </a:pPr>
            <a:r>
              <a:rPr lang="en-US" sz="950" b="1" dirty="0">
                <a:solidFill>
                  <a:srgbClr val="1C7293"/>
                </a:solidFill>
                <a:latin typeface="Courier New" pitchFamily="34" charset="0"/>
                <a:ea typeface="Courier New" pitchFamily="34" charset="-122"/>
                <a:cs typeface="Courier New" pitchFamily="34" charset="-120"/>
              </a:rPr>
              <a:t>ci.yml: </a:t>
            </a:r>
            <a:r>
              <a:rPr lang="en-US" sz="1000" dirty="0">
                <a:solidFill>
                  <a:srgbClr val="1B2430"/>
                </a:solidFill>
                <a:latin typeface="Calibri" pitchFamily="34" charset="0"/>
                <a:ea typeface="Calibri" pitchFamily="34" charset="-122"/>
                <a:cs typeface="Calibri" pitchFamily="34" charset="-120"/>
              </a:rPr>
              <a:t>unit tests → integration tests → Docker build</a:t>
            </a:r>
            <a:endParaRPr lang="en-US" sz="950" dirty="0"/>
          </a:p>
        </p:txBody>
      </p:sp>
      <p:sp>
        <p:nvSpPr>
          <p:cNvPr id="38" name="Text 30"/>
          <p:cNvSpPr/>
          <p:nvPr/>
        </p:nvSpPr>
        <p:spPr>
          <a:xfrm>
            <a:off x="6995160" y="2523744"/>
            <a:ext cx="4480560" cy="347472"/>
          </a:xfrm>
          <a:prstGeom prst="rect">
            <a:avLst/>
          </a:prstGeom>
          <a:noFill/>
          <a:ln/>
        </p:spPr>
        <p:txBody>
          <a:bodyPr wrap="square" rtlCol="0" anchor="ctr"/>
          <a:lstStyle/>
          <a:p>
            <a:pPr marL="0" indent="0">
              <a:buNone/>
            </a:pPr>
            <a:r>
              <a:rPr lang="en-US" sz="950" b="1" dirty="0">
                <a:solidFill>
                  <a:srgbClr val="1C7293"/>
                </a:solidFill>
                <a:latin typeface="Courier New" pitchFamily="34" charset="0"/>
                <a:ea typeface="Courier New" pitchFamily="34" charset="-122"/>
                <a:cs typeface="Courier New" pitchFamily="34" charset="-120"/>
              </a:rPr>
              <a:t>deploy.yml: </a:t>
            </a:r>
            <a:r>
              <a:rPr lang="en-US" sz="1000" dirty="0">
                <a:solidFill>
                  <a:srgbClr val="1B2430"/>
                </a:solidFill>
                <a:latin typeface="Calibri" pitchFamily="34" charset="0"/>
                <a:ea typeface="Calibri" pitchFamily="34" charset="-122"/>
                <a:cs typeface="Calibri" pitchFamily="34" charset="-120"/>
              </a:rPr>
              <a:t>rsync → EC2 → docker compose up → health check</a:t>
            </a:r>
            <a:endParaRPr lang="en-US" sz="950" dirty="0"/>
          </a:p>
        </p:txBody>
      </p:sp>
      <p:sp>
        <p:nvSpPr>
          <p:cNvPr id="39" name="Text 31"/>
          <p:cNvSpPr/>
          <p:nvPr/>
        </p:nvSpPr>
        <p:spPr>
          <a:xfrm>
            <a:off x="6995160" y="2889504"/>
            <a:ext cx="4480560" cy="347472"/>
          </a:xfrm>
          <a:prstGeom prst="rect">
            <a:avLst/>
          </a:prstGeom>
          <a:noFill/>
          <a:ln/>
        </p:spPr>
        <p:txBody>
          <a:bodyPr wrap="square" rtlCol="0" anchor="ctr"/>
          <a:lstStyle/>
          <a:p>
            <a:pPr marL="0" indent="0">
              <a:buNone/>
            </a:pPr>
            <a:r>
              <a:rPr lang="en-US" sz="950" b="1" dirty="0">
                <a:solidFill>
                  <a:srgbClr val="1C7293"/>
                </a:solidFill>
                <a:latin typeface="Courier New" pitchFamily="34" charset="0"/>
                <a:ea typeface="Courier New" pitchFamily="34" charset="-122"/>
                <a:cs typeface="Courier New" pitchFamily="34" charset="-120"/>
              </a:rPr>
              <a:t>Lead time: </a:t>
            </a:r>
            <a:r>
              <a:rPr lang="en-US" sz="1000" dirty="0">
                <a:solidFill>
                  <a:srgbClr val="1B2430"/>
                </a:solidFill>
                <a:latin typeface="Calibri" pitchFamily="34" charset="0"/>
                <a:ea typeface="Calibri" pitchFamily="34" charset="-122"/>
                <a:cs typeface="Calibri" pitchFamily="34" charset="-120"/>
              </a:rPr>
              <a:t>~3–5 min commit-to-production</a:t>
            </a:r>
            <a:endParaRPr lang="en-US" sz="950" dirty="0"/>
          </a:p>
        </p:txBody>
      </p:sp>
      <p:sp>
        <p:nvSpPr>
          <p:cNvPr id="40" name="Shape 32"/>
          <p:cNvSpPr/>
          <p:nvPr/>
        </p:nvSpPr>
        <p:spPr>
          <a:xfrm>
            <a:off x="6675120" y="3502152"/>
            <a:ext cx="4983480" cy="1325880"/>
          </a:xfrm>
          <a:prstGeom prst="roundRect">
            <a:avLst>
              <a:gd name="adj" fmla="val 5517"/>
            </a:avLst>
          </a:prstGeom>
          <a:solidFill>
            <a:srgbClr val="E8F6F2"/>
          </a:solidFill>
          <a:ln/>
        </p:spPr>
        <p:txBody>
          <a:bodyPr/>
          <a:lstStyle/>
          <a:p>
            <a:endParaRPr lang="en-US"/>
          </a:p>
        </p:txBody>
      </p:sp>
      <p:sp>
        <p:nvSpPr>
          <p:cNvPr id="41" name="Shape 33"/>
          <p:cNvSpPr/>
          <p:nvPr/>
        </p:nvSpPr>
        <p:spPr>
          <a:xfrm>
            <a:off x="6876288" y="3703320"/>
            <a:ext cx="402336" cy="402336"/>
          </a:xfrm>
          <a:prstGeom prst="ellipse">
            <a:avLst/>
          </a:prstGeom>
          <a:solidFill>
            <a:srgbClr val="21B6A8"/>
          </a:solidFill>
          <a:ln/>
        </p:spPr>
        <p:txBody>
          <a:bodyPr/>
          <a:lstStyle/>
          <a:p>
            <a:endParaRPr lang="en-US"/>
          </a:p>
        </p:txBody>
      </p:sp>
      <p:pic>
        <p:nvPicPr>
          <p:cNvPr id="42" name="Image 6" descr="preencoded.png"/>
          <p:cNvPicPr>
            <a:picLocks noChangeAspect="1"/>
          </p:cNvPicPr>
          <p:nvPr/>
        </p:nvPicPr>
        <p:blipFill>
          <a:blip r:embed="rId9"/>
          <a:stretch>
            <a:fillRect/>
          </a:stretch>
        </p:blipFill>
        <p:spPr>
          <a:xfrm>
            <a:off x="6966814" y="3793846"/>
            <a:ext cx="221285" cy="221285"/>
          </a:xfrm>
          <a:prstGeom prst="rect">
            <a:avLst/>
          </a:prstGeom>
        </p:spPr>
      </p:pic>
      <p:sp>
        <p:nvSpPr>
          <p:cNvPr id="43" name="Text 34"/>
          <p:cNvSpPr/>
          <p:nvPr/>
        </p:nvSpPr>
        <p:spPr>
          <a:xfrm>
            <a:off x="7406640" y="3739896"/>
            <a:ext cx="4069080" cy="32004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Why this setup?</a:t>
            </a:r>
            <a:endParaRPr lang="en-US" sz="1300" dirty="0"/>
          </a:p>
        </p:txBody>
      </p:sp>
      <p:sp>
        <p:nvSpPr>
          <p:cNvPr id="44" name="Text 35"/>
          <p:cNvSpPr/>
          <p:nvPr/>
        </p:nvSpPr>
        <p:spPr>
          <a:xfrm>
            <a:off x="6995160" y="4160520"/>
            <a:ext cx="4480560" cy="256032"/>
          </a:xfrm>
          <a:prstGeom prst="rect">
            <a:avLst/>
          </a:prstGeom>
          <a:noFill/>
          <a:ln/>
        </p:spPr>
        <p:txBody>
          <a:bodyPr wrap="square" rtlCol="0" anchor="ctr"/>
          <a:lstStyle/>
          <a:p>
            <a:pPr marL="342900" indent="-342900">
              <a:buSzPct val="100000"/>
              <a:buChar char="•"/>
            </a:pPr>
            <a:r>
              <a:rPr lang="en-US" sz="1000" dirty="0">
                <a:solidFill>
                  <a:srgbClr val="1B2430"/>
                </a:solidFill>
                <a:latin typeface="Calibri" pitchFamily="34" charset="0"/>
                <a:ea typeface="Calibri" pitchFamily="34" charset="-122"/>
                <a:cs typeface="Calibri" pitchFamily="34" charset="-120"/>
              </a:rPr>
              <a:t>Docker: each service deploys independently</a:t>
            </a:r>
            <a:endParaRPr lang="en-US" sz="1000" dirty="0"/>
          </a:p>
        </p:txBody>
      </p:sp>
      <p:sp>
        <p:nvSpPr>
          <p:cNvPr id="45" name="Text 36"/>
          <p:cNvSpPr/>
          <p:nvPr/>
        </p:nvSpPr>
        <p:spPr>
          <a:xfrm>
            <a:off x="6995160" y="4379976"/>
            <a:ext cx="4480560" cy="256032"/>
          </a:xfrm>
          <a:prstGeom prst="rect">
            <a:avLst/>
          </a:prstGeom>
          <a:noFill/>
          <a:ln/>
        </p:spPr>
        <p:txBody>
          <a:bodyPr wrap="square" rtlCol="0" anchor="ctr"/>
          <a:lstStyle/>
          <a:p>
            <a:pPr marL="342900" indent="-342900">
              <a:buSzPct val="100000"/>
              <a:buChar char="•"/>
            </a:pPr>
            <a:r>
              <a:rPr lang="en-US" sz="1000" dirty="0">
                <a:solidFill>
                  <a:srgbClr val="1B2430"/>
                </a:solidFill>
                <a:latin typeface="Calibri" pitchFamily="34" charset="0"/>
                <a:ea typeface="Calibri" pitchFamily="34" charset="-122"/>
                <a:cs typeface="Calibri" pitchFamily="34" charset="-120"/>
              </a:rPr>
              <a:t>SQLite: zero-config; PostgreSQL on RDS is documented upgrade path</a:t>
            </a:r>
            <a:endParaRPr lang="en-US" sz="1000" dirty="0"/>
          </a:p>
        </p:txBody>
      </p:sp>
      <p:sp>
        <p:nvSpPr>
          <p:cNvPr id="46" name="Text 37"/>
          <p:cNvSpPr/>
          <p:nvPr/>
        </p:nvSpPr>
        <p:spPr>
          <a:xfrm>
            <a:off x="6995160" y="4599432"/>
            <a:ext cx="4480560" cy="256032"/>
          </a:xfrm>
          <a:prstGeom prst="rect">
            <a:avLst/>
          </a:prstGeom>
          <a:noFill/>
          <a:ln/>
        </p:spPr>
        <p:txBody>
          <a:bodyPr wrap="square" rtlCol="0" anchor="ctr"/>
          <a:lstStyle/>
          <a:p>
            <a:pPr marL="342900" indent="-342900">
              <a:buSzPct val="100000"/>
              <a:buChar char="•"/>
            </a:pPr>
            <a:r>
              <a:rPr lang="en-US" sz="1000" dirty="0">
                <a:solidFill>
                  <a:srgbClr val="1B2430"/>
                </a:solidFill>
                <a:latin typeface="Calibri" pitchFamily="34" charset="0"/>
                <a:ea typeface="Calibri" pitchFamily="34" charset="-122"/>
                <a:cs typeface="Calibri" pitchFamily="34" charset="-120"/>
              </a:rPr>
              <a:t>Redis: lightweight pub/sub, no external broker needed</a:t>
            </a:r>
            <a:endParaRPr lang="en-US" sz="1000" dirty="0"/>
          </a:p>
        </p:txBody>
      </p:sp>
      <p:sp>
        <p:nvSpPr>
          <p:cNvPr id="47" name="Shape 38"/>
          <p:cNvSpPr/>
          <p:nvPr/>
        </p:nvSpPr>
        <p:spPr>
          <a:xfrm>
            <a:off x="6675120" y="4965192"/>
            <a:ext cx="4983480" cy="1417320"/>
          </a:xfrm>
          <a:prstGeom prst="roundRect">
            <a:avLst>
              <a:gd name="adj" fmla="val 5161"/>
            </a:avLst>
          </a:prstGeom>
          <a:solidFill>
            <a:srgbClr val="FBF3E3"/>
          </a:solidFill>
          <a:ln/>
        </p:spPr>
        <p:txBody>
          <a:bodyPr/>
          <a:lstStyle/>
          <a:p>
            <a:endParaRPr lang="en-US"/>
          </a:p>
        </p:txBody>
      </p:sp>
      <p:sp>
        <p:nvSpPr>
          <p:cNvPr id="48" name="Shape 39"/>
          <p:cNvSpPr/>
          <p:nvPr/>
        </p:nvSpPr>
        <p:spPr>
          <a:xfrm>
            <a:off x="6876288" y="5166360"/>
            <a:ext cx="402336" cy="402336"/>
          </a:xfrm>
          <a:prstGeom prst="ellipse">
            <a:avLst/>
          </a:prstGeom>
          <a:solidFill>
            <a:srgbClr val="B8860B"/>
          </a:solidFill>
          <a:ln/>
        </p:spPr>
        <p:txBody>
          <a:bodyPr/>
          <a:lstStyle/>
          <a:p>
            <a:endParaRPr lang="en-US"/>
          </a:p>
        </p:txBody>
      </p:sp>
      <p:pic>
        <p:nvPicPr>
          <p:cNvPr id="49" name="Image 7" descr="preencoded.png"/>
          <p:cNvPicPr>
            <a:picLocks noChangeAspect="1"/>
          </p:cNvPicPr>
          <p:nvPr/>
        </p:nvPicPr>
        <p:blipFill>
          <a:blip r:embed="rId10"/>
          <a:stretch>
            <a:fillRect/>
          </a:stretch>
        </p:blipFill>
        <p:spPr>
          <a:xfrm>
            <a:off x="6976872" y="5266944"/>
            <a:ext cx="201168" cy="201168"/>
          </a:xfrm>
          <a:prstGeom prst="rect">
            <a:avLst/>
          </a:prstGeom>
        </p:spPr>
      </p:pic>
      <p:sp>
        <p:nvSpPr>
          <p:cNvPr id="50" name="Text 40"/>
          <p:cNvSpPr/>
          <p:nvPr/>
        </p:nvSpPr>
        <p:spPr>
          <a:xfrm>
            <a:off x="7406640" y="5202936"/>
            <a:ext cx="4069080" cy="32004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Portability Note</a:t>
            </a:r>
            <a:endParaRPr lang="en-US" sz="1300" dirty="0"/>
          </a:p>
        </p:txBody>
      </p:sp>
      <p:sp>
        <p:nvSpPr>
          <p:cNvPr id="51" name="Text 41"/>
          <p:cNvSpPr/>
          <p:nvPr/>
        </p:nvSpPr>
        <p:spPr>
          <a:xfrm>
            <a:off x="6995160" y="5623560"/>
            <a:ext cx="4480560" cy="274320"/>
          </a:xfrm>
          <a:prstGeom prst="rect">
            <a:avLst/>
          </a:prstGeom>
          <a:noFill/>
          <a:ln/>
        </p:spPr>
        <p:txBody>
          <a:bodyPr wrap="square" rtlCol="0" anchor="ctr"/>
          <a:lstStyle/>
          <a:p>
            <a:pPr marL="342900" indent="-342900">
              <a:buSzPct val="100000"/>
              <a:buChar char="•"/>
            </a:pPr>
            <a:r>
              <a:rPr lang="en-US" sz="1000" dirty="0">
                <a:solidFill>
                  <a:srgbClr val="1B2430"/>
                </a:solidFill>
                <a:latin typeface="Calibri" pitchFamily="34" charset="0"/>
                <a:ea typeface="Calibri" pitchFamily="34" charset="-122"/>
                <a:cs typeface="Calibri" pitchFamily="34" charset="-120"/>
              </a:rPr>
              <a:t>SQLite → PostgreSQL upgrade path documented</a:t>
            </a:r>
            <a:endParaRPr lang="en-US" sz="1000" dirty="0"/>
          </a:p>
        </p:txBody>
      </p:sp>
      <p:sp>
        <p:nvSpPr>
          <p:cNvPr id="52" name="Text 42"/>
          <p:cNvSpPr/>
          <p:nvPr/>
        </p:nvSpPr>
        <p:spPr>
          <a:xfrm>
            <a:off x="6995160" y="5861304"/>
            <a:ext cx="4480560" cy="274320"/>
          </a:xfrm>
          <a:prstGeom prst="rect">
            <a:avLst/>
          </a:prstGeom>
          <a:noFill/>
          <a:ln/>
        </p:spPr>
        <p:txBody>
          <a:bodyPr wrap="square" rtlCol="0" anchor="ctr"/>
          <a:lstStyle/>
          <a:p>
            <a:pPr marL="342900" indent="-342900">
              <a:buSzPct val="100000"/>
              <a:buChar char="•"/>
            </a:pPr>
            <a:r>
              <a:rPr lang="en-US" sz="1000" dirty="0">
                <a:solidFill>
                  <a:srgbClr val="1B2430"/>
                </a:solidFill>
                <a:latin typeface="Calibri" pitchFamily="34" charset="0"/>
                <a:ea typeface="Calibri" pitchFamily="34" charset="-122"/>
                <a:cs typeface="Calibri" pitchFamily="34" charset="-120"/>
              </a:rPr>
              <a:t>Event envelope in shared/events/ allows swapping Redis for another broker</a:t>
            </a:r>
            <a:endParaRPr lang="en-US" sz="1000" dirty="0"/>
          </a:p>
        </p:txBody>
      </p:sp>
      <p:sp>
        <p:nvSpPr>
          <p:cNvPr id="53" name="Text 43"/>
          <p:cNvSpPr/>
          <p:nvPr/>
        </p:nvSpPr>
        <p:spPr>
          <a:xfrm>
            <a:off x="6995160" y="6099048"/>
            <a:ext cx="4480560" cy="274320"/>
          </a:xfrm>
          <a:prstGeom prst="rect">
            <a:avLst/>
          </a:prstGeom>
          <a:noFill/>
          <a:ln/>
        </p:spPr>
        <p:txBody>
          <a:bodyPr wrap="square" rtlCol="0" anchor="ctr"/>
          <a:lstStyle/>
          <a:p>
            <a:pPr marL="342900" indent="-342900">
              <a:buSzPct val="100000"/>
              <a:buChar char="•"/>
            </a:pPr>
            <a:r>
              <a:rPr lang="en-US" sz="1000" dirty="0">
                <a:solidFill>
                  <a:srgbClr val="1B2430"/>
                </a:solidFill>
                <a:latin typeface="Calibri" pitchFamily="34" charset="0"/>
                <a:ea typeface="Calibri" pitchFamily="34" charset="-122"/>
                <a:cs typeface="Calibri" pitchFamily="34" charset="-120"/>
              </a:rPr>
              <a:t>Step Functions Lambdas are mock handlers — local saga.py drives live demo</a:t>
            </a:r>
            <a:endParaRPr lang="en-US" sz="1000" dirty="0"/>
          </a:p>
        </p:txBody>
      </p:sp>
      <p:sp>
        <p:nvSpPr>
          <p:cNvPr id="54" name="Text 44"/>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55" name="Text 45"/>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EVALUATION</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Automation &amp; Evaluation Results</a:t>
            </a:r>
            <a:endParaRPr lang="en-US" sz="3000" dirty="0"/>
          </a:p>
        </p:txBody>
      </p:sp>
      <p:sp>
        <p:nvSpPr>
          <p:cNvPr id="4" name="Shape 2"/>
          <p:cNvSpPr/>
          <p:nvPr/>
        </p:nvSpPr>
        <p:spPr>
          <a:xfrm>
            <a:off x="678028" y="1325880"/>
            <a:ext cx="2468880" cy="457200"/>
          </a:xfrm>
          <a:prstGeom prst="roundRect">
            <a:avLst>
              <a:gd name="adj" fmla="val 50000"/>
            </a:avLst>
          </a:prstGeom>
          <a:solidFill>
            <a:srgbClr val="21295C"/>
          </a:solidFill>
          <a:ln/>
        </p:spPr>
        <p:txBody>
          <a:bodyPr/>
          <a:lstStyle/>
          <a:p>
            <a:endParaRPr lang="en-US"/>
          </a:p>
        </p:txBody>
      </p:sp>
      <p:sp>
        <p:nvSpPr>
          <p:cNvPr id="5" name="Text 3"/>
          <p:cNvSpPr/>
          <p:nvPr/>
        </p:nvSpPr>
        <p:spPr>
          <a:xfrm>
            <a:off x="678028" y="1325880"/>
            <a:ext cx="2468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Commit</a:t>
            </a:r>
            <a:endParaRPr lang="en-US" sz="1150" dirty="0"/>
          </a:p>
        </p:txBody>
      </p:sp>
      <p:sp>
        <p:nvSpPr>
          <p:cNvPr id="6" name="Shape 4"/>
          <p:cNvSpPr/>
          <p:nvPr/>
        </p:nvSpPr>
        <p:spPr>
          <a:xfrm>
            <a:off x="3146908" y="1554480"/>
            <a:ext cx="320040" cy="0"/>
          </a:xfrm>
          <a:prstGeom prst="line">
            <a:avLst/>
          </a:prstGeom>
          <a:noFill/>
          <a:ln w="19050">
            <a:solidFill>
              <a:srgbClr val="5C6B7A"/>
            </a:solidFill>
            <a:prstDash val="solid"/>
            <a:tailEnd type="triangle"/>
          </a:ln>
        </p:spPr>
        <p:txBody>
          <a:bodyPr/>
          <a:lstStyle/>
          <a:p>
            <a:endParaRPr lang="en-US"/>
          </a:p>
        </p:txBody>
      </p:sp>
      <p:sp>
        <p:nvSpPr>
          <p:cNvPr id="7" name="Shape 5"/>
          <p:cNvSpPr/>
          <p:nvPr/>
        </p:nvSpPr>
        <p:spPr>
          <a:xfrm>
            <a:off x="3466948" y="1325880"/>
            <a:ext cx="2468880" cy="457200"/>
          </a:xfrm>
          <a:prstGeom prst="roundRect">
            <a:avLst>
              <a:gd name="adj" fmla="val 50000"/>
            </a:avLst>
          </a:prstGeom>
          <a:solidFill>
            <a:srgbClr val="21295C"/>
          </a:solidFill>
          <a:ln/>
        </p:spPr>
        <p:txBody>
          <a:bodyPr/>
          <a:lstStyle/>
          <a:p>
            <a:endParaRPr lang="en-US"/>
          </a:p>
        </p:txBody>
      </p:sp>
      <p:sp>
        <p:nvSpPr>
          <p:cNvPr id="8" name="Text 6"/>
          <p:cNvSpPr/>
          <p:nvPr/>
        </p:nvSpPr>
        <p:spPr>
          <a:xfrm>
            <a:off x="3466948" y="1325880"/>
            <a:ext cx="2468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Tests</a:t>
            </a:r>
            <a:endParaRPr lang="en-US" sz="1150" dirty="0"/>
          </a:p>
        </p:txBody>
      </p:sp>
      <p:sp>
        <p:nvSpPr>
          <p:cNvPr id="9" name="Shape 7"/>
          <p:cNvSpPr/>
          <p:nvPr/>
        </p:nvSpPr>
        <p:spPr>
          <a:xfrm>
            <a:off x="5935828" y="1554480"/>
            <a:ext cx="320040" cy="0"/>
          </a:xfrm>
          <a:prstGeom prst="line">
            <a:avLst/>
          </a:prstGeom>
          <a:noFill/>
          <a:ln w="19050">
            <a:solidFill>
              <a:srgbClr val="5C6B7A"/>
            </a:solidFill>
            <a:prstDash val="solid"/>
            <a:tailEnd type="triangle"/>
          </a:ln>
        </p:spPr>
        <p:txBody>
          <a:bodyPr/>
          <a:lstStyle/>
          <a:p>
            <a:endParaRPr lang="en-US"/>
          </a:p>
        </p:txBody>
      </p:sp>
      <p:sp>
        <p:nvSpPr>
          <p:cNvPr id="10" name="Shape 8"/>
          <p:cNvSpPr/>
          <p:nvPr/>
        </p:nvSpPr>
        <p:spPr>
          <a:xfrm>
            <a:off x="6255868" y="1325880"/>
            <a:ext cx="2468880" cy="457200"/>
          </a:xfrm>
          <a:prstGeom prst="roundRect">
            <a:avLst>
              <a:gd name="adj" fmla="val 50000"/>
            </a:avLst>
          </a:prstGeom>
          <a:solidFill>
            <a:srgbClr val="21295C"/>
          </a:solidFill>
          <a:ln/>
        </p:spPr>
        <p:txBody>
          <a:bodyPr/>
          <a:lstStyle/>
          <a:p>
            <a:endParaRPr lang="en-US"/>
          </a:p>
        </p:txBody>
      </p:sp>
      <p:sp>
        <p:nvSpPr>
          <p:cNvPr id="11" name="Text 9"/>
          <p:cNvSpPr/>
          <p:nvPr/>
        </p:nvSpPr>
        <p:spPr>
          <a:xfrm>
            <a:off x="6255868" y="1325880"/>
            <a:ext cx="2468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Docker Build</a:t>
            </a:r>
            <a:endParaRPr lang="en-US" sz="1150" dirty="0"/>
          </a:p>
        </p:txBody>
      </p:sp>
      <p:sp>
        <p:nvSpPr>
          <p:cNvPr id="12" name="Shape 10"/>
          <p:cNvSpPr/>
          <p:nvPr/>
        </p:nvSpPr>
        <p:spPr>
          <a:xfrm>
            <a:off x="8724748" y="1554480"/>
            <a:ext cx="320040" cy="0"/>
          </a:xfrm>
          <a:prstGeom prst="line">
            <a:avLst/>
          </a:prstGeom>
          <a:noFill/>
          <a:ln w="19050">
            <a:solidFill>
              <a:srgbClr val="5C6B7A"/>
            </a:solidFill>
            <a:prstDash val="solid"/>
            <a:tailEnd type="triangle"/>
          </a:ln>
        </p:spPr>
        <p:txBody>
          <a:bodyPr/>
          <a:lstStyle/>
          <a:p>
            <a:endParaRPr lang="en-US"/>
          </a:p>
        </p:txBody>
      </p:sp>
      <p:sp>
        <p:nvSpPr>
          <p:cNvPr id="13" name="Shape 11"/>
          <p:cNvSpPr/>
          <p:nvPr/>
        </p:nvSpPr>
        <p:spPr>
          <a:xfrm>
            <a:off x="9044788" y="1325880"/>
            <a:ext cx="2468880" cy="457200"/>
          </a:xfrm>
          <a:prstGeom prst="roundRect">
            <a:avLst>
              <a:gd name="adj" fmla="val 50000"/>
            </a:avLst>
          </a:prstGeom>
          <a:solidFill>
            <a:srgbClr val="21B6A8"/>
          </a:solidFill>
          <a:ln/>
        </p:spPr>
        <p:txBody>
          <a:bodyPr/>
          <a:lstStyle/>
          <a:p>
            <a:endParaRPr lang="en-US"/>
          </a:p>
        </p:txBody>
      </p:sp>
      <p:sp>
        <p:nvSpPr>
          <p:cNvPr id="14" name="Text 12"/>
          <p:cNvSpPr/>
          <p:nvPr/>
        </p:nvSpPr>
        <p:spPr>
          <a:xfrm>
            <a:off x="9044788" y="1325880"/>
            <a:ext cx="2468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Deploy</a:t>
            </a:r>
            <a:endParaRPr lang="en-US" sz="1150" dirty="0"/>
          </a:p>
        </p:txBody>
      </p:sp>
      <p:sp>
        <p:nvSpPr>
          <p:cNvPr id="15" name="Shape 13"/>
          <p:cNvSpPr/>
          <p:nvPr/>
        </p:nvSpPr>
        <p:spPr>
          <a:xfrm>
            <a:off x="548640" y="1901952"/>
            <a:ext cx="5454396" cy="1828800"/>
          </a:xfrm>
          <a:prstGeom prst="roundRect">
            <a:avLst>
              <a:gd name="adj" fmla="val 3500"/>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6" name="Shape 14"/>
          <p:cNvSpPr/>
          <p:nvPr/>
        </p:nvSpPr>
        <p:spPr>
          <a:xfrm>
            <a:off x="713232" y="2020824"/>
            <a:ext cx="310896" cy="310896"/>
          </a:xfrm>
          <a:prstGeom prst="ellipse">
            <a:avLst/>
          </a:prstGeom>
          <a:solidFill>
            <a:srgbClr val="065A82"/>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783184" y="2090776"/>
            <a:ext cx="170993" cy="170993"/>
          </a:xfrm>
          <a:prstGeom prst="rect">
            <a:avLst/>
          </a:prstGeom>
        </p:spPr>
      </p:pic>
      <p:sp>
        <p:nvSpPr>
          <p:cNvPr id="18" name="Text 15"/>
          <p:cNvSpPr/>
          <p:nvPr/>
        </p:nvSpPr>
        <p:spPr>
          <a:xfrm>
            <a:off x="1133856" y="2011680"/>
            <a:ext cx="4722876" cy="329184"/>
          </a:xfrm>
          <a:prstGeom prst="rect">
            <a:avLst/>
          </a:prstGeom>
          <a:noFill/>
          <a:ln/>
        </p:spPr>
        <p:txBody>
          <a:bodyPr wrap="square" lIns="0" tIns="0" rIns="0" bIns="0"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Automated Test Suite — 31 Tests</a:t>
            </a:r>
            <a:endParaRPr lang="en-US" sz="1150" dirty="0"/>
          </a:p>
        </p:txBody>
      </p:sp>
      <p:graphicFrame>
        <p:nvGraphicFramePr>
          <p:cNvPr id="19" name="Chart 0"/>
          <p:cNvGraphicFramePr/>
          <p:nvPr/>
        </p:nvGraphicFramePr>
        <p:xfrm>
          <a:off x="685800" y="2286000"/>
          <a:ext cx="5180076" cy="1444752"/>
        </p:xfrm>
        <a:graphic>
          <a:graphicData uri="http://schemas.openxmlformats.org/drawingml/2006/chart">
            <c:chart xmlns:c="http://schemas.openxmlformats.org/drawingml/2006/chart" xmlns:r="http://schemas.openxmlformats.org/officeDocument/2006/relationships" r:id="rId4"/>
          </a:graphicData>
        </a:graphic>
      </p:graphicFrame>
      <p:sp>
        <p:nvSpPr>
          <p:cNvPr id="20" name="Shape 16"/>
          <p:cNvSpPr/>
          <p:nvPr/>
        </p:nvSpPr>
        <p:spPr>
          <a:xfrm>
            <a:off x="6185916" y="1901952"/>
            <a:ext cx="5454396" cy="1828800"/>
          </a:xfrm>
          <a:prstGeom prst="roundRect">
            <a:avLst>
              <a:gd name="adj" fmla="val 3500"/>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1" name="Shape 17"/>
          <p:cNvSpPr/>
          <p:nvPr/>
        </p:nvSpPr>
        <p:spPr>
          <a:xfrm>
            <a:off x="6350508" y="2020824"/>
            <a:ext cx="310896" cy="310896"/>
          </a:xfrm>
          <a:prstGeom prst="ellipse">
            <a:avLst/>
          </a:prstGeom>
          <a:solidFill>
            <a:srgbClr val="1C7293"/>
          </a:solidFill>
          <a:ln/>
        </p:spPr>
        <p:txBody>
          <a:bodyPr/>
          <a:lstStyle/>
          <a:p>
            <a:endParaRPr lang="en-US"/>
          </a:p>
        </p:txBody>
      </p:sp>
      <p:pic>
        <p:nvPicPr>
          <p:cNvPr id="22" name="Image 1" descr="preencoded.png"/>
          <p:cNvPicPr>
            <a:picLocks noChangeAspect="1"/>
          </p:cNvPicPr>
          <p:nvPr/>
        </p:nvPicPr>
        <p:blipFill>
          <a:blip r:embed="rId5"/>
          <a:stretch>
            <a:fillRect/>
          </a:stretch>
        </p:blipFill>
        <p:spPr>
          <a:xfrm>
            <a:off x="6420460" y="2090776"/>
            <a:ext cx="170993" cy="170993"/>
          </a:xfrm>
          <a:prstGeom prst="rect">
            <a:avLst/>
          </a:prstGeom>
        </p:spPr>
      </p:pic>
      <p:sp>
        <p:nvSpPr>
          <p:cNvPr id="23" name="Text 18"/>
          <p:cNvSpPr/>
          <p:nvPr/>
        </p:nvSpPr>
        <p:spPr>
          <a:xfrm>
            <a:off x="6771132" y="2011680"/>
            <a:ext cx="4722876" cy="329184"/>
          </a:xfrm>
          <a:prstGeom prst="rect">
            <a:avLst/>
          </a:prstGeom>
          <a:noFill/>
          <a:ln/>
        </p:spPr>
        <p:txBody>
          <a:bodyPr wrap="square" lIns="0" tIns="0" rIns="0" bIns="0"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Async Event Latency — Observed Max (ms)</a:t>
            </a:r>
            <a:endParaRPr lang="en-US" sz="1150" dirty="0"/>
          </a:p>
        </p:txBody>
      </p:sp>
      <p:graphicFrame>
        <p:nvGraphicFramePr>
          <p:cNvPr id="24" name="Chart 1"/>
          <p:cNvGraphicFramePr/>
          <p:nvPr/>
        </p:nvGraphicFramePr>
        <p:xfrm>
          <a:off x="6323076" y="2286000"/>
          <a:ext cx="5180076" cy="1444752"/>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 19"/>
          <p:cNvSpPr/>
          <p:nvPr/>
        </p:nvSpPr>
        <p:spPr>
          <a:xfrm>
            <a:off x="6368796" y="3438144"/>
            <a:ext cx="5088636" cy="237744"/>
          </a:xfrm>
          <a:prstGeom prst="rect">
            <a:avLst/>
          </a:prstGeom>
          <a:noFill/>
          <a:ln/>
        </p:spPr>
        <p:txBody>
          <a:bodyPr wrap="square" lIns="0" tIns="0" rIns="0" bIns="0" rtlCol="0" anchor="ctr"/>
          <a:lstStyle/>
          <a:p>
            <a:pPr marL="0" indent="0" algn="r">
              <a:buNone/>
            </a:pPr>
            <a:r>
              <a:rPr lang="en-US" sz="850" i="1" dirty="0">
                <a:solidFill>
                  <a:srgbClr val="5C6B7A"/>
                </a:solidFill>
                <a:latin typeface="Calibri" pitchFamily="34" charset="0"/>
                <a:ea typeface="Calibri" pitchFamily="34" charset="-122"/>
                <a:cs typeface="Calibri" pitchFamily="34" charset="-120"/>
              </a:rPr>
              <a:t>CI threshold: &lt; 5 000 ms</a:t>
            </a:r>
            <a:endParaRPr lang="en-US" sz="850" dirty="0"/>
          </a:p>
        </p:txBody>
      </p:sp>
      <p:sp>
        <p:nvSpPr>
          <p:cNvPr id="26" name="Shape 20"/>
          <p:cNvSpPr/>
          <p:nvPr/>
        </p:nvSpPr>
        <p:spPr>
          <a:xfrm>
            <a:off x="548640" y="3895344"/>
            <a:ext cx="5454396" cy="1828800"/>
          </a:xfrm>
          <a:prstGeom prst="roundRect">
            <a:avLst>
              <a:gd name="adj" fmla="val 3500"/>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7" name="Shape 21"/>
          <p:cNvSpPr/>
          <p:nvPr/>
        </p:nvSpPr>
        <p:spPr>
          <a:xfrm>
            <a:off x="713232" y="4014216"/>
            <a:ext cx="310896" cy="310896"/>
          </a:xfrm>
          <a:prstGeom prst="ellipse">
            <a:avLst/>
          </a:prstGeom>
          <a:solidFill>
            <a:srgbClr val="21295C"/>
          </a:solidFill>
          <a:ln/>
        </p:spPr>
        <p:txBody>
          <a:bodyPr/>
          <a:lstStyle/>
          <a:p>
            <a:endParaRPr lang="en-US"/>
          </a:p>
        </p:txBody>
      </p:sp>
      <p:pic>
        <p:nvPicPr>
          <p:cNvPr id="28" name="Image 2" descr="preencoded.png"/>
          <p:cNvPicPr>
            <a:picLocks noChangeAspect="1"/>
          </p:cNvPicPr>
          <p:nvPr/>
        </p:nvPicPr>
        <p:blipFill>
          <a:blip r:embed="rId7"/>
          <a:stretch>
            <a:fillRect/>
          </a:stretch>
        </p:blipFill>
        <p:spPr>
          <a:xfrm>
            <a:off x="783184" y="4084168"/>
            <a:ext cx="170993" cy="170993"/>
          </a:xfrm>
          <a:prstGeom prst="rect">
            <a:avLst/>
          </a:prstGeom>
        </p:spPr>
      </p:pic>
      <p:sp>
        <p:nvSpPr>
          <p:cNvPr id="29" name="Text 22"/>
          <p:cNvSpPr/>
          <p:nvPr/>
        </p:nvSpPr>
        <p:spPr>
          <a:xfrm>
            <a:off x="1133856" y="4005072"/>
            <a:ext cx="4722876" cy="329184"/>
          </a:xfrm>
          <a:prstGeom prst="rect">
            <a:avLst/>
          </a:prstGeom>
          <a:noFill/>
          <a:ln/>
        </p:spPr>
        <p:txBody>
          <a:bodyPr wrap="square" lIns="0" tIns="0" rIns="0" bIns="0"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CI/CD Pipeline Duration (minutes)</a:t>
            </a:r>
            <a:endParaRPr lang="en-US" sz="1150" dirty="0"/>
          </a:p>
        </p:txBody>
      </p:sp>
      <p:graphicFrame>
        <p:nvGraphicFramePr>
          <p:cNvPr id="30" name="Chart 2"/>
          <p:cNvGraphicFramePr/>
          <p:nvPr/>
        </p:nvGraphicFramePr>
        <p:xfrm>
          <a:off x="685800" y="4279392"/>
          <a:ext cx="5180076" cy="1444752"/>
        </p:xfrm>
        <a:graphic>
          <a:graphicData uri="http://schemas.openxmlformats.org/drawingml/2006/chart">
            <c:chart xmlns:c="http://schemas.openxmlformats.org/drawingml/2006/chart" xmlns:r="http://schemas.openxmlformats.org/officeDocument/2006/relationships" r:id="rId8"/>
          </a:graphicData>
        </a:graphic>
      </p:graphicFrame>
      <p:sp>
        <p:nvSpPr>
          <p:cNvPr id="31" name="Shape 23"/>
          <p:cNvSpPr/>
          <p:nvPr/>
        </p:nvSpPr>
        <p:spPr>
          <a:xfrm>
            <a:off x="6185916" y="3895344"/>
            <a:ext cx="5454396" cy="1828800"/>
          </a:xfrm>
          <a:prstGeom prst="roundRect">
            <a:avLst>
              <a:gd name="adj" fmla="val 3500"/>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32" name="Shape 24"/>
          <p:cNvSpPr/>
          <p:nvPr/>
        </p:nvSpPr>
        <p:spPr>
          <a:xfrm>
            <a:off x="6350508" y="4014216"/>
            <a:ext cx="310896" cy="310896"/>
          </a:xfrm>
          <a:prstGeom prst="ellipse">
            <a:avLst/>
          </a:prstGeom>
          <a:solidFill>
            <a:srgbClr val="21B6A8"/>
          </a:solidFill>
          <a:ln/>
        </p:spPr>
        <p:txBody>
          <a:bodyPr/>
          <a:lstStyle/>
          <a:p>
            <a:endParaRPr lang="en-US"/>
          </a:p>
        </p:txBody>
      </p:sp>
      <p:pic>
        <p:nvPicPr>
          <p:cNvPr id="33" name="Image 3" descr="preencoded.png"/>
          <p:cNvPicPr>
            <a:picLocks noChangeAspect="1"/>
          </p:cNvPicPr>
          <p:nvPr/>
        </p:nvPicPr>
        <p:blipFill>
          <a:blip r:embed="rId9"/>
          <a:stretch>
            <a:fillRect/>
          </a:stretch>
        </p:blipFill>
        <p:spPr>
          <a:xfrm>
            <a:off x="6420460" y="4084168"/>
            <a:ext cx="170993" cy="170993"/>
          </a:xfrm>
          <a:prstGeom prst="rect">
            <a:avLst/>
          </a:prstGeom>
        </p:spPr>
      </p:pic>
      <p:sp>
        <p:nvSpPr>
          <p:cNvPr id="34" name="Text 25"/>
          <p:cNvSpPr/>
          <p:nvPr/>
        </p:nvSpPr>
        <p:spPr>
          <a:xfrm>
            <a:off x="6771132" y="4005072"/>
            <a:ext cx="4722876" cy="329184"/>
          </a:xfrm>
          <a:prstGeom prst="rect">
            <a:avLst/>
          </a:prstGeom>
          <a:noFill/>
          <a:ln/>
        </p:spPr>
        <p:txBody>
          <a:bodyPr wrap="square" lIns="0" tIns="0" rIns="0" bIns="0"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Fault Tolerance — All Scenarios PASS</a:t>
            </a:r>
            <a:endParaRPr lang="en-US" sz="1150" dirty="0"/>
          </a:p>
        </p:txBody>
      </p:sp>
      <p:graphicFrame>
        <p:nvGraphicFramePr>
          <p:cNvPr id="35" name="Chart 3"/>
          <p:cNvGraphicFramePr/>
          <p:nvPr/>
        </p:nvGraphicFramePr>
        <p:xfrm>
          <a:off x="6323076" y="4279392"/>
          <a:ext cx="5180076" cy="1444752"/>
        </p:xfrm>
        <a:graphic>
          <a:graphicData uri="http://schemas.openxmlformats.org/drawingml/2006/chart">
            <c:chart xmlns:c="http://schemas.openxmlformats.org/drawingml/2006/chart" xmlns:r="http://schemas.openxmlformats.org/officeDocument/2006/relationships" r:id="rId10"/>
          </a:graphicData>
        </a:graphic>
      </p:graphicFrame>
      <p:sp>
        <p:nvSpPr>
          <p:cNvPr id="36" name="Shape 26"/>
          <p:cNvSpPr/>
          <p:nvPr/>
        </p:nvSpPr>
        <p:spPr>
          <a:xfrm>
            <a:off x="548640" y="5861304"/>
            <a:ext cx="11091672" cy="0"/>
          </a:xfrm>
          <a:prstGeom prst="line">
            <a:avLst/>
          </a:prstGeom>
          <a:noFill/>
          <a:ln w="12700">
            <a:solidFill>
              <a:srgbClr val="E4ECF1"/>
            </a:solidFill>
            <a:prstDash val="solid"/>
          </a:ln>
        </p:spPr>
        <p:txBody>
          <a:bodyPr/>
          <a:lstStyle/>
          <a:p>
            <a:endParaRPr lang="en-US"/>
          </a:p>
        </p:txBody>
      </p:sp>
      <p:sp>
        <p:nvSpPr>
          <p:cNvPr id="37" name="Text 27"/>
          <p:cNvSpPr/>
          <p:nvPr/>
        </p:nvSpPr>
        <p:spPr>
          <a:xfrm>
            <a:off x="548640" y="5934456"/>
            <a:ext cx="11091672" cy="347472"/>
          </a:xfrm>
          <a:prstGeom prst="rect">
            <a:avLst/>
          </a:prstGeom>
          <a:noFill/>
          <a:ln/>
        </p:spPr>
        <p:txBody>
          <a:bodyPr wrap="square" rtlCol="0" anchor="ctr"/>
          <a:lstStyle/>
          <a:p>
            <a:pPr marL="0" indent="0" algn="ctr">
              <a:buNone/>
            </a:pPr>
            <a:r>
              <a:rPr lang="en-US" sz="1000" b="1" dirty="0">
                <a:solidFill>
                  <a:srgbClr val="21295C"/>
                </a:solidFill>
                <a:latin typeface="Calibri" pitchFamily="34" charset="0"/>
                <a:ea typeface="Calibri" pitchFamily="34" charset="-122"/>
                <a:cs typeface="Calibri" pitchFamily="34" charset="-120"/>
              </a:rPr>
              <a:t>Six-part methodology: </a:t>
            </a:r>
            <a:r>
              <a:rPr lang="en-US" sz="900" dirty="0">
                <a:solidFill>
                  <a:srgbClr val="1B2430"/>
                </a:solidFill>
                <a:latin typeface="Courier New" pitchFamily="34" charset="0"/>
                <a:ea typeface="Courier New" pitchFamily="34" charset="-122"/>
                <a:cs typeface="Courier New" pitchFamily="34" charset="-120"/>
              </a:rPr>
              <a:t>Unit · Integration · Fault-tolerance · Event-latency · Demo scripts · Lead-time   </a:t>
            </a:r>
            <a:r>
              <a:rPr lang="en-US" sz="1000" dirty="0">
                <a:solidFill>
                  <a:srgbClr val="1B2430"/>
                </a:solidFill>
                <a:latin typeface="Calibri" pitchFamily="34" charset="0"/>
                <a:ea typeface="Calibri" pitchFamily="34" charset="-122"/>
                <a:cs typeface="Calibri" pitchFamily="34" charset="-120"/>
              </a:rPr>
              <a:t>  |   3 / 3 services live on EC2</a:t>
            </a:r>
            <a:endParaRPr lang="en-US" sz="1000" dirty="0"/>
          </a:p>
        </p:txBody>
      </p:sp>
      <p:sp>
        <p:nvSpPr>
          <p:cNvPr id="38" name="Text 28"/>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39" name="Text 29"/>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DISCUSSION</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Threats to Validity</a:t>
            </a:r>
            <a:endParaRPr lang="en-US" sz="3000" dirty="0"/>
          </a:p>
        </p:txBody>
      </p:sp>
      <p:sp>
        <p:nvSpPr>
          <p:cNvPr id="4" name="Shape 2"/>
          <p:cNvSpPr/>
          <p:nvPr/>
        </p:nvSpPr>
        <p:spPr>
          <a:xfrm>
            <a:off x="548640" y="1481328"/>
            <a:ext cx="3611880" cy="2011680"/>
          </a:xfrm>
          <a:prstGeom prst="roundRect">
            <a:avLst>
              <a:gd name="adj" fmla="val 363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777240" y="1709928"/>
            <a:ext cx="457200" cy="457200"/>
          </a:xfrm>
          <a:prstGeom prst="ellipse">
            <a:avLst/>
          </a:prstGeom>
          <a:solidFill>
            <a:srgbClr val="B8860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80110" y="1812798"/>
            <a:ext cx="251460" cy="251460"/>
          </a:xfrm>
          <a:prstGeom prst="rect">
            <a:avLst/>
          </a:prstGeom>
        </p:spPr>
      </p:pic>
      <p:sp>
        <p:nvSpPr>
          <p:cNvPr id="7" name="Text 4"/>
          <p:cNvSpPr/>
          <p:nvPr/>
        </p:nvSpPr>
        <p:spPr>
          <a:xfrm>
            <a:off x="1417320" y="1755648"/>
            <a:ext cx="2560320" cy="41148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Prototype Scale</a:t>
            </a:r>
            <a:endParaRPr lang="en-US" sz="1300" dirty="0"/>
          </a:p>
        </p:txBody>
      </p:sp>
      <p:sp>
        <p:nvSpPr>
          <p:cNvPr id="8" name="Text 5"/>
          <p:cNvSpPr/>
          <p:nvPr/>
        </p:nvSpPr>
        <p:spPr>
          <a:xfrm>
            <a:off x="822960" y="2350008"/>
            <a:ext cx="3063240" cy="1051560"/>
          </a:xfrm>
          <a:prstGeom prst="rect">
            <a:avLst/>
          </a:prstGeom>
          <a:noFill/>
          <a:ln/>
        </p:spPr>
        <p:txBody>
          <a:bodyPr wrap="square" rtlCol="0" anchor="ctr"/>
          <a:lstStyle/>
          <a:p>
            <a:pPr marL="0" indent="0">
              <a:buNone/>
            </a:pPr>
            <a:r>
              <a:rPr lang="en-US" sz="1000" dirty="0">
                <a:solidFill>
                  <a:srgbClr val="1B2430"/>
                </a:solidFill>
                <a:latin typeface="Calibri" pitchFamily="34" charset="0"/>
                <a:ea typeface="Calibri" pitchFamily="34" charset="-122"/>
                <a:cs typeface="Calibri" pitchFamily="34" charset="-120"/>
              </a:rPr>
              <a:t>Tests use controlled descriptions; real user data may reduce matching accuracy.</a:t>
            </a:r>
            <a:endParaRPr lang="en-US" sz="1000" dirty="0"/>
          </a:p>
        </p:txBody>
      </p:sp>
      <p:sp>
        <p:nvSpPr>
          <p:cNvPr id="9" name="Shape 6"/>
          <p:cNvSpPr/>
          <p:nvPr/>
        </p:nvSpPr>
        <p:spPr>
          <a:xfrm>
            <a:off x="4343400" y="1481328"/>
            <a:ext cx="3611880" cy="2011680"/>
          </a:xfrm>
          <a:prstGeom prst="roundRect">
            <a:avLst>
              <a:gd name="adj" fmla="val 363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0" name="Shape 7"/>
          <p:cNvSpPr/>
          <p:nvPr/>
        </p:nvSpPr>
        <p:spPr>
          <a:xfrm>
            <a:off x="4572000" y="1709928"/>
            <a:ext cx="457200" cy="457200"/>
          </a:xfrm>
          <a:prstGeom prst="ellipse">
            <a:avLst/>
          </a:prstGeom>
          <a:solidFill>
            <a:srgbClr val="B8860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674870" y="1812798"/>
            <a:ext cx="251460" cy="251460"/>
          </a:xfrm>
          <a:prstGeom prst="rect">
            <a:avLst/>
          </a:prstGeom>
        </p:spPr>
      </p:pic>
      <p:sp>
        <p:nvSpPr>
          <p:cNvPr id="12" name="Text 8"/>
          <p:cNvSpPr/>
          <p:nvPr/>
        </p:nvSpPr>
        <p:spPr>
          <a:xfrm>
            <a:off x="5212080" y="1755648"/>
            <a:ext cx="2560320" cy="41148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Local vs. Cloud Env.</a:t>
            </a:r>
            <a:endParaRPr lang="en-US" sz="1300" dirty="0"/>
          </a:p>
        </p:txBody>
      </p:sp>
      <p:sp>
        <p:nvSpPr>
          <p:cNvPr id="13" name="Text 9"/>
          <p:cNvSpPr/>
          <p:nvPr/>
        </p:nvSpPr>
        <p:spPr>
          <a:xfrm>
            <a:off x="4617720" y="2350008"/>
            <a:ext cx="3063240" cy="1051560"/>
          </a:xfrm>
          <a:prstGeom prst="rect">
            <a:avLst/>
          </a:prstGeom>
          <a:noFill/>
          <a:ln/>
        </p:spPr>
        <p:txBody>
          <a:bodyPr wrap="square" rtlCol="0" anchor="ctr"/>
          <a:lstStyle/>
          <a:p>
            <a:pPr marL="0" indent="0">
              <a:buNone/>
            </a:pPr>
            <a:r>
              <a:rPr lang="en-US" sz="1000" dirty="0">
                <a:solidFill>
                  <a:srgbClr val="1B2430"/>
                </a:solidFill>
                <a:latin typeface="Calibri" pitchFamily="34" charset="0"/>
                <a:ea typeface="Calibri" pitchFamily="34" charset="-122"/>
                <a:cs typeface="Calibri" pitchFamily="34" charset="-120"/>
              </a:rPr>
              <a:t>Docker Compose latency differs from EC2 network behavior and managed-service quirks.</a:t>
            </a:r>
            <a:endParaRPr lang="en-US" sz="1000" dirty="0"/>
          </a:p>
        </p:txBody>
      </p:sp>
      <p:sp>
        <p:nvSpPr>
          <p:cNvPr id="14" name="Shape 10"/>
          <p:cNvSpPr/>
          <p:nvPr/>
        </p:nvSpPr>
        <p:spPr>
          <a:xfrm>
            <a:off x="8138160" y="1481328"/>
            <a:ext cx="3611880" cy="2011680"/>
          </a:xfrm>
          <a:prstGeom prst="roundRect">
            <a:avLst>
              <a:gd name="adj" fmla="val 363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5" name="Shape 11"/>
          <p:cNvSpPr/>
          <p:nvPr/>
        </p:nvSpPr>
        <p:spPr>
          <a:xfrm>
            <a:off x="8366760" y="1709928"/>
            <a:ext cx="457200" cy="457200"/>
          </a:xfrm>
          <a:prstGeom prst="ellipse">
            <a:avLst/>
          </a:prstGeom>
          <a:solidFill>
            <a:srgbClr val="B8860B"/>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469630" y="1812798"/>
            <a:ext cx="251460" cy="251460"/>
          </a:xfrm>
          <a:prstGeom prst="rect">
            <a:avLst/>
          </a:prstGeom>
        </p:spPr>
      </p:pic>
      <p:sp>
        <p:nvSpPr>
          <p:cNvPr id="17" name="Text 12"/>
          <p:cNvSpPr/>
          <p:nvPr/>
        </p:nvSpPr>
        <p:spPr>
          <a:xfrm>
            <a:off x="9006840" y="1755648"/>
            <a:ext cx="2560320" cy="41148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Simplified Matching</a:t>
            </a:r>
            <a:endParaRPr lang="en-US" sz="1300" dirty="0"/>
          </a:p>
        </p:txBody>
      </p:sp>
      <p:sp>
        <p:nvSpPr>
          <p:cNvPr id="18" name="Text 13"/>
          <p:cNvSpPr/>
          <p:nvPr/>
        </p:nvSpPr>
        <p:spPr>
          <a:xfrm>
            <a:off x="8412480" y="2350008"/>
            <a:ext cx="3063240" cy="1051560"/>
          </a:xfrm>
          <a:prstGeom prst="rect">
            <a:avLst/>
          </a:prstGeom>
          <a:noFill/>
          <a:ln/>
        </p:spPr>
        <p:txBody>
          <a:bodyPr wrap="square" rtlCol="0" anchor="ctr"/>
          <a:lstStyle/>
          <a:p>
            <a:pPr marL="0" indent="0">
              <a:buNone/>
            </a:pPr>
            <a:r>
              <a:rPr lang="en-US" sz="1000" dirty="0">
                <a:solidFill>
                  <a:srgbClr val="1B2430"/>
                </a:solidFill>
                <a:latin typeface="Calibri" pitchFamily="34" charset="0"/>
                <a:ea typeface="Calibri" pitchFamily="34" charset="-122"/>
                <a:cs typeface="Calibri" pitchFamily="34" charset="-120"/>
              </a:rPr>
              <a:t>Keyword overlap is transparent and easy to test, but not production-grade accuracy.</a:t>
            </a:r>
            <a:endParaRPr lang="en-US" sz="1000" dirty="0"/>
          </a:p>
        </p:txBody>
      </p:sp>
      <p:sp>
        <p:nvSpPr>
          <p:cNvPr id="19" name="Shape 14"/>
          <p:cNvSpPr/>
          <p:nvPr/>
        </p:nvSpPr>
        <p:spPr>
          <a:xfrm>
            <a:off x="2446020" y="3675888"/>
            <a:ext cx="3611880" cy="2011680"/>
          </a:xfrm>
          <a:prstGeom prst="roundRect">
            <a:avLst>
              <a:gd name="adj" fmla="val 363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0" name="Shape 15"/>
          <p:cNvSpPr/>
          <p:nvPr/>
        </p:nvSpPr>
        <p:spPr>
          <a:xfrm>
            <a:off x="2674620" y="3904488"/>
            <a:ext cx="457200" cy="457200"/>
          </a:xfrm>
          <a:prstGeom prst="ellipse">
            <a:avLst/>
          </a:prstGeom>
          <a:solidFill>
            <a:srgbClr val="B8860B"/>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2777490" y="4007358"/>
            <a:ext cx="251460" cy="251460"/>
          </a:xfrm>
          <a:prstGeom prst="rect">
            <a:avLst/>
          </a:prstGeom>
        </p:spPr>
      </p:pic>
      <p:sp>
        <p:nvSpPr>
          <p:cNvPr id="22" name="Text 16"/>
          <p:cNvSpPr/>
          <p:nvPr/>
        </p:nvSpPr>
        <p:spPr>
          <a:xfrm>
            <a:off x="3314700" y="3950208"/>
            <a:ext cx="2560320" cy="41148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Limited Failure Injection</a:t>
            </a:r>
            <a:endParaRPr lang="en-US" sz="1300" dirty="0"/>
          </a:p>
        </p:txBody>
      </p:sp>
      <p:sp>
        <p:nvSpPr>
          <p:cNvPr id="23" name="Text 17"/>
          <p:cNvSpPr/>
          <p:nvPr/>
        </p:nvSpPr>
        <p:spPr>
          <a:xfrm>
            <a:off x="2720340" y="4544568"/>
            <a:ext cx="3063240" cy="1051560"/>
          </a:xfrm>
          <a:prstGeom prst="rect">
            <a:avLst/>
          </a:prstGeom>
          <a:noFill/>
          <a:ln/>
        </p:spPr>
        <p:txBody>
          <a:bodyPr wrap="square" rtlCol="0" anchor="ctr"/>
          <a:lstStyle/>
          <a:p>
            <a:pPr marL="0" indent="0">
              <a:buNone/>
            </a:pPr>
            <a:r>
              <a:rPr lang="en-US" sz="1000" dirty="0">
                <a:solidFill>
                  <a:srgbClr val="1B2430"/>
                </a:solidFill>
                <a:latin typeface="Calibri" pitchFamily="34" charset="0"/>
                <a:ea typeface="Calibri" pitchFamily="34" charset="-122"/>
                <a:cs typeface="Calibri" pitchFamily="34" charset="-120"/>
              </a:rPr>
              <a:t>Not all combinations of distributed partial failure are covered in the test suite.</a:t>
            </a:r>
            <a:endParaRPr lang="en-US" sz="1000" dirty="0"/>
          </a:p>
        </p:txBody>
      </p:sp>
      <p:sp>
        <p:nvSpPr>
          <p:cNvPr id="24" name="Shape 18"/>
          <p:cNvSpPr/>
          <p:nvPr/>
        </p:nvSpPr>
        <p:spPr>
          <a:xfrm>
            <a:off x="6240780" y="3675888"/>
            <a:ext cx="3611880" cy="2011680"/>
          </a:xfrm>
          <a:prstGeom prst="roundRect">
            <a:avLst>
              <a:gd name="adj" fmla="val 363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5" name="Shape 19"/>
          <p:cNvSpPr/>
          <p:nvPr/>
        </p:nvSpPr>
        <p:spPr>
          <a:xfrm>
            <a:off x="6469380" y="3904488"/>
            <a:ext cx="457200" cy="457200"/>
          </a:xfrm>
          <a:prstGeom prst="ellipse">
            <a:avLst/>
          </a:prstGeom>
          <a:solidFill>
            <a:srgbClr val="B8860B"/>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6572250" y="4007358"/>
            <a:ext cx="251460" cy="251460"/>
          </a:xfrm>
          <a:prstGeom prst="rect">
            <a:avLst/>
          </a:prstGeom>
        </p:spPr>
      </p:pic>
      <p:sp>
        <p:nvSpPr>
          <p:cNvPr id="27" name="Text 20"/>
          <p:cNvSpPr/>
          <p:nvPr/>
        </p:nvSpPr>
        <p:spPr>
          <a:xfrm>
            <a:off x="7109460" y="3950208"/>
            <a:ext cx="2560320" cy="41148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SQLite in MVP</a:t>
            </a:r>
            <a:endParaRPr lang="en-US" sz="1300" dirty="0"/>
          </a:p>
        </p:txBody>
      </p:sp>
      <p:sp>
        <p:nvSpPr>
          <p:cNvPr id="28" name="Text 21"/>
          <p:cNvSpPr/>
          <p:nvPr/>
        </p:nvSpPr>
        <p:spPr>
          <a:xfrm>
            <a:off x="6515100" y="4544568"/>
            <a:ext cx="3063240" cy="1051560"/>
          </a:xfrm>
          <a:prstGeom prst="rect">
            <a:avLst/>
          </a:prstGeom>
          <a:noFill/>
          <a:ln/>
        </p:spPr>
        <p:txBody>
          <a:bodyPr wrap="square" rtlCol="0" anchor="ctr"/>
          <a:lstStyle/>
          <a:p>
            <a:pPr marL="0" indent="0">
              <a:buNone/>
            </a:pPr>
            <a:r>
              <a:rPr lang="en-US" sz="1000" dirty="0">
                <a:solidFill>
                  <a:srgbClr val="1B2430"/>
                </a:solidFill>
                <a:latin typeface="Calibri" pitchFamily="34" charset="0"/>
                <a:ea typeface="Calibri" pitchFamily="34" charset="-122"/>
                <a:cs typeface="Calibri" pitchFamily="34" charset="-120"/>
              </a:rPr>
              <a:t>SQLite concurrency profile differs from PostgreSQL on RDS — the documented upgrade path for production.</a:t>
            </a:r>
            <a:endParaRPr lang="en-US" sz="1000" dirty="0"/>
          </a:p>
        </p:txBody>
      </p:sp>
      <p:sp>
        <p:nvSpPr>
          <p:cNvPr id="29" name="Text 22"/>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30" name="Text 23"/>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DISCUSSION</a:t>
            </a:r>
            <a:endParaRPr lang="en-US" sz="1250" dirty="0"/>
          </a:p>
        </p:txBody>
      </p:sp>
      <p:sp>
        <p:nvSpPr>
          <p:cNvPr id="3" name="Text 1"/>
          <p:cNvSpPr/>
          <p:nvPr/>
        </p:nvSpPr>
        <p:spPr>
          <a:xfrm>
            <a:off x="548640" y="603504"/>
            <a:ext cx="10972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Challenges, Limitations &amp; Future Work</a:t>
            </a:r>
            <a:endParaRPr lang="en-US" sz="3000" dirty="0"/>
          </a:p>
        </p:txBody>
      </p:sp>
      <p:sp>
        <p:nvSpPr>
          <p:cNvPr id="4" name="Shape 2"/>
          <p:cNvSpPr/>
          <p:nvPr/>
        </p:nvSpPr>
        <p:spPr>
          <a:xfrm>
            <a:off x="548640" y="1508760"/>
            <a:ext cx="3657600" cy="4297680"/>
          </a:xfrm>
          <a:prstGeom prst="roundRect">
            <a:avLst>
              <a:gd name="adj" fmla="val 2000"/>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804672" y="1764792"/>
            <a:ext cx="502920" cy="502920"/>
          </a:xfrm>
          <a:prstGeom prst="ellipse">
            <a:avLst/>
          </a:prstGeom>
          <a:solidFill>
            <a:srgbClr val="065A8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7829" y="1877949"/>
            <a:ext cx="276606" cy="276606"/>
          </a:xfrm>
          <a:prstGeom prst="rect">
            <a:avLst/>
          </a:prstGeom>
        </p:spPr>
      </p:pic>
      <p:sp>
        <p:nvSpPr>
          <p:cNvPr id="7" name="Text 4"/>
          <p:cNvSpPr/>
          <p:nvPr/>
        </p:nvSpPr>
        <p:spPr>
          <a:xfrm>
            <a:off x="1463040" y="1810512"/>
            <a:ext cx="2560320" cy="411480"/>
          </a:xfrm>
          <a:prstGeom prst="rect">
            <a:avLst/>
          </a:prstGeom>
          <a:noFill/>
          <a:ln/>
        </p:spPr>
        <p:txBody>
          <a:bodyPr wrap="square"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Challenges</a:t>
            </a:r>
            <a:endParaRPr lang="en-US" sz="1500" dirty="0"/>
          </a:p>
        </p:txBody>
      </p:sp>
      <p:sp>
        <p:nvSpPr>
          <p:cNvPr id="8" name="Text 5"/>
          <p:cNvSpPr/>
          <p:nvPr/>
        </p:nvSpPr>
        <p:spPr>
          <a:xfrm>
            <a:off x="868680" y="2468880"/>
            <a:ext cx="3017520" cy="3200400"/>
          </a:xfrm>
          <a:prstGeom prst="rect">
            <a:avLst/>
          </a:prstGeom>
          <a:noFill/>
          <a:ln/>
        </p:spPr>
        <p:txBody>
          <a:bodyPr wrap="square" rtlCol="0" anchor="ctr"/>
          <a:lstStyle/>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Deciding the service split — auth embedded in Item Service per course guidance</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Designing stable Redis event payloads (eventId, eventType, timestamp, payload)</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Saga coordination: Claim/Recovery must call Item Service atomically with clear failure handling</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Coordinating API contracts across team members</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Measuring async latency alongside synchronous response times</a:t>
            </a:r>
            <a:endParaRPr lang="en-US" sz="1030" dirty="0"/>
          </a:p>
        </p:txBody>
      </p:sp>
      <p:sp>
        <p:nvSpPr>
          <p:cNvPr id="9" name="Shape 6"/>
          <p:cNvSpPr/>
          <p:nvPr/>
        </p:nvSpPr>
        <p:spPr>
          <a:xfrm>
            <a:off x="4389120" y="1508760"/>
            <a:ext cx="3657600" cy="4297680"/>
          </a:xfrm>
          <a:prstGeom prst="roundRect">
            <a:avLst>
              <a:gd name="adj" fmla="val 2000"/>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0" name="Shape 7"/>
          <p:cNvSpPr/>
          <p:nvPr/>
        </p:nvSpPr>
        <p:spPr>
          <a:xfrm>
            <a:off x="4645152" y="1764792"/>
            <a:ext cx="502920" cy="502920"/>
          </a:xfrm>
          <a:prstGeom prst="ellipse">
            <a:avLst/>
          </a:prstGeom>
          <a:solidFill>
            <a:srgbClr val="C0392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758309" y="1877949"/>
            <a:ext cx="276606" cy="276606"/>
          </a:xfrm>
          <a:prstGeom prst="rect">
            <a:avLst/>
          </a:prstGeom>
        </p:spPr>
      </p:pic>
      <p:sp>
        <p:nvSpPr>
          <p:cNvPr id="12" name="Text 8"/>
          <p:cNvSpPr/>
          <p:nvPr/>
        </p:nvSpPr>
        <p:spPr>
          <a:xfrm>
            <a:off x="5303520" y="1810512"/>
            <a:ext cx="2560320" cy="411480"/>
          </a:xfrm>
          <a:prstGeom prst="rect">
            <a:avLst/>
          </a:prstGeom>
          <a:noFill/>
          <a:ln/>
        </p:spPr>
        <p:txBody>
          <a:bodyPr wrap="square"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Limitations</a:t>
            </a:r>
            <a:endParaRPr lang="en-US" sz="1500" dirty="0"/>
          </a:p>
        </p:txBody>
      </p:sp>
      <p:sp>
        <p:nvSpPr>
          <p:cNvPr id="13" name="Text 9"/>
          <p:cNvSpPr/>
          <p:nvPr/>
        </p:nvSpPr>
        <p:spPr>
          <a:xfrm>
            <a:off x="4709160" y="2468880"/>
            <a:ext cx="3017520" cy="3200400"/>
          </a:xfrm>
          <a:prstGeom prst="rect">
            <a:avLst/>
          </a:prstGeom>
          <a:noFill/>
          <a:ln/>
        </p:spPr>
        <p:txBody>
          <a:bodyPr wrap="square" rtlCol="0" anchor="ctr"/>
          <a:lstStyle/>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No claim cancellation endpoint — rejection path is the only compensation in MVP</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Console-log notifications only — no email delivery (no AWS SES)</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SQLite instead of PostgreSQL (zero-config trade-off)</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Step Functions Lambdas are mock handlers — live Saga runs locally via saga.py</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No image storage — no AWS S3</a:t>
            </a:r>
            <a:endParaRPr lang="en-US" sz="1030" dirty="0"/>
          </a:p>
        </p:txBody>
      </p:sp>
      <p:sp>
        <p:nvSpPr>
          <p:cNvPr id="14" name="Shape 10"/>
          <p:cNvSpPr/>
          <p:nvPr/>
        </p:nvSpPr>
        <p:spPr>
          <a:xfrm>
            <a:off x="8229600" y="1508760"/>
            <a:ext cx="3657600" cy="4297680"/>
          </a:xfrm>
          <a:prstGeom prst="roundRect">
            <a:avLst>
              <a:gd name="adj" fmla="val 2000"/>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5" name="Shape 11"/>
          <p:cNvSpPr/>
          <p:nvPr/>
        </p:nvSpPr>
        <p:spPr>
          <a:xfrm>
            <a:off x="8485632" y="1764792"/>
            <a:ext cx="502920" cy="502920"/>
          </a:xfrm>
          <a:prstGeom prst="ellipse">
            <a:avLst/>
          </a:prstGeom>
          <a:solidFill>
            <a:srgbClr val="21B6A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598789" y="1877949"/>
            <a:ext cx="276606" cy="276606"/>
          </a:xfrm>
          <a:prstGeom prst="rect">
            <a:avLst/>
          </a:prstGeom>
        </p:spPr>
      </p:pic>
      <p:sp>
        <p:nvSpPr>
          <p:cNvPr id="17" name="Text 12"/>
          <p:cNvSpPr/>
          <p:nvPr/>
        </p:nvSpPr>
        <p:spPr>
          <a:xfrm>
            <a:off x="9144000" y="1810512"/>
            <a:ext cx="2560320" cy="411480"/>
          </a:xfrm>
          <a:prstGeom prst="rect">
            <a:avLst/>
          </a:prstGeom>
          <a:noFill/>
          <a:ln/>
        </p:spPr>
        <p:txBody>
          <a:bodyPr wrap="square"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Future Work</a:t>
            </a:r>
            <a:endParaRPr lang="en-US" sz="1500" dirty="0"/>
          </a:p>
        </p:txBody>
      </p:sp>
      <p:sp>
        <p:nvSpPr>
          <p:cNvPr id="18" name="Text 13"/>
          <p:cNvSpPr/>
          <p:nvPr/>
        </p:nvSpPr>
        <p:spPr>
          <a:xfrm>
            <a:off x="8549640" y="2468880"/>
            <a:ext cx="3017520" cy="3200400"/>
          </a:xfrm>
          <a:prstGeom prst="rect">
            <a:avLst/>
          </a:prstGeom>
          <a:noFill/>
          <a:ln/>
        </p:spPr>
        <p:txBody>
          <a:bodyPr wrap="square" rtlCol="0" anchor="ctr"/>
          <a:lstStyle/>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PostgreSQL on AWS RDS (documented upgrade path)</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Email delivery via AWS SES</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Image storage on AWS S3</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Claim cancellation endpoint</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Better matching beyond keyword overlap</a:t>
            </a:r>
            <a:endParaRPr lang="en-US" sz="1030" dirty="0"/>
          </a:p>
          <a:p>
            <a:pPr marL="342900" indent="-342900">
              <a:spcAft>
                <a:spcPts val="800"/>
              </a:spcAft>
              <a:buSzPct val="100000"/>
              <a:buChar char="•"/>
            </a:pPr>
            <a:r>
              <a:rPr lang="en-US" sz="1030" dirty="0">
                <a:solidFill>
                  <a:srgbClr val="1B2430"/>
                </a:solidFill>
                <a:latin typeface="Calibri" pitchFamily="34" charset="0"/>
                <a:ea typeface="Calibri" pitchFamily="34" charset="-122"/>
                <a:cs typeface="Calibri" pitchFamily="34" charset="-120"/>
              </a:rPr>
              <a:t>Live Lambda handlers calling EC2 services</a:t>
            </a:r>
            <a:endParaRPr lang="en-US" sz="1030" dirty="0"/>
          </a:p>
        </p:txBody>
      </p:sp>
      <p:sp>
        <p:nvSpPr>
          <p:cNvPr id="19" name="Text 14"/>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C6B7A"/>
                </a:solidFill>
                <a:latin typeface="Calibri" pitchFamily="34" charset="0"/>
                <a:ea typeface="Calibri" pitchFamily="34" charset="-122"/>
                <a:cs typeface="Calibri" pitchFamily="34" charset="-120"/>
              </a:rPr>
              <a:t>Lostify  |  Team 04</a:t>
            </a:r>
            <a:endParaRPr lang="en-US" sz="900" dirty="0"/>
          </a:p>
        </p:txBody>
      </p:sp>
      <p:sp>
        <p:nvSpPr>
          <p:cNvPr id="20" name="Text 15"/>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828800" y="-2103120"/>
            <a:ext cx="5943600" cy="5943600"/>
          </a:xfrm>
          <a:prstGeom prst="ellipse">
            <a:avLst/>
          </a:prstGeom>
          <a:solidFill>
            <a:srgbClr val="065A82">
              <a:alpha val="45000"/>
            </a:srgbClr>
          </a:solidFill>
          <a:ln/>
        </p:spPr>
        <p:txBody>
          <a:bodyPr/>
          <a:lstStyle/>
          <a:p>
            <a:endParaRPr lang="en-US"/>
          </a:p>
        </p:txBody>
      </p:sp>
      <p:sp>
        <p:nvSpPr>
          <p:cNvPr id="3" name="Shape 1"/>
          <p:cNvSpPr/>
          <p:nvPr/>
        </p:nvSpPr>
        <p:spPr>
          <a:xfrm>
            <a:off x="9144000" y="3657600"/>
            <a:ext cx="4754880" cy="4754880"/>
          </a:xfrm>
          <a:prstGeom prst="ellipse">
            <a:avLst/>
          </a:prstGeom>
          <a:solidFill>
            <a:srgbClr val="1C7293">
              <a:alpha val="40000"/>
            </a:srgbClr>
          </a:solidFill>
          <a:ln/>
        </p:spPr>
        <p:txBody>
          <a:bodyPr/>
          <a:lstStyle/>
          <a:p>
            <a:endParaRPr lang="en-US"/>
          </a:p>
        </p:txBody>
      </p:sp>
      <p:sp>
        <p:nvSpPr>
          <p:cNvPr id="4" name="Shape 2"/>
          <p:cNvSpPr/>
          <p:nvPr/>
        </p:nvSpPr>
        <p:spPr>
          <a:xfrm>
            <a:off x="5592928" y="1371600"/>
            <a:ext cx="1005840" cy="1005840"/>
          </a:xfrm>
          <a:prstGeom prst="ellipse">
            <a:avLst/>
          </a:prstGeom>
          <a:solidFill>
            <a:srgbClr val="1C729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819242" y="1597914"/>
            <a:ext cx="553212" cy="553212"/>
          </a:xfrm>
          <a:prstGeom prst="rect">
            <a:avLst/>
          </a:prstGeom>
        </p:spPr>
      </p:pic>
      <p:sp>
        <p:nvSpPr>
          <p:cNvPr id="6" name="Text 3"/>
          <p:cNvSpPr/>
          <p:nvPr/>
        </p:nvSpPr>
        <p:spPr>
          <a:xfrm>
            <a:off x="0" y="2651760"/>
            <a:ext cx="12191695"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4"/>
          <p:cNvSpPr/>
          <p:nvPr/>
        </p:nvSpPr>
        <p:spPr>
          <a:xfrm>
            <a:off x="0" y="3520440"/>
            <a:ext cx="12191695" cy="548640"/>
          </a:xfrm>
          <a:prstGeom prst="rect">
            <a:avLst/>
          </a:prstGeom>
          <a:noFill/>
          <a:ln/>
        </p:spPr>
        <p:txBody>
          <a:bodyPr wrap="square" rtlCol="0" anchor="ctr"/>
          <a:lstStyle/>
          <a:p>
            <a:pPr marL="0" indent="0" algn="ctr">
              <a:buNone/>
            </a:pPr>
            <a:r>
              <a:rPr lang="en-US" sz="2200" i="1" dirty="0">
                <a:solidFill>
                  <a:srgbClr val="CFE3F2"/>
                </a:solidFill>
                <a:latin typeface="Calibri" pitchFamily="34" charset="0"/>
                <a:ea typeface="Calibri" pitchFamily="34" charset="-122"/>
                <a:cs typeface="Calibri" pitchFamily="34" charset="-120"/>
              </a:rPr>
              <a:t>Questions?</a:t>
            </a:r>
            <a:endParaRPr lang="en-US" sz="2200" dirty="0"/>
          </a:p>
        </p:txBody>
      </p:sp>
      <p:sp>
        <p:nvSpPr>
          <p:cNvPr id="8" name="Shape 5"/>
          <p:cNvSpPr/>
          <p:nvPr/>
        </p:nvSpPr>
        <p:spPr>
          <a:xfrm>
            <a:off x="5090008" y="4224528"/>
            <a:ext cx="2011680" cy="0"/>
          </a:xfrm>
          <a:prstGeom prst="line">
            <a:avLst/>
          </a:prstGeom>
          <a:noFill/>
          <a:ln w="31750">
            <a:solidFill>
              <a:srgbClr val="21B6A8"/>
            </a:solidFill>
            <a:prstDash val="solid"/>
          </a:ln>
        </p:spPr>
        <p:txBody>
          <a:bodyPr/>
          <a:lstStyle/>
          <a:p>
            <a:endParaRPr lang="en-US"/>
          </a:p>
        </p:txBody>
      </p:sp>
      <p:sp>
        <p:nvSpPr>
          <p:cNvPr id="9" name="Text 6"/>
          <p:cNvSpPr/>
          <p:nvPr/>
        </p:nvSpPr>
        <p:spPr>
          <a:xfrm>
            <a:off x="0" y="4526280"/>
            <a:ext cx="12191695" cy="365760"/>
          </a:xfrm>
          <a:prstGeom prst="rect">
            <a:avLst/>
          </a:prstGeom>
          <a:noFill/>
          <a:ln/>
        </p:spPr>
        <p:txBody>
          <a:bodyPr wrap="square" rtlCol="0" anchor="ctr"/>
          <a:lstStyle/>
          <a:p>
            <a:pPr marL="0" indent="0" algn="ctr">
              <a:buNone/>
            </a:pPr>
            <a:r>
              <a:rPr lang="en-US" sz="1300" dirty="0">
                <a:solidFill>
                  <a:srgbClr val="9FB6CE"/>
                </a:solidFill>
                <a:latin typeface="Calibri" pitchFamily="34" charset="0"/>
                <a:ea typeface="Calibri" pitchFamily="34" charset="-122"/>
                <a:cs typeface="Calibri" pitchFamily="34" charset="-120"/>
              </a:rPr>
              <a:t>Zain Afzal   ·   Babar Ali   ·   Muhammad Hamza Azeem   —   Team 04</a:t>
            </a:r>
            <a:endParaRPr lang="en-US" sz="1300" dirty="0"/>
          </a:p>
        </p:txBody>
      </p:sp>
      <p:sp>
        <p:nvSpPr>
          <p:cNvPr id="10" name="Text 7"/>
          <p:cNvSpPr/>
          <p:nvPr/>
        </p:nvSpPr>
        <p:spPr>
          <a:xfrm>
            <a:off x="0" y="4983480"/>
            <a:ext cx="12191695" cy="347472"/>
          </a:xfrm>
          <a:prstGeom prst="rect">
            <a:avLst/>
          </a:prstGeom>
          <a:noFill/>
          <a:ln/>
        </p:spPr>
        <p:txBody>
          <a:bodyPr wrap="square" rtlCol="0" anchor="ctr"/>
          <a:lstStyle/>
          <a:p>
            <a:pPr marL="0" indent="0" algn="ctr">
              <a:buNone/>
            </a:pPr>
            <a:r>
              <a:rPr lang="en-US" sz="1200" dirty="0">
                <a:solidFill>
                  <a:srgbClr val="7FBAD8"/>
                </a:solidFill>
                <a:latin typeface="Courier New" pitchFamily="34" charset="0"/>
                <a:ea typeface="Courier New" pitchFamily="34" charset="-122"/>
                <a:cs typeface="Courier New" pitchFamily="34" charset="-120"/>
              </a:rPr>
              <a:t>github.com/Babarali2k21/Lostify  </a:t>
            </a:r>
            <a:r>
              <a:rPr lang="en-US" sz="1200" dirty="0">
                <a:solidFill>
                  <a:srgbClr val="5C6B7A"/>
                </a:solidFill>
                <a:latin typeface="Calibri" pitchFamily="34" charset="0"/>
                <a:ea typeface="Calibri" pitchFamily="34" charset="-122"/>
                <a:cs typeface="Calibri" pitchFamily="34" charset="-120"/>
              </a:rPr>
              <a:t>  |  </a:t>
            </a:r>
            <a:r>
              <a:rPr lang="en-US" sz="1200" dirty="0">
                <a:solidFill>
                  <a:srgbClr val="7FBAD8"/>
                </a:solidFill>
                <a:latin typeface="Courier New" pitchFamily="34" charset="0"/>
                <a:ea typeface="Courier New" pitchFamily="34" charset="-122"/>
                <a:cs typeface="Courier New" pitchFamily="34" charset="-120"/>
              </a:rPr>
              <a:t>  44.220.148.111:3001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3657</Words>
  <Application>Microsoft Macintosh PowerPoint</Application>
  <PresentationFormat>Widescreen</PresentationFormat>
  <Paragraphs>306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Lostify - Lost and Found Web App</dc:title>
  <dc:subject>PptxGenJS Presentation</dc:subject>
  <dc:creator>Team 04</dc:creator>
  <cp:lastModifiedBy>Ali, Babar</cp:lastModifiedBy>
  <cp:revision>4</cp:revision>
  <dcterms:created xsi:type="dcterms:W3CDTF">2026-07-02T07:07:19Z</dcterms:created>
  <dcterms:modified xsi:type="dcterms:W3CDTF">2026-07-02T07:16:16Z</dcterms:modified>
</cp:coreProperties>
</file>